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 Regulatory Crisis" id="{c4be6fd5-888d-aa0d-1711-cbef6b8c0ebb}">
          <p14:sldIdLst>
            <p14:sldId id="256"/>
            <p14:sldId id="257"/>
            <p14:sldId id="258"/>
            <p14:sldId id="259"/>
          </p14:sldIdLst>
        </p14:section>
        <p14:section name="II · Objectives &amp; Taxonomy" id="{a1462cc9-670f-a4ae-3f66-0045da41ee93}">
          <p14:sldIdLst>
            <p14:sldId id="260"/>
            <p14:sldId id="261"/>
            <p14:sldId id="262"/>
            <p14:sldId id="263"/>
            <p14:sldId id="264"/>
          </p14:sldIdLst>
        </p14:section>
        <p14:section name="III · Engineering &amp; Audit Anatomy" id="{088cb5da-1345-3422-2b89-78fb9723878a}">
          <p14:sldIdLst>
            <p14:sldId id="265"/>
            <p14:sldId id="266"/>
            <p14:sldId id="267"/>
          </p14:sldIdLst>
        </p14:section>
        <p14:section name="IV · Empirical Evaluation" id="{60ae0f7b-0f48-eb63-0f72-6c47cae4d07c}">
          <p14:sldIdLst>
            <p14:sldId id="268"/>
            <p14:sldId id="269"/>
            <p14:sldId id="270"/>
          </p14:sldIdLst>
        </p14:section>
        <p14:section name="V · Roadmap &amp; Conclusion" id="{8bc38414-6fab-b7dd-627f-1196169d83c9}">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Open with the framing — this is not "yet another classifier"; it is an auditor that maps pixels to statute. The citation on screen is the contract we are held to: 13 statutory prohibitions, Gazette of 30 Nov 2023.
LIKELY QUESTION: "Is this a legal tool or an ML project?"
MODEL ANSWER: It is an engineering system whose ground truth is legal text. The law defines the label space; the ML pipeline is the instrument that operationalises it. We do not claim legal adjudication — we produce evidence-backed audit findings a regulator or compliance officer can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Each exhibit is a different mechanism — default bias (pre-ticked), manufactured scarcity (fake timer), emotional coercion (confirm-shaming). None needs a technical exploit; they exploit human cognition at the pixel level.
LIKELY QUESTION: "Are these real or staged examples?"
MODEL ANSWER: They are representative of patterns documented in the CCPA Annexure and in Mathur et al. (2019). The ₹299 figure and wording are illustrative of what we saw while building the test set; all production audits use live captures. If asked for a specific site, we do not name merchants in the deck to avoid unverified accusations.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law is written in prose and enforced by people; interfaces are built in code and ship continuously. Three gaps: scale, language, time. Evidence of a violation can vanish with the next deploy.
LIKELY QUESTION: "Where does the 'thousands of updates per second' figure come from?"
MODEL ANSWER: It is an order-of-magnitude illustration of aggregate deployment cadence across the commercial web, not a measured statistic from a single source. The defensible claim is qualitative: release cadence vastly outpaces any manual review capacity. We do not rely on the exact figure for any technical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same DOM can render a fair or an unfair interface. Contrast, size, proximity and ordering are rendered properties; a scraper reading HTML never sees how the consumer perceives the page.
LIKELY QUESTION: "Why not just use the DOM — it's cheaper and deterministic?"
MODEL ANSWER: We do use it — Stage 4 corroborates with DOM signals. But the DOM alone has low recall for perceptual patterns (a grey 9px decline link is valid HTML). Vision is the primary detector; the DOM is a witness that confirms or adds weight. That asymmetry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Four deliverables, each verifiable. "Sub-pixel" here means normalised 0–1000 coordinates mapped back to native resolution, not literal sub-pixel accuracy of a detector.
LIKELY QUESTION: "What are your success criteria?"
MODEL ANSWER: Detection quality is reported as per-pattern precision/recall against a dual-annotator gold set; localisation by IoU against annotated boxes; false-positive suppression by false-alarm rate on clean government and utility sites. Targets are stated as milestones; final numbers are on the ablation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transformation. Left: an untrusted, unlabelled image. Middle: four cooperating stages. Right: a finding list a regulator can act on — each with a box, a quote, a statute reference and a fix.
LIKELY QUESTION: "Do you need the URL, or does a screenshot suffice?"
MODEL ANSWER: A screenshot is sufficient for the vision stages. A URL additionally enables Playwright capture and DOM corroboration, which raises confidence for patterns that have code-level signatures such as pre-checked boxes and 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Recall first, precision second. Stage 2 is deliberately greedy; Stage 3 is a devil's advocate; Stage 4 uses an independent modality to corroborate; Stage 5 turns findings into actionable redesign.
LIKELY QUESTION: "Why separate detector and verifier instead of one stronger prompt?"
MODEL ANSWER: One prompt must trade recall against precision in a single decision. Splitting roles lets the detector be generous and the verifier be sceptical, and gives us a measurable component — the ablation shows the verifier's contribution on clean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13 labels come straight from the Guidelines; the three groupings are our engineering taxonomy for explanation and rubric design, not part of the statute.
LIKELY QUESTION: "Can all 13 be detected from one screenshot?"
MODEL ANSWER: No, and we say so. Patterns with a static visual signature (confirm shaming, disguised ads, interface interference) are well suited. Those that unfold over time or across pages (drip pricing, subscription trap, bait and switch, rogue malware) are partially detectable and benefit most from DOM or multi-frame evidence — see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the heart of the contribution. Every pattern in our rubric carries an inclusion rule AND an exclusion rule. The verifier's job is to find the lawful reading; a finding survives only if none exists.
LIKELY QUESTION: "Doesn't the verifier just reduce recall?"
MODEL ANSWER: Some, by design. We accept a small recall cost for a large reduction in false alarms, because a regulator-facing tool that cries wolf on clean government sites loses credibility. The ablation quantifies the trade-off, and Configuration C is chosen as the best balance, not as the maximum-recall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stack is deliberately thin: one vision model API, one browser automation library, one UI framework, two libraries for artefacts. The model is swappable behind a provider interface (Groq-hosted Qwen vs Anthropic Claude).
LIKELY QUESTION: "Why Groq-hosted Qwen and Claude both? Which one produced the results?"
MODEL ANSWER: The provider layer lets us compare cost, latency and quality without changing the pipeline. Results in the evaluation are reported per configuration and per provider; we do not mix them. (Presenter: confirm the exact Qwen model identifier against the Groq model list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We never parse free text. The model must call a function whose JSON schema is enforced, so output is machine-checkable. Boxes are normalised to 0–1000 so they are independent of the resolution the model saw.
LIKELY QUESTION: "What if the model returns an invalid box or an unknown pattern name?"
MODEL ANSWER: The schema restricts pattern to an enum of the 13 labels and coordinates to integers. Our post-processor clamps boxes to 0–1000, discards degenerate boxes (x2 ≤ x1) and logs schema failures. A failed call is retried once, then reported as an inference error rather than silently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Every finding is a complete evidentiary unit: where (box), what (quote), why (statute), how bad (severity) and what instead (honest redesign). The side-by-side shows that we do not just accuse — we propose a compliant alternative that preserves the business goal.
LIKELY QUESTION: "Is the severity subjective?"
MODEL ANSWER: Severity follows a rubric: harm to the consumer's financial or autonomy interests, and whether the pattern is deceptive versus merely pressuring. It is a triage aid, not a legal penalty classification. A human reviewer retains final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Two people label independently, with no sight of each other's file, and no sight of model output. Agreement is measured before disagreements are discussed — otherwise kappa is meaningless.
LIKELY QUESTION: "Two annotators from the same team — is that enough? Where is the bias?"
MODEL ANSWER: It is a limitation we state openly: both annotators are project members, and the sample is modest. We mitigate through independent labelling, written rubric definitions, kappa reporting, and adjudication of every disagreement against the statutory text. A natural extension is an external annotator or a legal-domain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Each component is justified by a measured difference. A = baseline, B adds rubrics (the precision gain), C adds the adversarial verifier (the false-alarm gain on clean sites).
LIKELY QUESTION: "Where are the numbers?"
MODEL ANSWER: The +30% precision lift for B is the headline figure from our runs. The meters on this slide are a qualitative profile of recall, precision and clean-site false alarms; replace them with the final measured values from the gold split before the viva. (PRESENTER TODO: insert final P/R/F1 and false-alarm rate per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Naming limitations earns credibility. The most important is single-frame blindness: one screenshot cannot show that a timer resets, or that a fee appears two pages later.
LIKELY QUESTION: "So can this tool actually prove a violation?"
MODEL ANSWER: It produces evidence-backed candidates with a confidence and, where possible, DOM corroboration. Proof of temporal behaviours needs time-series captures — which is exactly why multi-frame auditing is on the roadmap. We position the output as audit triage for a human reviewer, not a legal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Each roadmap item removes a limitation from the previous slide: the extension moves detection to the moment of harm, multi-frame auditing fixes temporal blindness, and complaint generation closes the loop to enforcement.
LIKELY QUESTION: "What are the privacy and legal risks of a browser extension?"
MODEL ANSWER: The extension would send only the visible viewport on user action, with no persistent logging by default, and show findings as non-binding advisory overlays. Complaint generation would always require explicit user confirmation before submission to the relevant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Four contributions, one sentence each. Close on the principle: the system does not just detect manipulation, it restores the honest alternative that the regulation intends.
LIKELY QUESTION: "What is novel here versus existing dark-pattern detectors?"
MODEL ANSWER: Prior work (Mathur et al., Gray et al.) established taxonomies and crawled for DOM-detectable patterns. Our contribution is a multimodal pipeline aligned to the Indian statutory taxonomy, with an explicit exclusion test and adversarial verifier to control false positives, plus generative remediation and a dual-annotator evaluation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Primary legal sources first, academic foundations second, tools third.
LIKELY QUESTION: "Which provision empowers the CCPA to issue these guidelines?"
MODEL ANSWER: The Central Consumer Protection Authority is constituted under the Consumer Protection Act, 2019 and empowered to regulate matters relating to unfair trade practices and issue guidelines. (Presenter: verify exact section numbers against the Act before quoting them in the viva.)
NOTE: Verify page numbers, versions and URLs for all citations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11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2A2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11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2A2A"/>
          </a:solidFill>
          <a:ln/>
        </p:spPr>
      </p:sp>
      <p:sp>
        <p:nvSpPr>
          <p:cNvPr id="3" name="Text 1"/>
          <p:cNvSpPr/>
          <p:nvPr>
            <p:ph idx="101" type="title" hasCustomPrompt="1"/>
          </p:nvPr>
        </p:nvSpPr>
        <p:spPr>
          <a:xfrm>
            <a:off x="548640" y="621792"/>
            <a:ext cx="11091672" cy="685800"/>
          </a:xfrm>
          <a:prstGeom prst="rect">
            <a:avLst/>
          </a:prstGeom>
          <a:noFill/>
          <a:ln/>
        </p:spPr>
        <p:txBody>
          <a:bodyPr wrap="square" rtlCol="0"/>
          <a:lstStyle>
            <a:lvl1pPr algn="l" indent="0" marL="0">
              <a:buNone/>
              <a:defRPr lang="en-US" sz="2600" b="1" dirty="0">
                <a:solidFill>
                  <a:srgbClr val="FFFFFF"/>
                </a:solidFill>
                <a:latin typeface="Georgia" pitchFamily="34" charset="0"/>
                <a:ea typeface="Georgia" pitchFamily="34" charset="-122"/>
                <a:cs typeface="Georgia" pitchFamily="34" charset="-120"/>
              </a:defRPr>
            </a:lvl1pPr>
          </a:lstStyle>
          <a:p>
            <a:pPr algn="l" indent="0" marL="0">
              <a:buNone/>
            </a:pPr>
            <a:endParaRPr lang="en-US" sz="2600" dirty="0"/>
          </a:p>
        </p:txBody>
      </p:sp>
      <p:sp>
        <p:nvSpPr>
          <p:cNvPr id="4"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800" spc="150" kern="0" dirty="0">
                <a:solidFill>
                  <a:srgbClr val="9AA1AE"/>
                </a:solidFill>
                <a:latin typeface="Calibri" pitchFamily="34" charset="0"/>
                <a:ea typeface="Calibri" pitchFamily="34" charset="-122"/>
                <a:cs typeface="Calibri" pitchFamily="34" charset="-120"/>
              </a:rPr>
              <a:t>DARK PATTERN AUDITOR  ·  CCPA 2023</a:t>
            </a:r>
            <a:endParaRPr lang="en-US" sz="8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9AA1A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_COLUMN_CARDS">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48640" y="6446520"/>
            <a:ext cx="11091672" cy="0"/>
          </a:xfrm>
          <a:prstGeom prst="line">
            <a:avLst/>
          </a:prstGeom>
          <a:noFill/>
          <a:ln w="9525">
            <a:solidFill>
              <a:srgbClr val="E1E4E8"/>
            </a:solidFill>
            <a:prstDash val="solid"/>
          </a:ln>
        </p:spPr>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800" spc="150" kern="0" dirty="0">
                <a:solidFill>
                  <a:srgbClr val="525866"/>
                </a:solidFill>
                <a:latin typeface="Calibri" pitchFamily="34" charset="0"/>
                <a:ea typeface="Calibri" pitchFamily="34" charset="-122"/>
                <a:cs typeface="Calibri" pitchFamily="34" charset="-120"/>
              </a:rPr>
              <a:t>DARK PATTERN AUDITOR  ·  CCPA 2023 ENFORCEMENT VIA MULTIMODAL AI</a:t>
            </a:r>
            <a:endParaRPr lang="en-US" sz="800" dirty="0"/>
          </a:p>
        </p:txBody>
      </p:sp>
      <p:sp>
        <p:nvSpPr>
          <p:cNvPr id="4" name="Text 2"/>
          <p:cNvSpPr/>
          <p:nvPr>
            <p:ph idx="102" type="title" hasCustomPrompt="1"/>
          </p:nvPr>
        </p:nvSpPr>
        <p:spPr>
          <a:xfrm>
            <a:off x="548640" y="621792"/>
            <a:ext cx="11091672" cy="685800"/>
          </a:xfrm>
          <a:prstGeom prst="rect">
            <a:avLst/>
          </a:prstGeom>
          <a:noFill/>
          <a:ln/>
        </p:spPr>
        <p:txBody>
          <a:bodyPr wrap="square" rtlCol="0"/>
          <a:lstStyle>
            <a:lvl1pPr algn="l" indent="0" marL="0">
              <a:buNone/>
              <a:defRPr lang="en-US" sz="2600" b="1" dirty="0">
                <a:solidFill>
                  <a:srgbClr val="1C1E21"/>
                </a:solidFill>
                <a:latin typeface="Georgia" pitchFamily="34" charset="0"/>
                <a:ea typeface="Georgia" pitchFamily="34" charset="-122"/>
                <a:cs typeface="Georg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HREE_COLUMN_FLOW">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48640" y="6446520"/>
            <a:ext cx="11091672" cy="0"/>
          </a:xfrm>
          <a:prstGeom prst="line">
            <a:avLst/>
          </a:prstGeom>
          <a:noFill/>
          <a:ln w="9525">
            <a:solidFill>
              <a:srgbClr val="E1E4E8"/>
            </a:solidFill>
            <a:prstDash val="solid"/>
          </a:ln>
        </p:spPr>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800" spc="150" kern="0" dirty="0">
                <a:solidFill>
                  <a:srgbClr val="525866"/>
                </a:solidFill>
                <a:latin typeface="Calibri" pitchFamily="34" charset="0"/>
                <a:ea typeface="Calibri" pitchFamily="34" charset="-122"/>
                <a:cs typeface="Calibri" pitchFamily="34" charset="-120"/>
              </a:rPr>
              <a:t>DARK PATTERN AUDITOR  ·  CCPA 2023 ENFORCEMENT VIA MULTIMODAL AI</a:t>
            </a:r>
            <a:endParaRPr lang="en-US" sz="800" dirty="0"/>
          </a:p>
        </p:txBody>
      </p:sp>
      <p:sp>
        <p:nvSpPr>
          <p:cNvPr id="4" name="Text 2"/>
          <p:cNvSpPr/>
          <p:nvPr>
            <p:ph idx="102" type="title" hasCustomPrompt="1"/>
          </p:nvPr>
        </p:nvSpPr>
        <p:spPr>
          <a:xfrm>
            <a:off x="548640" y="621792"/>
            <a:ext cx="11091672" cy="685800"/>
          </a:xfrm>
          <a:prstGeom prst="rect">
            <a:avLst/>
          </a:prstGeom>
          <a:noFill/>
          <a:ln/>
        </p:spPr>
        <p:txBody>
          <a:bodyPr wrap="square" rtlCol="0"/>
          <a:lstStyle>
            <a:lvl1pPr algn="l" indent="0" marL="0">
              <a:buNone/>
              <a:defRPr lang="en-US" sz="2600" b="1" dirty="0">
                <a:solidFill>
                  <a:srgbClr val="1C1E21"/>
                </a:solidFill>
                <a:latin typeface="Georgia" pitchFamily="34" charset="0"/>
                <a:ea typeface="Georgia" pitchFamily="34" charset="-122"/>
                <a:cs typeface="Georg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ORENSIC_TABLE">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48640" y="6446520"/>
            <a:ext cx="11091672" cy="0"/>
          </a:xfrm>
          <a:prstGeom prst="line">
            <a:avLst/>
          </a:prstGeom>
          <a:noFill/>
          <a:ln w="9525">
            <a:solidFill>
              <a:srgbClr val="E1E4E8"/>
            </a:solidFill>
            <a:prstDash val="solid"/>
          </a:ln>
        </p:spPr>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800" spc="150" kern="0" dirty="0">
                <a:solidFill>
                  <a:srgbClr val="525866"/>
                </a:solidFill>
                <a:latin typeface="Calibri" pitchFamily="34" charset="0"/>
                <a:ea typeface="Calibri" pitchFamily="34" charset="-122"/>
                <a:cs typeface="Calibri" pitchFamily="34" charset="-120"/>
              </a:rPr>
              <a:t>DARK PATTERN AUDITOR  ·  CCPA 2023 ENFORCEMENT VIA MULTIMODAL AI</a:t>
            </a:r>
            <a:endParaRPr lang="en-US" sz="800" dirty="0"/>
          </a:p>
        </p:txBody>
      </p:sp>
      <p:sp>
        <p:nvSpPr>
          <p:cNvPr id="4" name="Text 2"/>
          <p:cNvSpPr/>
          <p:nvPr>
            <p:ph idx="102" type="title" hasCustomPrompt="1"/>
          </p:nvPr>
        </p:nvSpPr>
        <p:spPr>
          <a:xfrm>
            <a:off x="548640" y="621792"/>
            <a:ext cx="11091672" cy="685800"/>
          </a:xfrm>
          <a:prstGeom prst="rect">
            <a:avLst/>
          </a:prstGeom>
          <a:noFill/>
          <a:ln/>
        </p:spPr>
        <p:txBody>
          <a:bodyPr wrap="square" rtlCol="0"/>
          <a:lstStyle>
            <a:lvl1pPr algn="l" indent="0" marL="0">
              <a:buNone/>
              <a:defRPr lang="en-US" sz="2600" b="1" dirty="0">
                <a:solidFill>
                  <a:srgbClr val="1C1E21"/>
                </a:solidFill>
                <a:latin typeface="Georgia" pitchFamily="34" charset="0"/>
                <a:ea typeface="Georgia" pitchFamily="34" charset="-122"/>
                <a:cs typeface="Georg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9AA1A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640080"/>
            <a:ext cx="8229600" cy="27432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FORENSIC AUDIT  ·  CLASSIFICATION: REGULATORY / ACADEMIC</a:t>
            </a:r>
            <a:endParaRPr lang="en-US" sz="1000" dirty="0"/>
          </a:p>
        </p:txBody>
      </p:sp>
      <p:sp>
        <p:nvSpPr>
          <p:cNvPr id="3" name="Text 1"/>
          <p:cNvSpPr txBox="1"/>
          <p:nvPr/>
        </p:nvSpPr>
        <p:spPr>
          <a:xfrm>
            <a:off x="822960" y="137160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Georgia" pitchFamily="34" charset="0"/>
                <a:ea typeface="Georgia" pitchFamily="34" charset="-122"/>
                <a:cs typeface="Georgia" pitchFamily="34" charset="-120"/>
              </a:rPr>
              <a:t>Dark Pattern Auditor</a:t>
            </a:r>
            <a:endParaRPr lang="en-US" sz="4800" dirty="0"/>
          </a:p>
        </p:txBody>
      </p:sp>
      <p:sp>
        <p:nvSpPr>
          <p:cNvPr id="4" name="Text 2"/>
          <p:cNvSpPr txBox="1"/>
          <p:nvPr/>
        </p:nvSpPr>
        <p:spPr>
          <a:xfrm>
            <a:off x="822960" y="2331720"/>
            <a:ext cx="8778240" cy="822960"/>
          </a:xfrm>
          <a:prstGeom prst="rect">
            <a:avLst/>
          </a:prstGeom>
          <a:noFill/>
          <a:ln/>
        </p:spPr>
        <p:txBody>
          <a:bodyPr wrap="square" lIns="0" tIns="0" rIns="0" bIns="0" rtlCol="0" anchor="t"/>
          <a:lstStyle/>
          <a:p>
            <a:pPr indent="0" marL="0">
              <a:buNone/>
            </a:pPr>
            <a:r>
              <a:rPr lang="en-US" sz="2200" dirty="0">
                <a:solidFill>
                  <a:srgbClr val="D0D4DB"/>
                </a:solidFill>
                <a:latin typeface="Georgia" pitchFamily="34" charset="0"/>
                <a:ea typeface="Georgia" pitchFamily="34" charset="-122"/>
                <a:cs typeface="Georgia" pitchFamily="34" charset="-120"/>
              </a:rPr>
              <a:t>Automated Detection, Verification, and Honest Redesign of Manipulative UI</a:t>
            </a:r>
            <a:endParaRPr lang="en-US" sz="2200" dirty="0"/>
          </a:p>
        </p:txBody>
      </p:sp>
      <p:sp>
        <p:nvSpPr>
          <p:cNvPr id="5" name="Shape 3"/>
          <p:cNvSpPr/>
          <p:nvPr/>
        </p:nvSpPr>
        <p:spPr>
          <a:xfrm>
            <a:off x="822960" y="3383280"/>
            <a:ext cx="1280160" cy="0"/>
          </a:xfrm>
          <a:prstGeom prst="line">
            <a:avLst/>
          </a:prstGeom>
          <a:noFill/>
          <a:ln w="31750">
            <a:solidFill>
              <a:srgbClr val="C92A2A"/>
            </a:solidFill>
            <a:prstDash val="solid"/>
          </a:ln>
        </p:spPr>
      </p:sp>
      <p:sp>
        <p:nvSpPr>
          <p:cNvPr id="6" name="Text 4"/>
          <p:cNvSpPr txBox="1"/>
          <p:nvPr/>
        </p:nvSpPr>
        <p:spPr>
          <a:xfrm>
            <a:off x="822960" y="3566160"/>
            <a:ext cx="8229600" cy="365760"/>
          </a:xfrm>
          <a:prstGeom prst="rect">
            <a:avLst/>
          </a:prstGeom>
          <a:noFill/>
          <a:ln/>
        </p:spPr>
        <p:txBody>
          <a:bodyPr wrap="square" lIns="0" tIns="0" rIns="0" bIns="0" rtlCol="0" anchor="t"/>
          <a:lstStyle/>
          <a:p>
            <a:pPr indent="0" marL="0">
              <a:buNone/>
            </a:pPr>
            <a:r>
              <a:rPr lang="en-US" sz="1600" i="1" dirty="0">
                <a:solidFill>
                  <a:srgbClr val="9AA1AE"/>
                </a:solidFill>
                <a:latin typeface="Calibri" pitchFamily="34" charset="0"/>
                <a:ea typeface="Calibri" pitchFamily="34" charset="-122"/>
                <a:cs typeface="Calibri" pitchFamily="34" charset="-120"/>
              </a:rPr>
              <a:t>Multimodal AI Architecture for Scalable Consumer Protection</a:t>
            </a:r>
            <a:endParaRPr lang="en-US" sz="1600" dirty="0"/>
          </a:p>
        </p:txBody>
      </p:sp>
      <p:sp>
        <p:nvSpPr>
          <p:cNvPr id="7" name="Shape 5"/>
          <p:cNvSpPr/>
          <p:nvPr/>
        </p:nvSpPr>
        <p:spPr>
          <a:xfrm>
            <a:off x="822960" y="4572000"/>
            <a:ext cx="5394960" cy="1325880"/>
          </a:xfrm>
          <a:prstGeom prst="rect">
            <a:avLst/>
          </a:prstGeom>
          <a:solidFill>
            <a:srgbClr val="181B21"/>
          </a:solidFill>
          <a:ln w="9525">
            <a:solidFill>
              <a:srgbClr val="2A2F38"/>
            </a:solidFill>
            <a:prstDash val="solid"/>
          </a:ln>
        </p:spPr>
      </p:sp>
      <p:sp>
        <p:nvSpPr>
          <p:cNvPr id="8" name="Text 6"/>
          <p:cNvSpPr txBox="1"/>
          <p:nvPr/>
        </p:nvSpPr>
        <p:spPr>
          <a:xfrm>
            <a:off x="1005840" y="4709160"/>
            <a:ext cx="5029200" cy="201168"/>
          </a:xfrm>
          <a:prstGeom prst="rect">
            <a:avLst/>
          </a:prstGeom>
          <a:noFill/>
          <a:ln/>
        </p:spPr>
        <p:txBody>
          <a:bodyPr wrap="square" lIns="0" tIns="0" rIns="0" bIns="0" rtlCol="0" anchor="t"/>
          <a:lstStyle/>
          <a:p>
            <a:pPr indent="0" marL="0">
              <a:buNone/>
            </a:pPr>
            <a:r>
              <a:rPr lang="en-US" sz="900" b="1" spc="200" kern="0" dirty="0">
                <a:solidFill>
                  <a:srgbClr val="C92A2A"/>
                </a:solidFill>
                <a:latin typeface="Calibri" pitchFamily="34" charset="0"/>
                <a:ea typeface="Calibri" pitchFamily="34" charset="-122"/>
                <a:cs typeface="Calibri" pitchFamily="34" charset="-120"/>
              </a:rPr>
              <a:t>LEGAL BASIS</a:t>
            </a:r>
            <a:endParaRPr lang="en-US" sz="900" dirty="0"/>
          </a:p>
        </p:txBody>
      </p:sp>
      <p:sp>
        <p:nvSpPr>
          <p:cNvPr id="9" name="Text 7"/>
          <p:cNvSpPr txBox="1"/>
          <p:nvPr/>
        </p:nvSpPr>
        <p:spPr>
          <a:xfrm>
            <a:off x="1005840" y="4956048"/>
            <a:ext cx="50292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CCPA 2023 / Gazetted Notification 30 Nov 2023</a:t>
            </a:r>
            <a:endParaRPr lang="en-US" sz="1400" dirty="0"/>
          </a:p>
        </p:txBody>
      </p:sp>
      <p:sp>
        <p:nvSpPr>
          <p:cNvPr id="10" name="Text 8"/>
          <p:cNvSpPr txBox="1"/>
          <p:nvPr/>
        </p:nvSpPr>
        <p:spPr>
          <a:xfrm>
            <a:off x="1005840" y="5321808"/>
            <a:ext cx="5029200" cy="502920"/>
          </a:xfrm>
          <a:prstGeom prst="rect">
            <a:avLst/>
          </a:prstGeom>
          <a:noFill/>
          <a:ln/>
        </p:spPr>
        <p:txBody>
          <a:bodyPr wrap="square" lIns="0" tIns="0" rIns="0" bIns="0" rtlCol="0" anchor="t"/>
          <a:lstStyle/>
          <a:p>
            <a:pPr indent="0" marL="0">
              <a:buNone/>
            </a:pPr>
            <a:r>
              <a:rPr lang="en-US" sz="1050" dirty="0">
                <a:solidFill>
                  <a:srgbClr val="9AA1AE"/>
                </a:solidFill>
                <a:latin typeface="Calibri" pitchFamily="34" charset="0"/>
                <a:ea typeface="Calibri" pitchFamily="34" charset="-122"/>
                <a:cs typeface="Calibri" pitchFamily="34" charset="-120"/>
              </a:rPr>
              <a:t>Guidelines for Prevention and Regulation of Dark Patterns, 2023 — Ministry of Consumer Affairs, Government of India</a:t>
            </a:r>
            <a:endParaRPr lang="en-US" sz="1050" dirty="0"/>
          </a:p>
        </p:txBody>
      </p:sp>
      <p:sp>
        <p:nvSpPr>
          <p:cNvPr id="11" name="Shape 9"/>
          <p:cNvSpPr/>
          <p:nvPr/>
        </p:nvSpPr>
        <p:spPr>
          <a:xfrm>
            <a:off x="6492240" y="4572000"/>
            <a:ext cx="4846320" cy="1325880"/>
          </a:xfrm>
          <a:prstGeom prst="rect">
            <a:avLst/>
          </a:prstGeom>
          <a:solidFill>
            <a:srgbClr val="181B21"/>
          </a:solidFill>
          <a:ln w="9525">
            <a:solidFill>
              <a:srgbClr val="2A2F38"/>
            </a:solidFill>
            <a:prstDash val="solid"/>
          </a:ln>
        </p:spPr>
      </p:sp>
      <p:sp>
        <p:nvSpPr>
          <p:cNvPr id="12" name="Text 10"/>
          <p:cNvSpPr txBox="1"/>
          <p:nvPr/>
        </p:nvSpPr>
        <p:spPr>
          <a:xfrm>
            <a:off x="6675120" y="4709160"/>
            <a:ext cx="4480560" cy="201168"/>
          </a:xfrm>
          <a:prstGeom prst="rect">
            <a:avLst/>
          </a:prstGeom>
          <a:noFill/>
          <a:ln/>
        </p:spPr>
        <p:txBody>
          <a:bodyPr wrap="square" lIns="0" tIns="0" rIns="0" bIns="0" rtlCol="0" anchor="t"/>
          <a:lstStyle/>
          <a:p>
            <a:pPr indent="0" marL="0">
              <a:buNone/>
            </a:pPr>
            <a:r>
              <a:rPr lang="en-US" sz="900" b="1" spc="200" kern="0" dirty="0">
                <a:solidFill>
                  <a:srgbClr val="C92A2A"/>
                </a:solidFill>
                <a:latin typeface="Calibri" pitchFamily="34" charset="0"/>
                <a:ea typeface="Calibri" pitchFamily="34" charset="-122"/>
                <a:cs typeface="Calibri" pitchFamily="34" charset="-120"/>
              </a:rPr>
              <a:t>TEAM</a:t>
            </a:r>
            <a:endParaRPr lang="en-US" sz="900" dirty="0"/>
          </a:p>
        </p:txBody>
      </p:sp>
      <p:sp>
        <p:nvSpPr>
          <p:cNvPr id="13" name="Text 11"/>
          <p:cNvSpPr txBox="1"/>
          <p:nvPr/>
        </p:nvSpPr>
        <p:spPr>
          <a:xfrm>
            <a:off x="6675120" y="4983480"/>
            <a:ext cx="4480560" cy="822960"/>
          </a:xfrm>
          <a:prstGeom prst="rect">
            <a:avLst/>
          </a:prstGeom>
          <a:noFill/>
          <a:ln/>
        </p:spPr>
        <p:txBody>
          <a:bodyPr wrap="square" lIns="0" tIns="0" rIns="0" bIns="0" rtlCol="0" anchor="t"/>
          <a:lstStyle/>
          <a:p>
            <a:pPr indent="0" marL="0">
              <a:spcAft>
                <a:spcPts val="600"/>
              </a:spcAft>
              <a:buNone/>
            </a:pPr>
            <a:r>
              <a:rPr lang="en-US" sz="1400" b="1" dirty="0">
                <a:solidFill>
                  <a:srgbClr val="FFFFFF"/>
                </a:solidFill>
                <a:latin typeface="Calibri" pitchFamily="34" charset="0"/>
                <a:ea typeface="Calibri" pitchFamily="34" charset="-122"/>
                <a:cs typeface="Calibri" pitchFamily="34" charset="-120"/>
              </a:rPr>
              <a:t>Ayan Farooque</a:t>
            </a:r>
            <a:pPr indent="0" marL="0">
              <a:spcAft>
                <a:spcPts val="600"/>
              </a:spcAft>
              <a:buNone/>
            </a:pPr>
            <a:r>
              <a:rPr lang="en-US" sz="1400" dirty="0">
                <a:solidFill>
                  <a:srgbClr val="9AA1AE"/>
                </a:solidFill>
                <a:latin typeface="Consolas" pitchFamily="34" charset="0"/>
                <a:ea typeface="Consolas" pitchFamily="34" charset="-122"/>
                <a:cs typeface="Consolas" pitchFamily="34" charset="-120"/>
              </a:rPr>
              <a:t>   BT23F05F019</a:t>
            </a:r>
            <a:endParaRPr lang="en-US" sz="1400" dirty="0"/>
          </a:p>
          <a:p>
            <a:pPr indent="0" marL="0">
              <a:spcAft>
                <a:spcPts val="600"/>
              </a:spcAft>
              <a:buNone/>
            </a:pPr>
            <a:r>
              <a:rPr lang="en-US" sz="1400" b="1" dirty="0">
                <a:solidFill>
                  <a:srgbClr val="FFFFFF"/>
                </a:solidFill>
                <a:latin typeface="Calibri" pitchFamily="34" charset="0"/>
                <a:ea typeface="Calibri" pitchFamily="34" charset="-122"/>
                <a:cs typeface="Calibri" pitchFamily="34" charset="-120"/>
              </a:rPr>
              <a:t>Aditya</a:t>
            </a:r>
            <a:pPr indent="0" marL="0">
              <a:spcAft>
                <a:spcPts val="600"/>
              </a:spcAft>
              <a:buNone/>
            </a:pPr>
            <a:r>
              <a:rPr lang="en-US" sz="1400" dirty="0">
                <a:solidFill>
                  <a:srgbClr val="9AA1AE"/>
                </a:solidFill>
                <a:latin typeface="Consolas" pitchFamily="34" charset="0"/>
                <a:ea typeface="Consolas" pitchFamily="34" charset="-122"/>
                <a:cs typeface="Consolas" pitchFamily="34" charset="-120"/>
              </a:rPr>
              <a:t>   BT23F05F024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 · CASE FILES</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The Manufactured Interface: Three Exhibits</a:t>
            </a:r>
            <a:endParaRPr lang="en-US" sz="2600" dirty="0"/>
          </a:p>
        </p:txBody>
      </p:sp>
      <p:sp>
        <p:nvSpPr>
          <p:cNvPr id="5" name="Shape 2"/>
          <p:cNvSpPr/>
          <p:nvPr/>
        </p:nvSpPr>
        <p:spPr>
          <a:xfrm>
            <a:off x="548640" y="1508760"/>
            <a:ext cx="3566160" cy="4663440"/>
          </a:xfrm>
          <a:prstGeom prst="rect">
            <a:avLst/>
          </a:prstGeom>
          <a:solidFill>
            <a:srgbClr val="F1F3F5"/>
          </a:solidFill>
          <a:ln w="9525">
            <a:solidFill>
              <a:srgbClr val="E1E4E8"/>
            </a:solidFill>
            <a:prstDash val="solid"/>
          </a:ln>
        </p:spPr>
      </p:sp>
      <p:sp>
        <p:nvSpPr>
          <p:cNvPr id="6" name="Shape 3"/>
          <p:cNvSpPr/>
          <p:nvPr/>
        </p:nvSpPr>
        <p:spPr>
          <a:xfrm>
            <a:off x="548640" y="1508760"/>
            <a:ext cx="54864" cy="4663440"/>
          </a:xfrm>
          <a:prstGeom prst="rect">
            <a:avLst/>
          </a:prstGeom>
          <a:solidFill>
            <a:srgbClr val="C92A2A"/>
          </a:solidFill>
          <a:ln w="12700">
            <a:solidFill>
              <a:srgbClr val="C92A2A"/>
            </a:solidFill>
            <a:prstDash val="solid"/>
          </a:ln>
        </p:spPr>
      </p:sp>
      <p:sp>
        <p:nvSpPr>
          <p:cNvPr id="7" name="Text 4"/>
          <p:cNvSpPr txBox="1"/>
          <p:nvPr/>
        </p:nvSpPr>
        <p:spPr>
          <a:xfrm>
            <a:off x="777240" y="1673352"/>
            <a:ext cx="182880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EXHIBIT A</a:t>
            </a:r>
            <a:endParaRPr lang="en-US" sz="900" dirty="0"/>
          </a:p>
        </p:txBody>
      </p:sp>
      <p:sp>
        <p:nvSpPr>
          <p:cNvPr id="8" name="Shape 5"/>
          <p:cNvSpPr/>
          <p:nvPr/>
        </p:nvSpPr>
        <p:spPr>
          <a:xfrm>
            <a:off x="3154680" y="1636776"/>
            <a:ext cx="777240" cy="256032"/>
          </a:xfrm>
          <a:prstGeom prst="roundRect">
            <a:avLst>
              <a:gd name="adj" fmla="val 21429"/>
            </a:avLst>
          </a:prstGeom>
          <a:solidFill>
            <a:srgbClr val="C92A2A"/>
          </a:solidFill>
          <a:ln w="12700">
            <a:solidFill>
              <a:srgbClr val="C92A2A"/>
            </a:solidFill>
            <a:prstDash val="solid"/>
          </a:ln>
        </p:spPr>
      </p:sp>
      <p:sp>
        <p:nvSpPr>
          <p:cNvPr id="9" name="Text 6"/>
          <p:cNvSpPr txBox="1"/>
          <p:nvPr/>
        </p:nvSpPr>
        <p:spPr>
          <a:xfrm>
            <a:off x="3154680" y="1636776"/>
            <a:ext cx="77724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HIGH</a:t>
            </a:r>
            <a:endParaRPr lang="en-US" sz="800" dirty="0"/>
          </a:p>
        </p:txBody>
      </p:sp>
      <p:sp>
        <p:nvSpPr>
          <p:cNvPr id="10" name="Shape 7"/>
          <p:cNvSpPr/>
          <p:nvPr/>
        </p:nvSpPr>
        <p:spPr>
          <a:xfrm>
            <a:off x="777240" y="1965960"/>
            <a:ext cx="3108960" cy="1600200"/>
          </a:xfrm>
          <a:prstGeom prst="rect">
            <a:avLst/>
          </a:prstGeom>
          <a:solidFill>
            <a:srgbClr val="FFFFFF"/>
          </a:solidFill>
          <a:ln w="9525">
            <a:solidFill>
              <a:srgbClr val="E1E4E8"/>
            </a:solidFill>
            <a:prstDash val="solid"/>
          </a:ln>
        </p:spPr>
      </p:sp>
      <p:sp>
        <p:nvSpPr>
          <p:cNvPr id="11" name="Shape 8"/>
          <p:cNvSpPr/>
          <p:nvPr/>
        </p:nvSpPr>
        <p:spPr>
          <a:xfrm>
            <a:off x="960120" y="2286000"/>
            <a:ext cx="237744" cy="237744"/>
          </a:xfrm>
          <a:prstGeom prst="rect">
            <a:avLst/>
          </a:prstGeom>
          <a:solidFill>
            <a:srgbClr val="1C1E21"/>
          </a:solidFill>
          <a:ln w="12700">
            <a:solidFill>
              <a:srgbClr val="1C1E21"/>
            </a:solidFill>
            <a:prstDash val="solid"/>
          </a:ln>
        </p:spPr>
      </p:sp>
      <p:sp>
        <p:nvSpPr>
          <p:cNvPr id="12" name="Text 9"/>
          <p:cNvSpPr txBox="1"/>
          <p:nvPr/>
        </p:nvSpPr>
        <p:spPr>
          <a:xfrm>
            <a:off x="960120" y="22860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0"/>
          <p:cNvSpPr txBox="1"/>
          <p:nvPr/>
        </p:nvSpPr>
        <p:spPr>
          <a:xfrm>
            <a:off x="1325880" y="2267712"/>
            <a:ext cx="2377440" cy="274320"/>
          </a:xfrm>
          <a:prstGeom prst="rect">
            <a:avLst/>
          </a:prstGeom>
          <a:noFill/>
          <a:ln/>
        </p:spPr>
        <p:txBody>
          <a:bodyPr wrap="square" lIns="0" tIns="0" rIns="0" bIns="0" rtlCol="0" anchor="ctr"/>
          <a:lstStyle/>
          <a:p>
            <a:pPr indent="0" marL="0">
              <a:buNone/>
            </a:pPr>
            <a:r>
              <a:rPr lang="en-US" sz="1200" b="1" dirty="0">
                <a:solidFill>
                  <a:srgbClr val="1C1E21"/>
                </a:solidFill>
                <a:latin typeface="Calibri" pitchFamily="34" charset="0"/>
                <a:ea typeface="Calibri" pitchFamily="34" charset="-122"/>
                <a:cs typeface="Calibri" pitchFamily="34" charset="-120"/>
              </a:rPr>
              <a:t>Add travel insurance  ₹299</a:t>
            </a:r>
            <a:endParaRPr lang="en-US" sz="1200" dirty="0"/>
          </a:p>
        </p:txBody>
      </p:sp>
      <p:sp>
        <p:nvSpPr>
          <p:cNvPr id="14" name="Text 11"/>
          <p:cNvSpPr txBox="1"/>
          <p:nvPr/>
        </p:nvSpPr>
        <p:spPr>
          <a:xfrm>
            <a:off x="960120" y="2743200"/>
            <a:ext cx="2743200" cy="274320"/>
          </a:xfrm>
          <a:prstGeom prst="rect">
            <a:avLst/>
          </a:prstGeom>
          <a:noFill/>
          <a:ln/>
        </p:spPr>
        <p:txBody>
          <a:bodyPr wrap="square" lIns="0" tIns="0" rIns="0" bIns="0" rtlCol="0" anchor="t"/>
          <a:lstStyle/>
          <a:p>
            <a:pPr indent="0" marL="0">
              <a:buNone/>
            </a:pPr>
            <a:r>
              <a:rPr lang="en-US" sz="800" dirty="0">
                <a:solidFill>
                  <a:srgbClr val="B0B5BF"/>
                </a:solidFill>
                <a:latin typeface="Calibri" pitchFamily="34" charset="0"/>
                <a:ea typeface="Calibri" pitchFamily="34" charset="-122"/>
                <a:cs typeface="Calibri" pitchFamily="34" charset="-120"/>
              </a:rPr>
              <a:t>I agree to the terms of the policy and premium debit.</a:t>
            </a:r>
            <a:endParaRPr lang="en-US" sz="800" dirty="0"/>
          </a:p>
        </p:txBody>
      </p:sp>
      <p:sp>
        <p:nvSpPr>
          <p:cNvPr id="15" name="Shape 12"/>
          <p:cNvSpPr/>
          <p:nvPr/>
        </p:nvSpPr>
        <p:spPr>
          <a:xfrm>
            <a:off x="960120" y="3108960"/>
            <a:ext cx="1463040" cy="274320"/>
          </a:xfrm>
          <a:prstGeom prst="rect">
            <a:avLst/>
          </a:prstGeom>
          <a:solidFill>
            <a:srgbClr val="1C1E21"/>
          </a:solidFill>
          <a:ln w="12700">
            <a:solidFill>
              <a:srgbClr val="1C1E21"/>
            </a:solidFill>
            <a:prstDash val="solid"/>
          </a:ln>
        </p:spPr>
      </p:sp>
      <p:sp>
        <p:nvSpPr>
          <p:cNvPr id="16" name="Text 13"/>
          <p:cNvSpPr txBox="1"/>
          <p:nvPr/>
        </p:nvSpPr>
        <p:spPr>
          <a:xfrm>
            <a:off x="960120" y="3108960"/>
            <a:ext cx="14630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Continue</a:t>
            </a:r>
            <a:endParaRPr lang="en-US" sz="1000" dirty="0"/>
          </a:p>
        </p:txBody>
      </p:sp>
      <p:sp>
        <p:nvSpPr>
          <p:cNvPr id="17" name="Text 14"/>
          <p:cNvSpPr txBox="1"/>
          <p:nvPr/>
        </p:nvSpPr>
        <p:spPr>
          <a:xfrm>
            <a:off x="777240" y="3749040"/>
            <a:ext cx="3108960" cy="54864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Pre-ticked travel insurance</a:t>
            </a:r>
            <a:endParaRPr lang="en-US" sz="1600" dirty="0"/>
          </a:p>
        </p:txBody>
      </p:sp>
      <p:sp>
        <p:nvSpPr>
          <p:cNvPr id="18" name="Text 15"/>
          <p:cNvSpPr txBox="1"/>
          <p:nvPr/>
        </p:nvSpPr>
        <p:spPr>
          <a:xfrm>
            <a:off x="777240" y="4343400"/>
            <a:ext cx="3108960" cy="86868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A ₹299 add-on arrives already ticked in a dense passenger form. Consent is assumed, not given.</a:t>
            </a:r>
            <a:endParaRPr lang="en-US" sz="1150" dirty="0"/>
          </a:p>
        </p:txBody>
      </p:sp>
      <p:sp>
        <p:nvSpPr>
          <p:cNvPr id="19" name="Text 16"/>
          <p:cNvSpPr txBox="1"/>
          <p:nvPr/>
        </p:nvSpPr>
        <p:spPr>
          <a:xfrm>
            <a:off x="777240" y="5212080"/>
            <a:ext cx="3108960" cy="457200"/>
          </a:xfrm>
          <a:prstGeom prst="rect">
            <a:avLst/>
          </a:prstGeom>
          <a:noFill/>
          <a:ln/>
        </p:spPr>
        <p:txBody>
          <a:bodyPr wrap="square" lIns="0" tIns="0" rIns="0" bIns="0" rtlCol="0" anchor="t"/>
          <a:lstStyle/>
          <a:p>
            <a:pPr indent="0" marL="0">
              <a:buNone/>
            </a:pPr>
            <a:r>
              <a:rPr lang="en-US" sz="1000" i="1" dirty="0">
                <a:solidFill>
                  <a:srgbClr val="525866"/>
                </a:solidFill>
                <a:latin typeface="Calibri" pitchFamily="34" charset="0"/>
                <a:ea typeface="Calibri" pitchFamily="34" charset="-122"/>
                <a:cs typeface="Calibri" pitchFamily="34" charset="-120"/>
              </a:rPr>
              <a:t>Evidence: default-checked box, low-contrast fine print, total silently inflated.</a:t>
            </a:r>
            <a:endParaRPr lang="en-US" sz="1000" dirty="0"/>
          </a:p>
        </p:txBody>
      </p:sp>
      <p:sp>
        <p:nvSpPr>
          <p:cNvPr id="20" name="Shape 17"/>
          <p:cNvSpPr/>
          <p:nvPr/>
        </p:nvSpPr>
        <p:spPr>
          <a:xfrm>
            <a:off x="777240" y="5760720"/>
            <a:ext cx="1737360" cy="256032"/>
          </a:xfrm>
          <a:prstGeom prst="roundRect">
            <a:avLst>
              <a:gd name="adj" fmla="val 21429"/>
            </a:avLst>
          </a:prstGeom>
          <a:solidFill>
            <a:srgbClr val="1C1E21"/>
          </a:solidFill>
          <a:ln w="12700">
            <a:solidFill>
              <a:srgbClr val="1C1E21"/>
            </a:solidFill>
            <a:prstDash val="solid"/>
          </a:ln>
        </p:spPr>
      </p:sp>
      <p:sp>
        <p:nvSpPr>
          <p:cNvPr id="21" name="Text 18"/>
          <p:cNvSpPr txBox="1"/>
          <p:nvPr/>
        </p:nvSpPr>
        <p:spPr>
          <a:xfrm>
            <a:off x="777240" y="5760720"/>
            <a:ext cx="17373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BASKET SNEAKING</a:t>
            </a:r>
            <a:endParaRPr lang="en-US" sz="800" dirty="0"/>
          </a:p>
        </p:txBody>
      </p:sp>
      <p:sp>
        <p:nvSpPr>
          <p:cNvPr id="22" name="Shape 19"/>
          <p:cNvSpPr/>
          <p:nvPr/>
        </p:nvSpPr>
        <p:spPr>
          <a:xfrm>
            <a:off x="4315968" y="1508760"/>
            <a:ext cx="3566160" cy="4663440"/>
          </a:xfrm>
          <a:prstGeom prst="rect">
            <a:avLst/>
          </a:prstGeom>
          <a:solidFill>
            <a:srgbClr val="F1F3F5"/>
          </a:solidFill>
          <a:ln w="9525">
            <a:solidFill>
              <a:srgbClr val="E1E4E8"/>
            </a:solidFill>
            <a:prstDash val="solid"/>
          </a:ln>
        </p:spPr>
      </p:sp>
      <p:sp>
        <p:nvSpPr>
          <p:cNvPr id="23" name="Shape 20"/>
          <p:cNvSpPr/>
          <p:nvPr/>
        </p:nvSpPr>
        <p:spPr>
          <a:xfrm>
            <a:off x="4315968" y="1508760"/>
            <a:ext cx="54864" cy="4663440"/>
          </a:xfrm>
          <a:prstGeom prst="rect">
            <a:avLst/>
          </a:prstGeom>
          <a:solidFill>
            <a:srgbClr val="C92A2A"/>
          </a:solidFill>
          <a:ln w="12700">
            <a:solidFill>
              <a:srgbClr val="C92A2A"/>
            </a:solidFill>
            <a:prstDash val="solid"/>
          </a:ln>
        </p:spPr>
      </p:sp>
      <p:sp>
        <p:nvSpPr>
          <p:cNvPr id="24" name="Text 21"/>
          <p:cNvSpPr txBox="1"/>
          <p:nvPr/>
        </p:nvSpPr>
        <p:spPr>
          <a:xfrm>
            <a:off x="4544568" y="1673352"/>
            <a:ext cx="182880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EXHIBIT B</a:t>
            </a:r>
            <a:endParaRPr lang="en-US" sz="900" dirty="0"/>
          </a:p>
        </p:txBody>
      </p:sp>
      <p:sp>
        <p:nvSpPr>
          <p:cNvPr id="25" name="Shape 22"/>
          <p:cNvSpPr/>
          <p:nvPr/>
        </p:nvSpPr>
        <p:spPr>
          <a:xfrm>
            <a:off x="6922008" y="1636776"/>
            <a:ext cx="777240" cy="256032"/>
          </a:xfrm>
          <a:prstGeom prst="roundRect">
            <a:avLst>
              <a:gd name="adj" fmla="val 21429"/>
            </a:avLst>
          </a:prstGeom>
          <a:solidFill>
            <a:srgbClr val="C92A2A"/>
          </a:solidFill>
          <a:ln w="12700">
            <a:solidFill>
              <a:srgbClr val="C92A2A"/>
            </a:solidFill>
            <a:prstDash val="solid"/>
          </a:ln>
        </p:spPr>
      </p:sp>
      <p:sp>
        <p:nvSpPr>
          <p:cNvPr id="26" name="Text 23"/>
          <p:cNvSpPr txBox="1"/>
          <p:nvPr/>
        </p:nvSpPr>
        <p:spPr>
          <a:xfrm>
            <a:off x="6922008" y="1636776"/>
            <a:ext cx="77724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HIGH</a:t>
            </a:r>
            <a:endParaRPr lang="en-US" sz="800" dirty="0"/>
          </a:p>
        </p:txBody>
      </p:sp>
      <p:sp>
        <p:nvSpPr>
          <p:cNvPr id="27" name="Shape 24"/>
          <p:cNvSpPr/>
          <p:nvPr/>
        </p:nvSpPr>
        <p:spPr>
          <a:xfrm>
            <a:off x="4544568" y="1965960"/>
            <a:ext cx="3108960" cy="1600200"/>
          </a:xfrm>
          <a:prstGeom prst="rect">
            <a:avLst/>
          </a:prstGeom>
          <a:solidFill>
            <a:srgbClr val="FFFFFF"/>
          </a:solidFill>
          <a:ln w="9525">
            <a:solidFill>
              <a:srgbClr val="E1E4E8"/>
            </a:solidFill>
            <a:prstDash val="solid"/>
          </a:ln>
        </p:spPr>
      </p:sp>
      <p:sp>
        <p:nvSpPr>
          <p:cNvPr id="28" name="Text 25"/>
          <p:cNvSpPr txBox="1"/>
          <p:nvPr/>
        </p:nvSpPr>
        <p:spPr>
          <a:xfrm>
            <a:off x="4727448" y="2148840"/>
            <a:ext cx="2743200" cy="228600"/>
          </a:xfrm>
          <a:prstGeom prst="rect">
            <a:avLst/>
          </a:prstGeom>
          <a:noFill/>
          <a:ln/>
        </p:spPr>
        <p:txBody>
          <a:bodyPr wrap="square" lIns="0" tIns="0" rIns="0" bIns="0" rtlCol="0" anchor="t"/>
          <a:lstStyle/>
          <a:p>
            <a:pPr indent="0" marL="0">
              <a:buNone/>
            </a:pPr>
            <a:r>
              <a:rPr lang="en-US" sz="1000" dirty="0">
                <a:solidFill>
                  <a:srgbClr val="525866"/>
                </a:solidFill>
                <a:latin typeface="Calibri" pitchFamily="34" charset="0"/>
                <a:ea typeface="Calibri" pitchFamily="34" charset="-122"/>
                <a:cs typeface="Calibri" pitchFamily="34" charset="-120"/>
              </a:rPr>
              <a:t>Offer ends in</a:t>
            </a:r>
            <a:endParaRPr lang="en-US" sz="1000" dirty="0"/>
          </a:p>
        </p:txBody>
      </p:sp>
      <p:sp>
        <p:nvSpPr>
          <p:cNvPr id="29" name="Text 26"/>
          <p:cNvSpPr txBox="1"/>
          <p:nvPr/>
        </p:nvSpPr>
        <p:spPr>
          <a:xfrm>
            <a:off x="4727448" y="2377440"/>
            <a:ext cx="2743200" cy="640080"/>
          </a:xfrm>
          <a:prstGeom prst="rect">
            <a:avLst/>
          </a:prstGeom>
          <a:noFill/>
          <a:ln/>
        </p:spPr>
        <p:txBody>
          <a:bodyPr wrap="square" lIns="0" tIns="0" rIns="0" bIns="0" rtlCol="0" anchor="t"/>
          <a:lstStyle/>
          <a:p>
            <a:pPr indent="0" marL="0">
              <a:buNone/>
            </a:pPr>
            <a:r>
              <a:rPr lang="en-US" sz="3400" b="1" dirty="0">
                <a:solidFill>
                  <a:srgbClr val="C92A2A"/>
                </a:solidFill>
                <a:latin typeface="Consolas" pitchFamily="34" charset="0"/>
                <a:ea typeface="Consolas" pitchFamily="34" charset="-122"/>
                <a:cs typeface="Consolas" pitchFamily="34" charset="-120"/>
              </a:rPr>
              <a:t>09:59</a:t>
            </a:r>
            <a:endParaRPr lang="en-US" sz="3400" dirty="0"/>
          </a:p>
        </p:txBody>
      </p:sp>
      <p:sp>
        <p:nvSpPr>
          <p:cNvPr id="30" name="Text 27"/>
          <p:cNvSpPr txBox="1"/>
          <p:nvPr/>
        </p:nvSpPr>
        <p:spPr>
          <a:xfrm>
            <a:off x="4727448" y="3108960"/>
            <a:ext cx="2743200" cy="274320"/>
          </a:xfrm>
          <a:prstGeom prst="rect">
            <a:avLst/>
          </a:prstGeom>
          <a:noFill/>
          <a:ln/>
        </p:spPr>
        <p:txBody>
          <a:bodyPr wrap="square" lIns="0" tIns="0" rIns="0" bIns="0" rtlCol="0" anchor="t"/>
          <a:lstStyle/>
          <a:p>
            <a:pPr indent="0" marL="0">
              <a:buNone/>
            </a:pPr>
            <a:r>
              <a:rPr lang="en-US" sz="1000" dirty="0">
                <a:solidFill>
                  <a:srgbClr val="C92A2A"/>
                </a:solidFill>
                <a:latin typeface="Consolas" pitchFamily="34" charset="0"/>
                <a:ea typeface="Consolas" pitchFamily="34" charset="-122"/>
                <a:cs typeface="Consolas" pitchFamily="34" charset="-120"/>
              </a:rPr>
              <a:t>↻ reload → 10:00</a:t>
            </a:r>
            <a:endParaRPr lang="en-US" sz="1000" dirty="0"/>
          </a:p>
        </p:txBody>
      </p:sp>
      <p:sp>
        <p:nvSpPr>
          <p:cNvPr id="31" name="Text 28"/>
          <p:cNvSpPr txBox="1"/>
          <p:nvPr/>
        </p:nvSpPr>
        <p:spPr>
          <a:xfrm>
            <a:off x="4544568" y="3749040"/>
            <a:ext cx="3108960" cy="54864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Checkout timer that resets on reload</a:t>
            </a:r>
            <a:endParaRPr lang="en-US" sz="1600" dirty="0"/>
          </a:p>
        </p:txBody>
      </p:sp>
      <p:sp>
        <p:nvSpPr>
          <p:cNvPr id="32" name="Text 29"/>
          <p:cNvSpPr txBox="1"/>
          <p:nvPr/>
        </p:nvSpPr>
        <p:spPr>
          <a:xfrm>
            <a:off x="4544568" y="4343400"/>
            <a:ext cx="3108960" cy="86868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A countdown creates panic, but refreshing the page restarts it. The deadline is theatre.</a:t>
            </a:r>
            <a:endParaRPr lang="en-US" sz="1150" dirty="0"/>
          </a:p>
        </p:txBody>
      </p:sp>
      <p:sp>
        <p:nvSpPr>
          <p:cNvPr id="33" name="Text 30"/>
          <p:cNvSpPr txBox="1"/>
          <p:nvPr/>
        </p:nvSpPr>
        <p:spPr>
          <a:xfrm>
            <a:off x="4544568" y="5212080"/>
            <a:ext cx="3108960" cy="457200"/>
          </a:xfrm>
          <a:prstGeom prst="rect">
            <a:avLst/>
          </a:prstGeom>
          <a:noFill/>
          <a:ln/>
        </p:spPr>
        <p:txBody>
          <a:bodyPr wrap="square" lIns="0" tIns="0" rIns="0" bIns="0" rtlCol="0" anchor="t"/>
          <a:lstStyle/>
          <a:p>
            <a:pPr indent="0" marL="0">
              <a:buNone/>
            </a:pPr>
            <a:r>
              <a:rPr lang="en-US" sz="1000" i="1" dirty="0">
                <a:solidFill>
                  <a:srgbClr val="525866"/>
                </a:solidFill>
                <a:latin typeface="Calibri" pitchFamily="34" charset="0"/>
                <a:ea typeface="Calibri" pitchFamily="34" charset="-122"/>
                <a:cs typeface="Calibri" pitchFamily="34" charset="-120"/>
              </a:rPr>
              <a:t>Evidence: client-side timer with no server-bound expiry; single frame cannot prove the reset.</a:t>
            </a:r>
            <a:endParaRPr lang="en-US" sz="1000" dirty="0"/>
          </a:p>
        </p:txBody>
      </p:sp>
      <p:sp>
        <p:nvSpPr>
          <p:cNvPr id="34" name="Shape 31"/>
          <p:cNvSpPr/>
          <p:nvPr/>
        </p:nvSpPr>
        <p:spPr>
          <a:xfrm>
            <a:off x="4544568" y="5760720"/>
            <a:ext cx="1737360" cy="256032"/>
          </a:xfrm>
          <a:prstGeom prst="roundRect">
            <a:avLst>
              <a:gd name="adj" fmla="val 21429"/>
            </a:avLst>
          </a:prstGeom>
          <a:solidFill>
            <a:srgbClr val="1C1E21"/>
          </a:solidFill>
          <a:ln w="12700">
            <a:solidFill>
              <a:srgbClr val="1C1E21"/>
            </a:solidFill>
            <a:prstDash val="solid"/>
          </a:ln>
        </p:spPr>
      </p:sp>
      <p:sp>
        <p:nvSpPr>
          <p:cNvPr id="35" name="Text 32"/>
          <p:cNvSpPr txBox="1"/>
          <p:nvPr/>
        </p:nvSpPr>
        <p:spPr>
          <a:xfrm>
            <a:off x="4544568" y="5760720"/>
            <a:ext cx="17373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FALSE URGENCY</a:t>
            </a:r>
            <a:endParaRPr lang="en-US" sz="800" dirty="0"/>
          </a:p>
        </p:txBody>
      </p:sp>
      <p:sp>
        <p:nvSpPr>
          <p:cNvPr id="36" name="Shape 33"/>
          <p:cNvSpPr/>
          <p:nvPr/>
        </p:nvSpPr>
        <p:spPr>
          <a:xfrm>
            <a:off x="8083296" y="1508760"/>
            <a:ext cx="3566160" cy="4663440"/>
          </a:xfrm>
          <a:prstGeom prst="rect">
            <a:avLst/>
          </a:prstGeom>
          <a:solidFill>
            <a:srgbClr val="F1F3F5"/>
          </a:solidFill>
          <a:ln w="9525">
            <a:solidFill>
              <a:srgbClr val="E1E4E8"/>
            </a:solidFill>
            <a:prstDash val="solid"/>
          </a:ln>
        </p:spPr>
      </p:sp>
      <p:sp>
        <p:nvSpPr>
          <p:cNvPr id="37" name="Shape 34"/>
          <p:cNvSpPr/>
          <p:nvPr/>
        </p:nvSpPr>
        <p:spPr>
          <a:xfrm>
            <a:off x="8083296" y="1508760"/>
            <a:ext cx="54864" cy="4663440"/>
          </a:xfrm>
          <a:prstGeom prst="rect">
            <a:avLst/>
          </a:prstGeom>
          <a:solidFill>
            <a:srgbClr val="D9730D"/>
          </a:solidFill>
          <a:ln w="12700">
            <a:solidFill>
              <a:srgbClr val="D9730D"/>
            </a:solidFill>
            <a:prstDash val="solid"/>
          </a:ln>
        </p:spPr>
      </p:sp>
      <p:sp>
        <p:nvSpPr>
          <p:cNvPr id="38" name="Text 35"/>
          <p:cNvSpPr txBox="1"/>
          <p:nvPr/>
        </p:nvSpPr>
        <p:spPr>
          <a:xfrm>
            <a:off x="8311896" y="1673352"/>
            <a:ext cx="182880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EXHIBIT C</a:t>
            </a:r>
            <a:endParaRPr lang="en-US" sz="900" dirty="0"/>
          </a:p>
        </p:txBody>
      </p:sp>
      <p:sp>
        <p:nvSpPr>
          <p:cNvPr id="39" name="Shape 36"/>
          <p:cNvSpPr/>
          <p:nvPr/>
        </p:nvSpPr>
        <p:spPr>
          <a:xfrm>
            <a:off x="10689336" y="1636776"/>
            <a:ext cx="777240" cy="256032"/>
          </a:xfrm>
          <a:prstGeom prst="roundRect">
            <a:avLst>
              <a:gd name="adj" fmla="val 21429"/>
            </a:avLst>
          </a:prstGeom>
          <a:solidFill>
            <a:srgbClr val="D9730D"/>
          </a:solidFill>
          <a:ln w="12700">
            <a:solidFill>
              <a:srgbClr val="D9730D"/>
            </a:solidFill>
            <a:prstDash val="solid"/>
          </a:ln>
        </p:spPr>
      </p:sp>
      <p:sp>
        <p:nvSpPr>
          <p:cNvPr id="40" name="Text 37"/>
          <p:cNvSpPr txBox="1"/>
          <p:nvPr/>
        </p:nvSpPr>
        <p:spPr>
          <a:xfrm>
            <a:off x="10689336" y="1636776"/>
            <a:ext cx="77724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MEDIUM</a:t>
            </a:r>
            <a:endParaRPr lang="en-US" sz="800" dirty="0"/>
          </a:p>
        </p:txBody>
      </p:sp>
      <p:sp>
        <p:nvSpPr>
          <p:cNvPr id="41" name="Shape 38"/>
          <p:cNvSpPr/>
          <p:nvPr/>
        </p:nvSpPr>
        <p:spPr>
          <a:xfrm>
            <a:off x="8311896" y="1965960"/>
            <a:ext cx="3108960" cy="1600200"/>
          </a:xfrm>
          <a:prstGeom prst="rect">
            <a:avLst/>
          </a:prstGeom>
          <a:solidFill>
            <a:srgbClr val="FFFFFF"/>
          </a:solidFill>
          <a:ln w="9525">
            <a:solidFill>
              <a:srgbClr val="E1E4E8"/>
            </a:solidFill>
            <a:prstDash val="solid"/>
          </a:ln>
        </p:spPr>
      </p:sp>
      <p:sp>
        <p:nvSpPr>
          <p:cNvPr id="42" name="Shape 39"/>
          <p:cNvSpPr/>
          <p:nvPr/>
        </p:nvSpPr>
        <p:spPr>
          <a:xfrm>
            <a:off x="8494776" y="2240280"/>
            <a:ext cx="2743200" cy="457200"/>
          </a:xfrm>
          <a:prstGeom prst="rect">
            <a:avLst/>
          </a:prstGeom>
          <a:solidFill>
            <a:srgbClr val="2B8A3E"/>
          </a:solidFill>
          <a:ln w="12700">
            <a:solidFill>
              <a:srgbClr val="2B8A3E"/>
            </a:solidFill>
            <a:prstDash val="solid"/>
          </a:ln>
        </p:spPr>
      </p:sp>
      <p:sp>
        <p:nvSpPr>
          <p:cNvPr id="43" name="Text 40"/>
          <p:cNvSpPr txBox="1"/>
          <p:nvPr/>
        </p:nvSpPr>
        <p:spPr>
          <a:xfrm>
            <a:off x="8494776" y="2240280"/>
            <a:ext cx="2743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Yes, keep my 20% discount!</a:t>
            </a:r>
            <a:endParaRPr lang="en-US" sz="1200" dirty="0"/>
          </a:p>
        </p:txBody>
      </p:sp>
      <p:sp>
        <p:nvSpPr>
          <p:cNvPr id="44" name="Text 41"/>
          <p:cNvSpPr txBox="1"/>
          <p:nvPr/>
        </p:nvSpPr>
        <p:spPr>
          <a:xfrm>
            <a:off x="8494776" y="2926080"/>
            <a:ext cx="2743200" cy="274320"/>
          </a:xfrm>
          <a:prstGeom prst="rect">
            <a:avLst/>
          </a:prstGeom>
          <a:noFill/>
          <a:ln/>
        </p:spPr>
        <p:txBody>
          <a:bodyPr wrap="square" lIns="0" tIns="0" rIns="0" bIns="0" rtlCol="0" anchor="t"/>
          <a:lstStyle/>
          <a:p>
            <a:pPr algn="ctr" indent="0" marL="0">
              <a:buNone/>
            </a:pPr>
            <a:r>
              <a:rPr lang="en-US" sz="900" u="sng" dirty="0">
                <a:solidFill>
                  <a:srgbClr val="A0A6B2"/>
                </a:solidFill>
                <a:latin typeface="Calibri" pitchFamily="34" charset="0"/>
                <a:ea typeface="Calibri" pitchFamily="34" charset="-122"/>
                <a:cs typeface="Calibri" pitchFamily="34" charset="-120"/>
              </a:rPr>
              <a:t>No, I prefer paying full price</a:t>
            </a:r>
            <a:endParaRPr lang="en-US" sz="900" dirty="0"/>
          </a:p>
        </p:txBody>
      </p:sp>
      <p:sp>
        <p:nvSpPr>
          <p:cNvPr id="45" name="Text 42"/>
          <p:cNvSpPr txBox="1"/>
          <p:nvPr/>
        </p:nvSpPr>
        <p:spPr>
          <a:xfrm>
            <a:off x="8311896" y="3749040"/>
            <a:ext cx="3108960" cy="54864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Shaming the unsubscribe click</a:t>
            </a:r>
            <a:endParaRPr lang="en-US" sz="1600" dirty="0"/>
          </a:p>
        </p:txBody>
      </p:sp>
      <p:sp>
        <p:nvSpPr>
          <p:cNvPr id="46" name="Text 43"/>
          <p:cNvSpPr txBox="1"/>
          <p:nvPr/>
        </p:nvSpPr>
        <p:spPr>
          <a:xfrm>
            <a:off x="8311896" y="4343400"/>
            <a:ext cx="3108960" cy="86868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The decline option is phrased to make leaving feel foolish, while accept is a bold green button.</a:t>
            </a:r>
            <a:endParaRPr lang="en-US" sz="1150" dirty="0"/>
          </a:p>
        </p:txBody>
      </p:sp>
      <p:sp>
        <p:nvSpPr>
          <p:cNvPr id="47" name="Text 44"/>
          <p:cNvSpPr txBox="1"/>
          <p:nvPr/>
        </p:nvSpPr>
        <p:spPr>
          <a:xfrm>
            <a:off x="8311896" y="5212080"/>
            <a:ext cx="3108960" cy="457200"/>
          </a:xfrm>
          <a:prstGeom prst="rect">
            <a:avLst/>
          </a:prstGeom>
          <a:noFill/>
          <a:ln/>
        </p:spPr>
        <p:txBody>
          <a:bodyPr wrap="square" lIns="0" tIns="0" rIns="0" bIns="0" rtlCol="0" anchor="t"/>
          <a:lstStyle/>
          <a:p>
            <a:pPr indent="0" marL="0">
              <a:buNone/>
            </a:pPr>
            <a:r>
              <a:rPr lang="en-US" sz="1000" i="1" dirty="0">
                <a:solidFill>
                  <a:srgbClr val="525866"/>
                </a:solidFill>
                <a:latin typeface="Calibri" pitchFamily="34" charset="0"/>
                <a:ea typeface="Calibri" pitchFamily="34" charset="-122"/>
                <a:cs typeface="Calibri" pitchFamily="34" charset="-120"/>
              </a:rPr>
              <a:t>Evidence: asymmetric button weight and guilt-laden copy.</a:t>
            </a:r>
            <a:endParaRPr lang="en-US" sz="1000" dirty="0"/>
          </a:p>
        </p:txBody>
      </p:sp>
      <p:sp>
        <p:nvSpPr>
          <p:cNvPr id="48" name="Shape 45"/>
          <p:cNvSpPr/>
          <p:nvPr/>
        </p:nvSpPr>
        <p:spPr>
          <a:xfrm>
            <a:off x="8311896" y="5760720"/>
            <a:ext cx="1737360" cy="256032"/>
          </a:xfrm>
          <a:prstGeom prst="roundRect">
            <a:avLst>
              <a:gd name="adj" fmla="val 21429"/>
            </a:avLst>
          </a:prstGeom>
          <a:solidFill>
            <a:srgbClr val="1C1E21"/>
          </a:solidFill>
          <a:ln w="12700">
            <a:solidFill>
              <a:srgbClr val="1C1E21"/>
            </a:solidFill>
            <a:prstDash val="solid"/>
          </a:ln>
        </p:spPr>
      </p:sp>
      <p:sp>
        <p:nvSpPr>
          <p:cNvPr id="49" name="Text 46"/>
          <p:cNvSpPr txBox="1"/>
          <p:nvPr/>
        </p:nvSpPr>
        <p:spPr>
          <a:xfrm>
            <a:off x="8311896" y="5760720"/>
            <a:ext cx="17373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CONFIRM SHAMING</a:t>
            </a:r>
            <a:endParaRPr lang="en-US" sz="8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E8590C"/>
                </a:solidFill>
                <a:latin typeface="Calibri" pitchFamily="34" charset="0"/>
                <a:ea typeface="Calibri" pitchFamily="34" charset="-122"/>
                <a:cs typeface="Calibri" pitchFamily="34" charset="-120"/>
              </a:rPr>
              <a:t>SECTION I · THE INCENTIVE TRAP</a:t>
            </a:r>
            <a:endParaRPr lang="en-US" sz="1000" dirty="0"/>
          </a:p>
        </p:txBody>
      </p:sp>
      <p:sp>
        <p:nvSpPr>
          <p:cNvPr id="3" name="Text 1"/>
          <p:cNvSpPr/>
          <p:nvPr>
            <p:ph idx="101"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FFFFFF"/>
                </a:solidFill>
                <a:latin typeface="Georgia" pitchFamily="34" charset="0"/>
                <a:ea typeface="Georgia" pitchFamily="34" charset="-122"/>
                <a:cs typeface="Georgia" pitchFamily="34" charset="-120"/>
              </a:rPr>
              <a:t>The Enforcement Paradox</a:t>
            </a:r>
            <a:endParaRPr lang="en-US" sz="2600" dirty="0"/>
          </a:p>
        </p:txBody>
      </p:sp>
      <p:sp>
        <p:nvSpPr>
          <p:cNvPr id="5" name="Text 2"/>
          <p:cNvSpPr txBox="1"/>
          <p:nvPr/>
        </p:nvSpPr>
        <p:spPr>
          <a:xfrm>
            <a:off x="548640" y="1600200"/>
            <a:ext cx="5120640" cy="2011680"/>
          </a:xfrm>
          <a:prstGeom prst="rect">
            <a:avLst/>
          </a:prstGeom>
          <a:noFill/>
          <a:ln/>
        </p:spPr>
        <p:txBody>
          <a:bodyPr wrap="square" lIns="0" tIns="0" rIns="0" bIns="0" rtlCol="0" anchor="t"/>
          <a:lstStyle/>
          <a:p>
            <a:pPr indent="0" marL="0">
              <a:lnSpc>
                <a:spcPts val="3400"/>
              </a:lnSpc>
              <a:buNone/>
            </a:pPr>
            <a:r>
              <a:rPr lang="en-US" sz="2400" i="1" dirty="0">
                <a:solidFill>
                  <a:srgbClr val="FFFFFF"/>
                </a:solidFill>
                <a:latin typeface="Georgia" pitchFamily="34" charset="0"/>
                <a:ea typeface="Georgia" pitchFamily="34" charset="-122"/>
                <a:cs typeface="Georgia" pitchFamily="34" charset="-120"/>
              </a:rPr>
              <a:t>Regulation moves at the speed of gazettes.</a:t>
            </a:r>
            <a:endParaRPr lang="en-US" sz="2400" dirty="0"/>
          </a:p>
          <a:p>
            <a:pPr indent="0" marL="0">
              <a:lnSpc>
                <a:spcPts val="3400"/>
              </a:lnSpc>
              <a:buNone/>
            </a:pPr>
            <a:r>
              <a:rPr lang="en-US" sz="2400" i="1" dirty="0">
                <a:solidFill>
                  <a:srgbClr val="FFFFFF"/>
                </a:solidFill>
                <a:latin typeface="Georgia" pitchFamily="34" charset="0"/>
                <a:ea typeface="Georgia" pitchFamily="34" charset="-122"/>
                <a:cs typeface="Georgia" pitchFamily="34" charset="-120"/>
              </a:rPr>
              <a:t>Interfaces move at the speed of deploys.</a:t>
            </a:r>
            <a:endParaRPr lang="en-US" sz="2400" dirty="0"/>
          </a:p>
        </p:txBody>
      </p:sp>
      <p:sp>
        <p:nvSpPr>
          <p:cNvPr id="6" name="Text 3"/>
          <p:cNvSpPr txBox="1"/>
          <p:nvPr/>
        </p:nvSpPr>
        <p:spPr>
          <a:xfrm>
            <a:off x="548640" y="3931920"/>
            <a:ext cx="4754880" cy="1097280"/>
          </a:xfrm>
          <a:prstGeom prst="rect">
            <a:avLst/>
          </a:prstGeom>
          <a:noFill/>
          <a:ln/>
        </p:spPr>
        <p:txBody>
          <a:bodyPr wrap="square" lIns="0" tIns="0" rIns="0" bIns="0" rtlCol="0" anchor="t"/>
          <a:lstStyle/>
          <a:p>
            <a:pPr indent="0" marL="0">
              <a:buNone/>
            </a:pPr>
            <a:r>
              <a:rPr lang="en-US" sz="1400" dirty="0">
                <a:solidFill>
                  <a:srgbClr val="9AA1AE"/>
                </a:solidFill>
                <a:latin typeface="Calibri" pitchFamily="34" charset="0"/>
                <a:ea typeface="Calibri" pitchFamily="34" charset="-122"/>
                <a:cs typeface="Calibri" pitchFamily="34" charset="-120"/>
              </a:rPr>
              <a:t>Every A/B test that quietly rewards a manipulative variant is an incentive: growth metrics pay for deception long before an inspector sees it.</a:t>
            </a:r>
            <a:endParaRPr lang="en-US" sz="1400" dirty="0"/>
          </a:p>
        </p:txBody>
      </p:sp>
      <p:sp>
        <p:nvSpPr>
          <p:cNvPr id="7" name="Shape 4"/>
          <p:cNvSpPr/>
          <p:nvPr/>
        </p:nvSpPr>
        <p:spPr>
          <a:xfrm>
            <a:off x="6309360" y="1600200"/>
            <a:ext cx="5330952" cy="1371600"/>
          </a:xfrm>
          <a:prstGeom prst="rect">
            <a:avLst/>
          </a:prstGeom>
          <a:solidFill>
            <a:srgbClr val="181B21"/>
          </a:solidFill>
          <a:ln w="9525">
            <a:solidFill>
              <a:srgbClr val="2A2F38"/>
            </a:solidFill>
            <a:prstDash val="solid"/>
          </a:ln>
        </p:spPr>
      </p:sp>
      <p:sp>
        <p:nvSpPr>
          <p:cNvPr id="8" name="Shape 5"/>
          <p:cNvSpPr/>
          <p:nvPr/>
        </p:nvSpPr>
        <p:spPr>
          <a:xfrm>
            <a:off x="6309360" y="1600200"/>
            <a:ext cx="54864" cy="1371600"/>
          </a:xfrm>
          <a:prstGeom prst="rect">
            <a:avLst/>
          </a:prstGeom>
          <a:solidFill>
            <a:srgbClr val="C92A2A"/>
          </a:solidFill>
          <a:ln w="12700">
            <a:solidFill>
              <a:srgbClr val="C92A2A"/>
            </a:solidFill>
            <a:prstDash val="solid"/>
          </a:ln>
        </p:spPr>
      </p:sp>
      <p:sp>
        <p:nvSpPr>
          <p:cNvPr id="9" name="Text 6"/>
          <p:cNvSpPr txBox="1"/>
          <p:nvPr/>
        </p:nvSpPr>
        <p:spPr>
          <a:xfrm>
            <a:off x="6537960" y="1783080"/>
            <a:ext cx="731520" cy="54864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01</a:t>
            </a:r>
            <a:endParaRPr lang="en-US" sz="2800" dirty="0"/>
          </a:p>
        </p:txBody>
      </p:sp>
      <p:sp>
        <p:nvSpPr>
          <p:cNvPr id="10" name="Text 7"/>
          <p:cNvSpPr txBox="1"/>
          <p:nvPr/>
        </p:nvSpPr>
        <p:spPr>
          <a:xfrm>
            <a:off x="7315200" y="1783080"/>
            <a:ext cx="4114800" cy="22860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SCALE GAP</a:t>
            </a:r>
            <a:endParaRPr lang="en-US" sz="1000" dirty="0"/>
          </a:p>
        </p:txBody>
      </p:sp>
      <p:sp>
        <p:nvSpPr>
          <p:cNvPr id="11" name="Text 8"/>
          <p:cNvSpPr txBox="1"/>
          <p:nvPr/>
        </p:nvSpPr>
        <p:spPr>
          <a:xfrm>
            <a:off x="7315200" y="2057400"/>
            <a:ext cx="4114800" cy="86868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Manual review is linear in pages; deployments are exponential. A human cannot audit continuously changing checkout flows.</a:t>
            </a:r>
            <a:endParaRPr lang="en-US" sz="1150" dirty="0"/>
          </a:p>
        </p:txBody>
      </p:sp>
      <p:sp>
        <p:nvSpPr>
          <p:cNvPr id="12" name="Shape 9"/>
          <p:cNvSpPr/>
          <p:nvPr/>
        </p:nvSpPr>
        <p:spPr>
          <a:xfrm>
            <a:off x="6309360" y="3154680"/>
            <a:ext cx="5330952" cy="1371600"/>
          </a:xfrm>
          <a:prstGeom prst="rect">
            <a:avLst/>
          </a:prstGeom>
          <a:solidFill>
            <a:srgbClr val="181B21"/>
          </a:solidFill>
          <a:ln w="9525">
            <a:solidFill>
              <a:srgbClr val="2A2F38"/>
            </a:solidFill>
            <a:prstDash val="solid"/>
          </a:ln>
        </p:spPr>
      </p:sp>
      <p:sp>
        <p:nvSpPr>
          <p:cNvPr id="13" name="Shape 10"/>
          <p:cNvSpPr/>
          <p:nvPr/>
        </p:nvSpPr>
        <p:spPr>
          <a:xfrm>
            <a:off x="6309360" y="3154680"/>
            <a:ext cx="54864" cy="1371600"/>
          </a:xfrm>
          <a:prstGeom prst="rect">
            <a:avLst/>
          </a:prstGeom>
          <a:solidFill>
            <a:srgbClr val="C92A2A"/>
          </a:solidFill>
          <a:ln w="12700">
            <a:solidFill>
              <a:srgbClr val="C92A2A"/>
            </a:solidFill>
            <a:prstDash val="solid"/>
          </a:ln>
        </p:spPr>
      </p:sp>
      <p:sp>
        <p:nvSpPr>
          <p:cNvPr id="14" name="Text 11"/>
          <p:cNvSpPr txBox="1"/>
          <p:nvPr/>
        </p:nvSpPr>
        <p:spPr>
          <a:xfrm>
            <a:off x="6537960" y="3337560"/>
            <a:ext cx="731520" cy="54864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02</a:t>
            </a:r>
            <a:endParaRPr lang="en-US" sz="2800" dirty="0"/>
          </a:p>
        </p:txBody>
      </p:sp>
      <p:sp>
        <p:nvSpPr>
          <p:cNvPr id="15" name="Text 12"/>
          <p:cNvSpPr txBox="1"/>
          <p:nvPr/>
        </p:nvSpPr>
        <p:spPr>
          <a:xfrm>
            <a:off x="7315200" y="3337560"/>
            <a:ext cx="4114800" cy="22860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LANGUAGE GAP</a:t>
            </a:r>
            <a:endParaRPr lang="en-US" sz="1000" dirty="0"/>
          </a:p>
        </p:txBody>
      </p:sp>
      <p:sp>
        <p:nvSpPr>
          <p:cNvPr id="16" name="Text 13"/>
          <p:cNvSpPr txBox="1"/>
          <p:nvPr/>
        </p:nvSpPr>
        <p:spPr>
          <a:xfrm>
            <a:off x="7315200" y="3611880"/>
            <a:ext cx="4114800" cy="86868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The statute describes behaviour in prose ("creating a false sense of urgency"). Runtime executes pixels, timers and DOM state. Nothing translates between them.</a:t>
            </a:r>
            <a:endParaRPr lang="en-US" sz="1150" dirty="0"/>
          </a:p>
        </p:txBody>
      </p:sp>
      <p:sp>
        <p:nvSpPr>
          <p:cNvPr id="17" name="Shape 14"/>
          <p:cNvSpPr/>
          <p:nvPr/>
        </p:nvSpPr>
        <p:spPr>
          <a:xfrm>
            <a:off x="6309360" y="4709160"/>
            <a:ext cx="5330952" cy="1371600"/>
          </a:xfrm>
          <a:prstGeom prst="rect">
            <a:avLst/>
          </a:prstGeom>
          <a:solidFill>
            <a:srgbClr val="181B21"/>
          </a:solidFill>
          <a:ln w="9525">
            <a:solidFill>
              <a:srgbClr val="2A2F38"/>
            </a:solidFill>
            <a:prstDash val="solid"/>
          </a:ln>
        </p:spPr>
      </p:sp>
      <p:sp>
        <p:nvSpPr>
          <p:cNvPr id="18" name="Shape 15"/>
          <p:cNvSpPr/>
          <p:nvPr/>
        </p:nvSpPr>
        <p:spPr>
          <a:xfrm>
            <a:off x="6309360" y="4709160"/>
            <a:ext cx="54864" cy="1371600"/>
          </a:xfrm>
          <a:prstGeom prst="rect">
            <a:avLst/>
          </a:prstGeom>
          <a:solidFill>
            <a:srgbClr val="C92A2A"/>
          </a:solidFill>
          <a:ln w="12700">
            <a:solidFill>
              <a:srgbClr val="C92A2A"/>
            </a:solidFill>
            <a:prstDash val="solid"/>
          </a:ln>
        </p:spPr>
      </p:sp>
      <p:sp>
        <p:nvSpPr>
          <p:cNvPr id="19" name="Text 16"/>
          <p:cNvSpPr txBox="1"/>
          <p:nvPr/>
        </p:nvSpPr>
        <p:spPr>
          <a:xfrm>
            <a:off x="6537960" y="4892040"/>
            <a:ext cx="731520" cy="54864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03</a:t>
            </a:r>
            <a:endParaRPr lang="en-US" sz="2800" dirty="0"/>
          </a:p>
        </p:txBody>
      </p:sp>
      <p:sp>
        <p:nvSpPr>
          <p:cNvPr id="20" name="Text 17"/>
          <p:cNvSpPr txBox="1"/>
          <p:nvPr/>
        </p:nvSpPr>
        <p:spPr>
          <a:xfrm>
            <a:off x="7315200" y="4892040"/>
            <a:ext cx="4114800" cy="22860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EVIDENCE GAP</a:t>
            </a:r>
            <a:endParaRPr lang="en-US" sz="1000" dirty="0"/>
          </a:p>
        </p:txBody>
      </p:sp>
      <p:sp>
        <p:nvSpPr>
          <p:cNvPr id="21" name="Text 18"/>
          <p:cNvSpPr txBox="1"/>
          <p:nvPr/>
        </p:nvSpPr>
        <p:spPr>
          <a:xfrm>
            <a:off x="7315200" y="5166360"/>
            <a:ext cx="4114800" cy="86868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A manipulative variant can be served to a cohort, then disappear. Without captured artefacts, there is nothing to cite.</a:t>
            </a:r>
            <a:endParaRPr lang="en-US" sz="11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9AA1A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 · ARCHITECTURAL JUSTIFICATION</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Deception Lives in the Pixels, Not the Markup</a:t>
            </a:r>
            <a:endParaRPr lang="en-US" sz="2600" dirty="0"/>
          </a:p>
        </p:txBody>
      </p:sp>
      <p:sp>
        <p:nvSpPr>
          <p:cNvPr id="5" name="Shape 2"/>
          <p:cNvSpPr/>
          <p:nvPr/>
        </p:nvSpPr>
        <p:spPr>
          <a:xfrm>
            <a:off x="548640" y="1508760"/>
            <a:ext cx="5376672" cy="457200"/>
          </a:xfrm>
          <a:prstGeom prst="rect">
            <a:avLst/>
          </a:prstGeom>
          <a:solidFill>
            <a:srgbClr val="1C1E21"/>
          </a:solidFill>
          <a:ln w="9525">
            <a:solidFill>
              <a:srgbClr val="1C1E21"/>
            </a:solidFill>
            <a:prstDash val="solid"/>
          </a:ln>
        </p:spPr>
      </p:sp>
      <p:sp>
        <p:nvSpPr>
          <p:cNvPr id="6" name="Text 3"/>
          <p:cNvSpPr txBox="1"/>
          <p:nvPr/>
        </p:nvSpPr>
        <p:spPr>
          <a:xfrm>
            <a:off x="777240" y="1508760"/>
            <a:ext cx="4919472" cy="4572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DOM SCRAPER SEES</a:t>
            </a:r>
            <a:endParaRPr lang="en-US" sz="1100" dirty="0"/>
          </a:p>
        </p:txBody>
      </p:sp>
      <p:sp>
        <p:nvSpPr>
          <p:cNvPr id="7" name="Shape 4"/>
          <p:cNvSpPr/>
          <p:nvPr/>
        </p:nvSpPr>
        <p:spPr>
          <a:xfrm>
            <a:off x="6263640" y="1508760"/>
            <a:ext cx="5376672" cy="457200"/>
          </a:xfrm>
          <a:prstGeom prst="rect">
            <a:avLst/>
          </a:prstGeom>
          <a:solidFill>
            <a:srgbClr val="C92A2A"/>
          </a:solidFill>
          <a:ln w="9525">
            <a:solidFill>
              <a:srgbClr val="C92A2A"/>
            </a:solidFill>
            <a:prstDash val="solid"/>
          </a:ln>
        </p:spPr>
      </p:sp>
      <p:sp>
        <p:nvSpPr>
          <p:cNvPr id="8" name="Text 5"/>
          <p:cNvSpPr txBox="1"/>
          <p:nvPr/>
        </p:nvSpPr>
        <p:spPr>
          <a:xfrm>
            <a:off x="6492240" y="1508760"/>
            <a:ext cx="4919472" cy="4572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VISION-LANGUAGE MODEL SEES</a:t>
            </a:r>
            <a:endParaRPr lang="en-US" sz="1100" dirty="0"/>
          </a:p>
        </p:txBody>
      </p:sp>
      <p:sp>
        <p:nvSpPr>
          <p:cNvPr id="9" name="Shape 6"/>
          <p:cNvSpPr/>
          <p:nvPr/>
        </p:nvSpPr>
        <p:spPr>
          <a:xfrm>
            <a:off x="548640" y="2103120"/>
            <a:ext cx="5376672" cy="868680"/>
          </a:xfrm>
          <a:prstGeom prst="rect">
            <a:avLst/>
          </a:prstGeom>
          <a:solidFill>
            <a:srgbClr val="F1F3F5"/>
          </a:solidFill>
          <a:ln w="9525">
            <a:solidFill>
              <a:srgbClr val="E1E4E8"/>
            </a:solidFill>
            <a:prstDash val="solid"/>
          </a:ln>
        </p:spPr>
      </p:sp>
      <p:sp>
        <p:nvSpPr>
          <p:cNvPr id="10" name="Shape 7"/>
          <p:cNvSpPr/>
          <p:nvPr/>
        </p:nvSpPr>
        <p:spPr>
          <a:xfrm>
            <a:off x="6263640" y="2103120"/>
            <a:ext cx="5376672" cy="868680"/>
          </a:xfrm>
          <a:prstGeom prst="rect">
            <a:avLst/>
          </a:prstGeom>
          <a:solidFill>
            <a:srgbClr val="F1F3F5"/>
          </a:solidFill>
          <a:ln w="9525">
            <a:solidFill>
              <a:srgbClr val="E1E4E8"/>
            </a:solidFill>
            <a:prstDash val="solid"/>
          </a:ln>
        </p:spPr>
      </p:sp>
      <p:sp>
        <p:nvSpPr>
          <p:cNvPr id="11" name="Shape 8"/>
          <p:cNvSpPr/>
          <p:nvPr/>
        </p:nvSpPr>
        <p:spPr>
          <a:xfrm>
            <a:off x="6263640" y="2103120"/>
            <a:ext cx="54864" cy="868680"/>
          </a:xfrm>
          <a:prstGeom prst="rect">
            <a:avLst/>
          </a:prstGeom>
          <a:solidFill>
            <a:srgbClr val="C92A2A"/>
          </a:solidFill>
          <a:ln w="12700">
            <a:solidFill>
              <a:srgbClr val="C92A2A"/>
            </a:solidFill>
            <a:prstDash val="solid"/>
          </a:ln>
        </p:spPr>
      </p:sp>
      <p:sp>
        <p:nvSpPr>
          <p:cNvPr id="12" name="Text 9"/>
          <p:cNvSpPr txBox="1"/>
          <p:nvPr/>
        </p:nvSpPr>
        <p:spPr>
          <a:xfrm>
            <a:off x="777240" y="2194560"/>
            <a:ext cx="2743200" cy="182880"/>
          </a:xfrm>
          <a:prstGeom prst="rect">
            <a:avLst/>
          </a:prstGeom>
          <a:noFill/>
          <a:ln/>
        </p:spPr>
        <p:txBody>
          <a:bodyPr wrap="square" lIns="0" tIns="0" rIns="0" bIns="0" rtlCol="0" anchor="t"/>
          <a:lstStyle/>
          <a:p>
            <a:pPr indent="0" marL="0">
              <a:buNone/>
            </a:pPr>
            <a:r>
              <a:rPr lang="en-US" sz="850" b="1" spc="150" kern="0" dirty="0">
                <a:solidFill>
                  <a:srgbClr val="1C1E21"/>
                </a:solidFill>
                <a:latin typeface="Calibri" pitchFamily="34" charset="0"/>
                <a:ea typeface="Calibri" pitchFamily="34" charset="-122"/>
                <a:cs typeface="Calibri" pitchFamily="34" charset="-120"/>
              </a:rPr>
              <a:t>SPATIAL JUXTAPOSITION</a:t>
            </a:r>
            <a:endParaRPr lang="en-US" sz="850" dirty="0"/>
          </a:p>
        </p:txBody>
      </p:sp>
      <p:sp>
        <p:nvSpPr>
          <p:cNvPr id="13" name="Text 10"/>
          <p:cNvSpPr txBox="1"/>
          <p:nvPr/>
        </p:nvSpPr>
        <p:spPr>
          <a:xfrm>
            <a:off x="777240" y="2450592"/>
            <a:ext cx="4919472" cy="457200"/>
          </a:xfrm>
          <a:prstGeom prst="rect">
            <a:avLst/>
          </a:prstGeom>
          <a:noFill/>
          <a:ln/>
        </p:spPr>
        <p:txBody>
          <a:bodyPr wrap="square" lIns="0" tIns="0" rIns="0" bIns="0" rtlCol="0" anchor="t"/>
          <a:lstStyle/>
          <a:p>
            <a:pPr indent="0" marL="0">
              <a:buNone/>
            </a:pPr>
            <a:r>
              <a:rPr lang="en-US" sz="1150" dirty="0">
                <a:solidFill>
                  <a:srgbClr val="525866"/>
                </a:solidFill>
                <a:latin typeface="Consolas" pitchFamily="34" charset="0"/>
                <a:ea typeface="Consolas" pitchFamily="34" charset="-122"/>
                <a:cs typeface="Consolas" pitchFamily="34" charset="-120"/>
              </a:rPr>
              <a:t>Two &lt;button&gt; nodes. Order in source.</a:t>
            </a:r>
            <a:endParaRPr lang="en-US" sz="1150" dirty="0"/>
          </a:p>
        </p:txBody>
      </p:sp>
      <p:sp>
        <p:nvSpPr>
          <p:cNvPr id="14" name="Text 11"/>
          <p:cNvSpPr txBox="1"/>
          <p:nvPr/>
        </p:nvSpPr>
        <p:spPr>
          <a:xfrm>
            <a:off x="6492240" y="2286000"/>
            <a:ext cx="4919472" cy="594360"/>
          </a:xfrm>
          <a:prstGeom prst="rect">
            <a:avLst/>
          </a:prstGeom>
          <a:noFill/>
          <a:ln/>
        </p:spPr>
        <p:txBody>
          <a:bodyPr wrap="square" lIns="0" tIns="0" rIns="0" bIns="0" rtlCol="0" anchor="ctr"/>
          <a:lstStyle/>
          <a:p>
            <a:pPr indent="0" marL="0">
              <a:buNone/>
            </a:pPr>
            <a:r>
              <a:rPr lang="en-US" sz="1200" dirty="0">
                <a:solidFill>
                  <a:srgbClr val="1C1E21"/>
                </a:solidFill>
                <a:latin typeface="Calibri" pitchFamily="34" charset="0"/>
                <a:ea typeface="Calibri" pitchFamily="34" charset="-122"/>
                <a:cs typeface="Calibri" pitchFamily="34" charset="-120"/>
              </a:rPr>
              <a:t>A bright primary button visually dwarfing a tiny, distant decline link.</a:t>
            </a:r>
            <a:endParaRPr lang="en-US" sz="1200" dirty="0"/>
          </a:p>
        </p:txBody>
      </p:sp>
      <p:sp>
        <p:nvSpPr>
          <p:cNvPr id="15" name="Shape 12"/>
          <p:cNvSpPr/>
          <p:nvPr/>
        </p:nvSpPr>
        <p:spPr>
          <a:xfrm>
            <a:off x="548640" y="3090672"/>
            <a:ext cx="5376672" cy="868680"/>
          </a:xfrm>
          <a:prstGeom prst="rect">
            <a:avLst/>
          </a:prstGeom>
          <a:solidFill>
            <a:srgbClr val="F1F3F5"/>
          </a:solidFill>
          <a:ln w="9525">
            <a:solidFill>
              <a:srgbClr val="E1E4E8"/>
            </a:solidFill>
            <a:prstDash val="solid"/>
          </a:ln>
        </p:spPr>
      </p:sp>
      <p:sp>
        <p:nvSpPr>
          <p:cNvPr id="16" name="Shape 13"/>
          <p:cNvSpPr/>
          <p:nvPr/>
        </p:nvSpPr>
        <p:spPr>
          <a:xfrm>
            <a:off x="6263640" y="3090672"/>
            <a:ext cx="5376672" cy="868680"/>
          </a:xfrm>
          <a:prstGeom prst="rect">
            <a:avLst/>
          </a:prstGeom>
          <a:solidFill>
            <a:srgbClr val="F1F3F5"/>
          </a:solidFill>
          <a:ln w="9525">
            <a:solidFill>
              <a:srgbClr val="E1E4E8"/>
            </a:solidFill>
            <a:prstDash val="solid"/>
          </a:ln>
        </p:spPr>
      </p:sp>
      <p:sp>
        <p:nvSpPr>
          <p:cNvPr id="17" name="Shape 14"/>
          <p:cNvSpPr/>
          <p:nvPr/>
        </p:nvSpPr>
        <p:spPr>
          <a:xfrm>
            <a:off x="6263640" y="3090672"/>
            <a:ext cx="54864" cy="868680"/>
          </a:xfrm>
          <a:prstGeom prst="rect">
            <a:avLst/>
          </a:prstGeom>
          <a:solidFill>
            <a:srgbClr val="C92A2A"/>
          </a:solidFill>
          <a:ln w="12700">
            <a:solidFill>
              <a:srgbClr val="C92A2A"/>
            </a:solidFill>
            <a:prstDash val="solid"/>
          </a:ln>
        </p:spPr>
      </p:sp>
      <p:sp>
        <p:nvSpPr>
          <p:cNvPr id="18" name="Text 15"/>
          <p:cNvSpPr txBox="1"/>
          <p:nvPr/>
        </p:nvSpPr>
        <p:spPr>
          <a:xfrm>
            <a:off x="777240" y="3182112"/>
            <a:ext cx="2743200" cy="182880"/>
          </a:xfrm>
          <a:prstGeom prst="rect">
            <a:avLst/>
          </a:prstGeom>
          <a:noFill/>
          <a:ln/>
        </p:spPr>
        <p:txBody>
          <a:bodyPr wrap="square" lIns="0" tIns="0" rIns="0" bIns="0" rtlCol="0" anchor="t"/>
          <a:lstStyle/>
          <a:p>
            <a:pPr indent="0" marL="0">
              <a:buNone/>
            </a:pPr>
            <a:r>
              <a:rPr lang="en-US" sz="850" b="1" spc="150" kern="0" dirty="0">
                <a:solidFill>
                  <a:srgbClr val="1C1E21"/>
                </a:solidFill>
                <a:latin typeface="Calibri" pitchFamily="34" charset="0"/>
                <a:ea typeface="Calibri" pitchFamily="34" charset="-122"/>
                <a:cs typeface="Calibri" pitchFamily="34" charset="-120"/>
              </a:rPr>
              <a:t>CONTRAST RATIO</a:t>
            </a:r>
            <a:endParaRPr lang="en-US" sz="850" dirty="0"/>
          </a:p>
        </p:txBody>
      </p:sp>
      <p:sp>
        <p:nvSpPr>
          <p:cNvPr id="19" name="Text 16"/>
          <p:cNvSpPr txBox="1"/>
          <p:nvPr/>
        </p:nvSpPr>
        <p:spPr>
          <a:xfrm>
            <a:off x="777240" y="3438144"/>
            <a:ext cx="4919472" cy="457200"/>
          </a:xfrm>
          <a:prstGeom prst="rect">
            <a:avLst/>
          </a:prstGeom>
          <a:noFill/>
          <a:ln/>
        </p:spPr>
        <p:txBody>
          <a:bodyPr wrap="square" lIns="0" tIns="0" rIns="0" bIns="0" rtlCol="0" anchor="t"/>
          <a:lstStyle/>
          <a:p>
            <a:pPr indent="0" marL="0">
              <a:buNone/>
            </a:pPr>
            <a:r>
              <a:rPr lang="en-US" sz="1150" dirty="0">
                <a:solidFill>
                  <a:srgbClr val="525866"/>
                </a:solidFill>
                <a:latin typeface="Consolas" pitchFamily="34" charset="0"/>
                <a:ea typeface="Consolas" pitchFamily="34" charset="-122"/>
                <a:cs typeface="Consolas" pitchFamily="34" charset="-120"/>
              </a:rPr>
              <a:t>color: #aaa; background: #fff — valid CSS.</a:t>
            </a:r>
            <a:endParaRPr lang="en-US" sz="1150" dirty="0"/>
          </a:p>
        </p:txBody>
      </p:sp>
      <p:sp>
        <p:nvSpPr>
          <p:cNvPr id="20" name="Text 17"/>
          <p:cNvSpPr txBox="1"/>
          <p:nvPr/>
        </p:nvSpPr>
        <p:spPr>
          <a:xfrm>
            <a:off x="6492240" y="3273552"/>
            <a:ext cx="4919472" cy="594360"/>
          </a:xfrm>
          <a:prstGeom prst="rect">
            <a:avLst/>
          </a:prstGeom>
          <a:noFill/>
          <a:ln/>
        </p:spPr>
        <p:txBody>
          <a:bodyPr wrap="square" lIns="0" tIns="0" rIns="0" bIns="0" rtlCol="0" anchor="ctr"/>
          <a:lstStyle/>
          <a:p>
            <a:pPr indent="0" marL="0">
              <a:buNone/>
            </a:pPr>
            <a:r>
              <a:rPr lang="en-US" sz="1200" dirty="0">
                <a:solidFill>
                  <a:srgbClr val="1C1E21"/>
                </a:solidFill>
                <a:latin typeface="Calibri" pitchFamily="34" charset="0"/>
                <a:ea typeface="Calibri" pitchFamily="34" charset="-122"/>
                <a:cs typeface="Calibri" pitchFamily="34" charset="-120"/>
              </a:rPr>
              <a:t>Declining text that is nearly unreadable against its background.</a:t>
            </a:r>
            <a:endParaRPr lang="en-US" sz="1200" dirty="0"/>
          </a:p>
        </p:txBody>
      </p:sp>
      <p:sp>
        <p:nvSpPr>
          <p:cNvPr id="21" name="Shape 18"/>
          <p:cNvSpPr/>
          <p:nvPr/>
        </p:nvSpPr>
        <p:spPr>
          <a:xfrm>
            <a:off x="548640" y="4078224"/>
            <a:ext cx="5376672" cy="868680"/>
          </a:xfrm>
          <a:prstGeom prst="rect">
            <a:avLst/>
          </a:prstGeom>
          <a:solidFill>
            <a:srgbClr val="F1F3F5"/>
          </a:solidFill>
          <a:ln w="9525">
            <a:solidFill>
              <a:srgbClr val="E1E4E8"/>
            </a:solidFill>
            <a:prstDash val="solid"/>
          </a:ln>
        </p:spPr>
      </p:sp>
      <p:sp>
        <p:nvSpPr>
          <p:cNvPr id="22" name="Shape 19"/>
          <p:cNvSpPr/>
          <p:nvPr/>
        </p:nvSpPr>
        <p:spPr>
          <a:xfrm>
            <a:off x="6263640" y="4078224"/>
            <a:ext cx="5376672" cy="868680"/>
          </a:xfrm>
          <a:prstGeom prst="rect">
            <a:avLst/>
          </a:prstGeom>
          <a:solidFill>
            <a:srgbClr val="F1F3F5"/>
          </a:solidFill>
          <a:ln w="9525">
            <a:solidFill>
              <a:srgbClr val="E1E4E8"/>
            </a:solidFill>
            <a:prstDash val="solid"/>
          </a:ln>
        </p:spPr>
      </p:sp>
      <p:sp>
        <p:nvSpPr>
          <p:cNvPr id="23" name="Shape 20"/>
          <p:cNvSpPr/>
          <p:nvPr/>
        </p:nvSpPr>
        <p:spPr>
          <a:xfrm>
            <a:off x="6263640" y="4078224"/>
            <a:ext cx="54864" cy="868680"/>
          </a:xfrm>
          <a:prstGeom prst="rect">
            <a:avLst/>
          </a:prstGeom>
          <a:solidFill>
            <a:srgbClr val="C92A2A"/>
          </a:solidFill>
          <a:ln w="12700">
            <a:solidFill>
              <a:srgbClr val="C92A2A"/>
            </a:solidFill>
            <a:prstDash val="solid"/>
          </a:ln>
        </p:spPr>
      </p:sp>
      <p:sp>
        <p:nvSpPr>
          <p:cNvPr id="24" name="Text 21"/>
          <p:cNvSpPr txBox="1"/>
          <p:nvPr/>
        </p:nvSpPr>
        <p:spPr>
          <a:xfrm>
            <a:off x="777240" y="4169664"/>
            <a:ext cx="2743200" cy="182880"/>
          </a:xfrm>
          <a:prstGeom prst="rect">
            <a:avLst/>
          </a:prstGeom>
          <a:noFill/>
          <a:ln/>
        </p:spPr>
        <p:txBody>
          <a:bodyPr wrap="square" lIns="0" tIns="0" rIns="0" bIns="0" rtlCol="0" anchor="t"/>
          <a:lstStyle/>
          <a:p>
            <a:pPr indent="0" marL="0">
              <a:buNone/>
            </a:pPr>
            <a:r>
              <a:rPr lang="en-US" sz="850" b="1" spc="150" kern="0" dirty="0">
                <a:solidFill>
                  <a:srgbClr val="1C1E21"/>
                </a:solidFill>
                <a:latin typeface="Calibri" pitchFamily="34" charset="0"/>
                <a:ea typeface="Calibri" pitchFamily="34" charset="-122"/>
                <a:cs typeface="Calibri" pitchFamily="34" charset="-120"/>
              </a:rPr>
              <a:t>LAYOUT TRICKERY</a:t>
            </a:r>
            <a:endParaRPr lang="en-US" sz="850" dirty="0"/>
          </a:p>
        </p:txBody>
      </p:sp>
      <p:sp>
        <p:nvSpPr>
          <p:cNvPr id="25" name="Text 22"/>
          <p:cNvSpPr txBox="1"/>
          <p:nvPr/>
        </p:nvSpPr>
        <p:spPr>
          <a:xfrm>
            <a:off x="777240" y="4425696"/>
            <a:ext cx="4919472" cy="457200"/>
          </a:xfrm>
          <a:prstGeom prst="rect">
            <a:avLst/>
          </a:prstGeom>
          <a:noFill/>
          <a:ln/>
        </p:spPr>
        <p:txBody>
          <a:bodyPr wrap="square" lIns="0" tIns="0" rIns="0" bIns="0" rtlCol="0" anchor="t"/>
          <a:lstStyle/>
          <a:p>
            <a:pPr indent="0" marL="0">
              <a:buNone/>
            </a:pPr>
            <a:r>
              <a:rPr lang="en-US" sz="1150" dirty="0">
                <a:solidFill>
                  <a:srgbClr val="525866"/>
                </a:solidFill>
                <a:latin typeface="Consolas" pitchFamily="34" charset="0"/>
                <a:ea typeface="Consolas" pitchFamily="34" charset="-122"/>
                <a:cs typeface="Consolas" pitchFamily="34" charset="-120"/>
              </a:rPr>
              <a:t>A &lt;div&gt; positioned absolutely.</a:t>
            </a:r>
            <a:endParaRPr lang="en-US" sz="1150" dirty="0"/>
          </a:p>
        </p:txBody>
      </p:sp>
      <p:sp>
        <p:nvSpPr>
          <p:cNvPr id="26" name="Text 23"/>
          <p:cNvSpPr txBox="1"/>
          <p:nvPr/>
        </p:nvSpPr>
        <p:spPr>
          <a:xfrm>
            <a:off x="6492240" y="4261104"/>
            <a:ext cx="4919472" cy="594360"/>
          </a:xfrm>
          <a:prstGeom prst="rect">
            <a:avLst/>
          </a:prstGeom>
          <a:noFill/>
          <a:ln/>
        </p:spPr>
        <p:txBody>
          <a:bodyPr wrap="square" lIns="0" tIns="0" rIns="0" bIns="0" rtlCol="0" anchor="ctr"/>
          <a:lstStyle/>
          <a:p>
            <a:pPr indent="0" marL="0">
              <a:buNone/>
            </a:pPr>
            <a:r>
              <a:rPr lang="en-US" sz="1200" dirty="0">
                <a:solidFill>
                  <a:srgbClr val="1C1E21"/>
                </a:solidFill>
                <a:latin typeface="Calibri" pitchFamily="34" charset="0"/>
                <a:ea typeface="Calibri" pitchFamily="34" charset="-122"/>
                <a:cs typeface="Calibri" pitchFamily="34" charset="-120"/>
              </a:rPr>
              <a:t>A close icon camouflaged, or an ad styled as editorial content.</a:t>
            </a:r>
            <a:endParaRPr lang="en-US" sz="1200" dirty="0"/>
          </a:p>
        </p:txBody>
      </p:sp>
      <p:sp>
        <p:nvSpPr>
          <p:cNvPr id="27" name="Shape 24"/>
          <p:cNvSpPr/>
          <p:nvPr/>
        </p:nvSpPr>
        <p:spPr>
          <a:xfrm>
            <a:off x="548640" y="5065776"/>
            <a:ext cx="5376672" cy="868680"/>
          </a:xfrm>
          <a:prstGeom prst="rect">
            <a:avLst/>
          </a:prstGeom>
          <a:solidFill>
            <a:srgbClr val="F1F3F5"/>
          </a:solidFill>
          <a:ln w="9525">
            <a:solidFill>
              <a:srgbClr val="E1E4E8"/>
            </a:solidFill>
            <a:prstDash val="solid"/>
          </a:ln>
        </p:spPr>
      </p:sp>
      <p:sp>
        <p:nvSpPr>
          <p:cNvPr id="28" name="Shape 25"/>
          <p:cNvSpPr/>
          <p:nvPr/>
        </p:nvSpPr>
        <p:spPr>
          <a:xfrm>
            <a:off x="6263640" y="5065776"/>
            <a:ext cx="5376672" cy="868680"/>
          </a:xfrm>
          <a:prstGeom prst="rect">
            <a:avLst/>
          </a:prstGeom>
          <a:solidFill>
            <a:srgbClr val="F1F3F5"/>
          </a:solidFill>
          <a:ln w="9525">
            <a:solidFill>
              <a:srgbClr val="E1E4E8"/>
            </a:solidFill>
            <a:prstDash val="solid"/>
          </a:ln>
        </p:spPr>
      </p:sp>
      <p:sp>
        <p:nvSpPr>
          <p:cNvPr id="29" name="Shape 26"/>
          <p:cNvSpPr/>
          <p:nvPr/>
        </p:nvSpPr>
        <p:spPr>
          <a:xfrm>
            <a:off x="6263640" y="5065776"/>
            <a:ext cx="54864" cy="868680"/>
          </a:xfrm>
          <a:prstGeom prst="rect">
            <a:avLst/>
          </a:prstGeom>
          <a:solidFill>
            <a:srgbClr val="C92A2A"/>
          </a:solidFill>
          <a:ln w="12700">
            <a:solidFill>
              <a:srgbClr val="C92A2A"/>
            </a:solidFill>
            <a:prstDash val="solid"/>
          </a:ln>
        </p:spPr>
      </p:sp>
      <p:sp>
        <p:nvSpPr>
          <p:cNvPr id="30" name="Text 27"/>
          <p:cNvSpPr txBox="1"/>
          <p:nvPr/>
        </p:nvSpPr>
        <p:spPr>
          <a:xfrm>
            <a:off x="777240" y="5157216"/>
            <a:ext cx="2743200" cy="182880"/>
          </a:xfrm>
          <a:prstGeom prst="rect">
            <a:avLst/>
          </a:prstGeom>
          <a:noFill/>
          <a:ln/>
        </p:spPr>
        <p:txBody>
          <a:bodyPr wrap="square" lIns="0" tIns="0" rIns="0" bIns="0" rtlCol="0" anchor="t"/>
          <a:lstStyle/>
          <a:p>
            <a:pPr indent="0" marL="0">
              <a:buNone/>
            </a:pPr>
            <a:r>
              <a:rPr lang="en-US" sz="850" b="1" spc="150" kern="0" dirty="0">
                <a:solidFill>
                  <a:srgbClr val="1C1E21"/>
                </a:solidFill>
                <a:latin typeface="Calibri" pitchFamily="34" charset="0"/>
                <a:ea typeface="Calibri" pitchFamily="34" charset="-122"/>
                <a:cs typeface="Calibri" pitchFamily="34" charset="-120"/>
              </a:rPr>
              <a:t>EMOTIONAL FRAMING</a:t>
            </a:r>
            <a:endParaRPr lang="en-US" sz="850" dirty="0"/>
          </a:p>
        </p:txBody>
      </p:sp>
      <p:sp>
        <p:nvSpPr>
          <p:cNvPr id="31" name="Text 28"/>
          <p:cNvSpPr txBox="1"/>
          <p:nvPr/>
        </p:nvSpPr>
        <p:spPr>
          <a:xfrm>
            <a:off x="777240" y="5413248"/>
            <a:ext cx="4919472" cy="457200"/>
          </a:xfrm>
          <a:prstGeom prst="rect">
            <a:avLst/>
          </a:prstGeom>
          <a:noFill/>
          <a:ln/>
        </p:spPr>
        <p:txBody>
          <a:bodyPr wrap="square" lIns="0" tIns="0" rIns="0" bIns="0" rtlCol="0" anchor="t"/>
          <a:lstStyle/>
          <a:p>
            <a:pPr indent="0" marL="0">
              <a:buNone/>
            </a:pPr>
            <a:r>
              <a:rPr lang="en-US" sz="1150" dirty="0">
                <a:solidFill>
                  <a:srgbClr val="525866"/>
                </a:solidFill>
                <a:latin typeface="Consolas" pitchFamily="34" charset="0"/>
                <a:ea typeface="Consolas" pitchFamily="34" charset="-122"/>
                <a:cs typeface="Consolas" pitchFamily="34" charset="-120"/>
              </a:rPr>
              <a:t>A string of text.</a:t>
            </a:r>
            <a:endParaRPr lang="en-US" sz="1150" dirty="0"/>
          </a:p>
        </p:txBody>
      </p:sp>
      <p:sp>
        <p:nvSpPr>
          <p:cNvPr id="32" name="Text 29"/>
          <p:cNvSpPr txBox="1"/>
          <p:nvPr/>
        </p:nvSpPr>
        <p:spPr>
          <a:xfrm>
            <a:off x="6492240" y="5248656"/>
            <a:ext cx="4919472" cy="594360"/>
          </a:xfrm>
          <a:prstGeom prst="rect">
            <a:avLst/>
          </a:prstGeom>
          <a:noFill/>
          <a:ln/>
        </p:spPr>
        <p:txBody>
          <a:bodyPr wrap="square" lIns="0" tIns="0" rIns="0" bIns="0" rtlCol="0" anchor="ctr"/>
          <a:lstStyle/>
          <a:p>
            <a:pPr indent="0" marL="0">
              <a:buNone/>
            </a:pPr>
            <a:r>
              <a:rPr lang="en-US" sz="1200" dirty="0">
                <a:solidFill>
                  <a:srgbClr val="1C1E21"/>
                </a:solidFill>
                <a:latin typeface="Calibri" pitchFamily="34" charset="0"/>
                <a:ea typeface="Calibri" pitchFamily="34" charset="-122"/>
                <a:cs typeface="Calibri" pitchFamily="34" charset="-120"/>
              </a:rPr>
              <a:t>Copy plus colour plus icon that together read as guilt or panic.</a:t>
            </a:r>
            <a:endParaRPr lang="en-US" sz="1200" dirty="0"/>
          </a:p>
        </p:txBody>
      </p:sp>
      <p:sp>
        <p:nvSpPr>
          <p:cNvPr id="33" name="Text 30"/>
          <p:cNvSpPr txBox="1"/>
          <p:nvPr/>
        </p:nvSpPr>
        <p:spPr>
          <a:xfrm>
            <a:off x="548640" y="6035040"/>
            <a:ext cx="11091672" cy="320040"/>
          </a:xfrm>
          <a:prstGeom prst="rect">
            <a:avLst/>
          </a:prstGeom>
          <a:noFill/>
          <a:ln/>
        </p:spPr>
        <p:txBody>
          <a:bodyPr wrap="square" lIns="0" tIns="0" rIns="0" bIns="0" rtlCol="0" anchor="t"/>
          <a:lstStyle/>
          <a:p>
            <a:pPr indent="0" marL="0">
              <a:buNone/>
            </a:pPr>
            <a:r>
              <a:rPr lang="en-US" sz="1300" i="1" dirty="0">
                <a:solidFill>
                  <a:srgbClr val="1C1E21"/>
                </a:solidFill>
                <a:latin typeface="Georgia" pitchFamily="34" charset="0"/>
                <a:ea typeface="Georgia" pitchFamily="34" charset="-122"/>
                <a:cs typeface="Georgia" pitchFamily="34" charset="-120"/>
              </a:rPr>
              <a:t>A VLM perceives the page exactly as the consumer experiences it — which is the standard the law applies.</a:t>
            </a:r>
            <a:endParaRPr lang="en-US" sz="13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 · OBJECTIVES</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System Objectives &amp; Metric Milestones</a:t>
            </a:r>
            <a:endParaRPr lang="en-US" sz="2600" dirty="0"/>
          </a:p>
        </p:txBody>
      </p:sp>
      <p:sp>
        <p:nvSpPr>
          <p:cNvPr id="5" name="Shape 2"/>
          <p:cNvSpPr/>
          <p:nvPr/>
        </p:nvSpPr>
        <p:spPr>
          <a:xfrm>
            <a:off x="548640" y="1508760"/>
            <a:ext cx="3383280" cy="2148840"/>
          </a:xfrm>
          <a:prstGeom prst="rect">
            <a:avLst/>
          </a:prstGeom>
          <a:solidFill>
            <a:srgbClr val="F1F3F5"/>
          </a:solidFill>
          <a:ln w="9525">
            <a:solidFill>
              <a:srgbClr val="E1E4E8"/>
            </a:solidFill>
            <a:prstDash val="solid"/>
          </a:ln>
        </p:spPr>
      </p:sp>
      <p:sp>
        <p:nvSpPr>
          <p:cNvPr id="6" name="Shape 3"/>
          <p:cNvSpPr/>
          <p:nvPr/>
        </p:nvSpPr>
        <p:spPr>
          <a:xfrm>
            <a:off x="548640" y="1508760"/>
            <a:ext cx="54864" cy="2148840"/>
          </a:xfrm>
          <a:prstGeom prst="rect">
            <a:avLst/>
          </a:prstGeom>
          <a:solidFill>
            <a:srgbClr val="1C1E21"/>
          </a:solidFill>
          <a:ln w="12700">
            <a:solidFill>
              <a:srgbClr val="1C1E21"/>
            </a:solidFill>
            <a:prstDash val="solid"/>
          </a:ln>
        </p:spPr>
      </p:sp>
      <p:sp>
        <p:nvSpPr>
          <p:cNvPr id="7" name="Text 4"/>
          <p:cNvSpPr txBox="1"/>
          <p:nvPr/>
        </p:nvSpPr>
        <p:spPr>
          <a:xfrm>
            <a:off x="777240" y="1673352"/>
            <a:ext cx="914400" cy="457200"/>
          </a:xfrm>
          <a:prstGeom prst="rect">
            <a:avLst/>
          </a:prstGeom>
          <a:noFill/>
          <a:ln/>
        </p:spPr>
        <p:txBody>
          <a:bodyPr wrap="square" lIns="0" tIns="0" rIns="0" bIns="0" rtlCol="0" anchor="t"/>
          <a:lstStyle/>
          <a:p>
            <a:pPr indent="0" marL="0">
              <a:buNone/>
            </a:pPr>
            <a:r>
              <a:rPr lang="en-US" sz="2600" b="1" dirty="0">
                <a:solidFill>
                  <a:srgbClr val="C92A2A"/>
                </a:solidFill>
                <a:latin typeface="Georgia" pitchFamily="34" charset="0"/>
                <a:ea typeface="Georgia" pitchFamily="34" charset="-122"/>
                <a:cs typeface="Georgia" pitchFamily="34" charset="-120"/>
              </a:rPr>
              <a:t>01</a:t>
            </a:r>
            <a:endParaRPr lang="en-US" sz="2600" dirty="0"/>
          </a:p>
        </p:txBody>
      </p:sp>
      <p:sp>
        <p:nvSpPr>
          <p:cNvPr id="8" name="Text 5"/>
          <p:cNvSpPr txBox="1"/>
          <p:nvPr/>
        </p:nvSpPr>
        <p:spPr>
          <a:xfrm>
            <a:off x="777240" y="2240280"/>
            <a:ext cx="2926080" cy="594360"/>
          </a:xfrm>
          <a:prstGeom prst="rect">
            <a:avLst/>
          </a:prstGeom>
          <a:noFill/>
          <a:ln/>
        </p:spPr>
        <p:txBody>
          <a:bodyPr wrap="square" lIns="0" tIns="0" rIns="0" bIns="0" rtlCol="0" anchor="t"/>
          <a:lstStyle/>
          <a:p>
            <a:pPr indent="0" marL="0">
              <a:buNone/>
            </a:pPr>
            <a:r>
              <a:rPr lang="en-US" sz="1500" b="1" dirty="0">
                <a:solidFill>
                  <a:srgbClr val="1C1E21"/>
                </a:solidFill>
                <a:latin typeface="Georgia" pitchFamily="34" charset="0"/>
                <a:ea typeface="Georgia" pitchFamily="34" charset="-122"/>
                <a:cs typeface="Georgia" pitchFamily="34" charset="-120"/>
              </a:rPr>
              <a:t>Single-screenshot regulatory audit</a:t>
            </a:r>
            <a:endParaRPr lang="en-US" sz="1500" dirty="0"/>
          </a:p>
        </p:txBody>
      </p:sp>
      <p:sp>
        <p:nvSpPr>
          <p:cNvPr id="9" name="Text 6"/>
          <p:cNvSpPr txBox="1"/>
          <p:nvPr/>
        </p:nvSpPr>
        <p:spPr>
          <a:xfrm>
            <a:off x="777240" y="2834640"/>
            <a:ext cx="2926080" cy="77724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One image in, a statute-mapped finding list out — no crawling required.</a:t>
            </a:r>
            <a:endParaRPr lang="en-US" sz="1100" dirty="0"/>
          </a:p>
        </p:txBody>
      </p:sp>
      <p:sp>
        <p:nvSpPr>
          <p:cNvPr id="10" name="Shape 7"/>
          <p:cNvSpPr/>
          <p:nvPr/>
        </p:nvSpPr>
        <p:spPr>
          <a:xfrm>
            <a:off x="4133088" y="1508760"/>
            <a:ext cx="3383280" cy="2148840"/>
          </a:xfrm>
          <a:prstGeom prst="rect">
            <a:avLst/>
          </a:prstGeom>
          <a:solidFill>
            <a:srgbClr val="F1F3F5"/>
          </a:solidFill>
          <a:ln w="9525">
            <a:solidFill>
              <a:srgbClr val="E1E4E8"/>
            </a:solidFill>
            <a:prstDash val="solid"/>
          </a:ln>
        </p:spPr>
      </p:sp>
      <p:sp>
        <p:nvSpPr>
          <p:cNvPr id="11" name="Shape 8"/>
          <p:cNvSpPr/>
          <p:nvPr/>
        </p:nvSpPr>
        <p:spPr>
          <a:xfrm>
            <a:off x="4133088" y="1508760"/>
            <a:ext cx="54864" cy="2148840"/>
          </a:xfrm>
          <a:prstGeom prst="rect">
            <a:avLst/>
          </a:prstGeom>
          <a:solidFill>
            <a:srgbClr val="1C1E21"/>
          </a:solidFill>
          <a:ln w="12700">
            <a:solidFill>
              <a:srgbClr val="1C1E21"/>
            </a:solidFill>
            <a:prstDash val="solid"/>
          </a:ln>
        </p:spPr>
      </p:sp>
      <p:sp>
        <p:nvSpPr>
          <p:cNvPr id="12" name="Text 9"/>
          <p:cNvSpPr txBox="1"/>
          <p:nvPr/>
        </p:nvSpPr>
        <p:spPr>
          <a:xfrm>
            <a:off x="4361688" y="1673352"/>
            <a:ext cx="914400" cy="457200"/>
          </a:xfrm>
          <a:prstGeom prst="rect">
            <a:avLst/>
          </a:prstGeom>
          <a:noFill/>
          <a:ln/>
        </p:spPr>
        <p:txBody>
          <a:bodyPr wrap="square" lIns="0" tIns="0" rIns="0" bIns="0" rtlCol="0" anchor="t"/>
          <a:lstStyle/>
          <a:p>
            <a:pPr indent="0" marL="0">
              <a:buNone/>
            </a:pPr>
            <a:r>
              <a:rPr lang="en-US" sz="2600" b="1" dirty="0">
                <a:solidFill>
                  <a:srgbClr val="C92A2A"/>
                </a:solidFill>
                <a:latin typeface="Georgia" pitchFamily="34" charset="0"/>
                <a:ea typeface="Georgia" pitchFamily="34" charset="-122"/>
                <a:cs typeface="Georgia" pitchFamily="34" charset="-120"/>
              </a:rPr>
              <a:t>02</a:t>
            </a:r>
            <a:endParaRPr lang="en-US" sz="2600" dirty="0"/>
          </a:p>
        </p:txBody>
      </p:sp>
      <p:sp>
        <p:nvSpPr>
          <p:cNvPr id="13" name="Text 10"/>
          <p:cNvSpPr txBox="1"/>
          <p:nvPr/>
        </p:nvSpPr>
        <p:spPr>
          <a:xfrm>
            <a:off x="4361688" y="2240280"/>
            <a:ext cx="2926080" cy="594360"/>
          </a:xfrm>
          <a:prstGeom prst="rect">
            <a:avLst/>
          </a:prstGeom>
          <a:noFill/>
          <a:ln/>
        </p:spPr>
        <p:txBody>
          <a:bodyPr wrap="square" lIns="0" tIns="0" rIns="0" bIns="0" rtlCol="0" anchor="t"/>
          <a:lstStyle/>
          <a:p>
            <a:pPr indent="0" marL="0">
              <a:buNone/>
            </a:pPr>
            <a:r>
              <a:rPr lang="en-US" sz="1500" b="1" dirty="0">
                <a:solidFill>
                  <a:srgbClr val="1C1E21"/>
                </a:solidFill>
                <a:latin typeface="Georgia" pitchFamily="34" charset="0"/>
                <a:ea typeface="Georgia" pitchFamily="34" charset="-122"/>
                <a:cs typeface="Georgia" pitchFamily="34" charset="-120"/>
              </a:rPr>
              <a:t>Sub-pixel element localisation</a:t>
            </a:r>
            <a:endParaRPr lang="en-US" sz="1500" dirty="0"/>
          </a:p>
        </p:txBody>
      </p:sp>
      <p:sp>
        <p:nvSpPr>
          <p:cNvPr id="14" name="Text 11"/>
          <p:cNvSpPr txBox="1"/>
          <p:nvPr/>
        </p:nvSpPr>
        <p:spPr>
          <a:xfrm>
            <a:off x="4361688" y="2834640"/>
            <a:ext cx="2926080" cy="77724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Normalised bounding boxes (0–1000) mapped to native pixels, so every finding is visibly pinned.</a:t>
            </a:r>
            <a:endParaRPr lang="en-US" sz="1100" dirty="0"/>
          </a:p>
        </p:txBody>
      </p:sp>
      <p:sp>
        <p:nvSpPr>
          <p:cNvPr id="15" name="Shape 12"/>
          <p:cNvSpPr/>
          <p:nvPr/>
        </p:nvSpPr>
        <p:spPr>
          <a:xfrm>
            <a:off x="548640" y="3858768"/>
            <a:ext cx="3383280" cy="2148840"/>
          </a:xfrm>
          <a:prstGeom prst="rect">
            <a:avLst/>
          </a:prstGeom>
          <a:solidFill>
            <a:srgbClr val="F1F3F5"/>
          </a:solidFill>
          <a:ln w="9525">
            <a:solidFill>
              <a:srgbClr val="E1E4E8"/>
            </a:solidFill>
            <a:prstDash val="solid"/>
          </a:ln>
        </p:spPr>
      </p:sp>
      <p:sp>
        <p:nvSpPr>
          <p:cNvPr id="16" name="Shape 13"/>
          <p:cNvSpPr/>
          <p:nvPr/>
        </p:nvSpPr>
        <p:spPr>
          <a:xfrm>
            <a:off x="548640" y="3858768"/>
            <a:ext cx="54864" cy="2148840"/>
          </a:xfrm>
          <a:prstGeom prst="rect">
            <a:avLst/>
          </a:prstGeom>
          <a:solidFill>
            <a:srgbClr val="1C1E21"/>
          </a:solidFill>
          <a:ln w="12700">
            <a:solidFill>
              <a:srgbClr val="1C1E21"/>
            </a:solidFill>
            <a:prstDash val="solid"/>
          </a:ln>
        </p:spPr>
      </p:sp>
      <p:sp>
        <p:nvSpPr>
          <p:cNvPr id="17" name="Text 14"/>
          <p:cNvSpPr txBox="1"/>
          <p:nvPr/>
        </p:nvSpPr>
        <p:spPr>
          <a:xfrm>
            <a:off x="777240" y="4023360"/>
            <a:ext cx="914400" cy="457200"/>
          </a:xfrm>
          <a:prstGeom prst="rect">
            <a:avLst/>
          </a:prstGeom>
          <a:noFill/>
          <a:ln/>
        </p:spPr>
        <p:txBody>
          <a:bodyPr wrap="square" lIns="0" tIns="0" rIns="0" bIns="0" rtlCol="0" anchor="t"/>
          <a:lstStyle/>
          <a:p>
            <a:pPr indent="0" marL="0">
              <a:buNone/>
            </a:pPr>
            <a:r>
              <a:rPr lang="en-US" sz="2600" b="1" dirty="0">
                <a:solidFill>
                  <a:srgbClr val="C92A2A"/>
                </a:solidFill>
                <a:latin typeface="Georgia" pitchFamily="34" charset="0"/>
                <a:ea typeface="Georgia" pitchFamily="34" charset="-122"/>
                <a:cs typeface="Georgia" pitchFamily="34" charset="-120"/>
              </a:rPr>
              <a:t>03</a:t>
            </a:r>
            <a:endParaRPr lang="en-US" sz="2600" dirty="0"/>
          </a:p>
        </p:txBody>
      </p:sp>
      <p:sp>
        <p:nvSpPr>
          <p:cNvPr id="18" name="Text 15"/>
          <p:cNvSpPr txBox="1"/>
          <p:nvPr/>
        </p:nvSpPr>
        <p:spPr>
          <a:xfrm>
            <a:off x="777240" y="4590288"/>
            <a:ext cx="2926080" cy="594360"/>
          </a:xfrm>
          <a:prstGeom prst="rect">
            <a:avLst/>
          </a:prstGeom>
          <a:noFill/>
          <a:ln/>
        </p:spPr>
        <p:txBody>
          <a:bodyPr wrap="square" lIns="0" tIns="0" rIns="0" bIns="0" rtlCol="0" anchor="t"/>
          <a:lstStyle/>
          <a:p>
            <a:pPr indent="0" marL="0">
              <a:buNone/>
            </a:pPr>
            <a:r>
              <a:rPr lang="en-US" sz="1500" b="1" dirty="0">
                <a:solidFill>
                  <a:srgbClr val="1C1E21"/>
                </a:solidFill>
                <a:latin typeface="Georgia" pitchFamily="34" charset="0"/>
                <a:ea typeface="Georgia" pitchFamily="34" charset="-122"/>
                <a:cs typeface="Georgia" pitchFamily="34" charset="-120"/>
              </a:rPr>
              <a:t>False-positive suppression</a:t>
            </a:r>
            <a:endParaRPr lang="en-US" sz="1500" dirty="0"/>
          </a:p>
        </p:txBody>
      </p:sp>
      <p:sp>
        <p:nvSpPr>
          <p:cNvPr id="19" name="Text 16"/>
          <p:cNvSpPr txBox="1"/>
          <p:nvPr/>
        </p:nvSpPr>
        <p:spPr>
          <a:xfrm>
            <a:off x="777240" y="5184648"/>
            <a:ext cx="2926080" cy="77724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Adversarial verification rejects lawful lookalikes before a finding reaches the report.</a:t>
            </a:r>
            <a:endParaRPr lang="en-US" sz="1100" dirty="0"/>
          </a:p>
        </p:txBody>
      </p:sp>
      <p:sp>
        <p:nvSpPr>
          <p:cNvPr id="20" name="Shape 17"/>
          <p:cNvSpPr/>
          <p:nvPr/>
        </p:nvSpPr>
        <p:spPr>
          <a:xfrm>
            <a:off x="4133088" y="3858768"/>
            <a:ext cx="3383280" cy="2148840"/>
          </a:xfrm>
          <a:prstGeom prst="rect">
            <a:avLst/>
          </a:prstGeom>
          <a:solidFill>
            <a:srgbClr val="F1F3F5"/>
          </a:solidFill>
          <a:ln w="9525">
            <a:solidFill>
              <a:srgbClr val="E1E4E8"/>
            </a:solidFill>
            <a:prstDash val="solid"/>
          </a:ln>
        </p:spPr>
      </p:sp>
      <p:sp>
        <p:nvSpPr>
          <p:cNvPr id="21" name="Shape 18"/>
          <p:cNvSpPr/>
          <p:nvPr/>
        </p:nvSpPr>
        <p:spPr>
          <a:xfrm>
            <a:off x="4133088" y="3858768"/>
            <a:ext cx="54864" cy="2148840"/>
          </a:xfrm>
          <a:prstGeom prst="rect">
            <a:avLst/>
          </a:prstGeom>
          <a:solidFill>
            <a:srgbClr val="1C1E21"/>
          </a:solidFill>
          <a:ln w="12700">
            <a:solidFill>
              <a:srgbClr val="1C1E21"/>
            </a:solidFill>
            <a:prstDash val="solid"/>
          </a:ln>
        </p:spPr>
      </p:sp>
      <p:sp>
        <p:nvSpPr>
          <p:cNvPr id="22" name="Text 19"/>
          <p:cNvSpPr txBox="1"/>
          <p:nvPr/>
        </p:nvSpPr>
        <p:spPr>
          <a:xfrm>
            <a:off x="4361688" y="4023360"/>
            <a:ext cx="914400" cy="457200"/>
          </a:xfrm>
          <a:prstGeom prst="rect">
            <a:avLst/>
          </a:prstGeom>
          <a:noFill/>
          <a:ln/>
        </p:spPr>
        <p:txBody>
          <a:bodyPr wrap="square" lIns="0" tIns="0" rIns="0" bIns="0" rtlCol="0" anchor="t"/>
          <a:lstStyle/>
          <a:p>
            <a:pPr indent="0" marL="0">
              <a:buNone/>
            </a:pPr>
            <a:r>
              <a:rPr lang="en-US" sz="2600" b="1" dirty="0">
                <a:solidFill>
                  <a:srgbClr val="C92A2A"/>
                </a:solidFill>
                <a:latin typeface="Georgia" pitchFamily="34" charset="0"/>
                <a:ea typeface="Georgia" pitchFamily="34" charset="-122"/>
                <a:cs typeface="Georgia" pitchFamily="34" charset="-120"/>
              </a:rPr>
              <a:t>04</a:t>
            </a:r>
            <a:endParaRPr lang="en-US" sz="2600" dirty="0"/>
          </a:p>
        </p:txBody>
      </p:sp>
      <p:sp>
        <p:nvSpPr>
          <p:cNvPr id="23" name="Text 20"/>
          <p:cNvSpPr txBox="1"/>
          <p:nvPr/>
        </p:nvSpPr>
        <p:spPr>
          <a:xfrm>
            <a:off x="4361688" y="4590288"/>
            <a:ext cx="2926080" cy="594360"/>
          </a:xfrm>
          <a:prstGeom prst="rect">
            <a:avLst/>
          </a:prstGeom>
          <a:noFill/>
          <a:ln/>
        </p:spPr>
        <p:txBody>
          <a:bodyPr wrap="square" lIns="0" tIns="0" rIns="0" bIns="0" rtlCol="0" anchor="t"/>
          <a:lstStyle/>
          <a:p>
            <a:pPr indent="0" marL="0">
              <a:buNone/>
            </a:pPr>
            <a:r>
              <a:rPr lang="en-US" sz="1500" b="1" dirty="0">
                <a:solidFill>
                  <a:srgbClr val="1C1E21"/>
                </a:solidFill>
                <a:latin typeface="Georgia" pitchFamily="34" charset="0"/>
                <a:ea typeface="Georgia" pitchFamily="34" charset="-122"/>
                <a:cs typeface="Georgia" pitchFamily="34" charset="-120"/>
              </a:rPr>
              <a:t>One-click PDF audit</a:t>
            </a:r>
            <a:endParaRPr lang="en-US" sz="1500" dirty="0"/>
          </a:p>
        </p:txBody>
      </p:sp>
      <p:sp>
        <p:nvSpPr>
          <p:cNvPr id="24" name="Text 21"/>
          <p:cNvSpPr txBox="1"/>
          <p:nvPr/>
        </p:nvSpPr>
        <p:spPr>
          <a:xfrm>
            <a:off x="4361688" y="5184648"/>
            <a:ext cx="2926080" cy="77724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Annotated overlays, quoted evidence, statutory reference and honest redesign in a shareable report.</a:t>
            </a:r>
            <a:endParaRPr lang="en-US" sz="1100" dirty="0"/>
          </a:p>
        </p:txBody>
      </p:sp>
      <p:sp>
        <p:nvSpPr>
          <p:cNvPr id="25" name="Shape 22"/>
          <p:cNvSpPr/>
          <p:nvPr/>
        </p:nvSpPr>
        <p:spPr>
          <a:xfrm>
            <a:off x="7772400" y="1508760"/>
            <a:ext cx="3867912" cy="4498848"/>
          </a:xfrm>
          <a:prstGeom prst="rect">
            <a:avLst/>
          </a:prstGeom>
          <a:solidFill>
            <a:srgbClr val="1C1E21"/>
          </a:solidFill>
          <a:ln w="9525">
            <a:solidFill>
              <a:srgbClr val="1C1E21"/>
            </a:solidFill>
            <a:prstDash val="solid"/>
          </a:ln>
        </p:spPr>
      </p:sp>
      <p:sp>
        <p:nvSpPr>
          <p:cNvPr id="26" name="Text 23"/>
          <p:cNvSpPr txBox="1"/>
          <p:nvPr/>
        </p:nvSpPr>
        <p:spPr>
          <a:xfrm>
            <a:off x="8046720" y="1691640"/>
            <a:ext cx="3319272" cy="228600"/>
          </a:xfrm>
          <a:prstGeom prst="rect">
            <a:avLst/>
          </a:prstGeom>
          <a:noFill/>
          <a:ln/>
        </p:spPr>
        <p:txBody>
          <a:bodyPr wrap="square" lIns="0" tIns="0" rIns="0" bIns="0" rtlCol="0" anchor="t"/>
          <a:lstStyle/>
          <a:p>
            <a:pPr indent="0" marL="0">
              <a:buNone/>
            </a:pPr>
            <a:r>
              <a:rPr lang="en-US" sz="1000" b="1" spc="250" kern="0" dirty="0">
                <a:solidFill>
                  <a:srgbClr val="E8590C"/>
                </a:solidFill>
                <a:latin typeface="Calibri" pitchFamily="34" charset="0"/>
                <a:ea typeface="Calibri" pitchFamily="34" charset="-122"/>
                <a:cs typeface="Calibri" pitchFamily="34" charset="-120"/>
              </a:rPr>
              <a:t>METRIC MILESTONES</a:t>
            </a:r>
            <a:endParaRPr lang="en-US" sz="1000" dirty="0"/>
          </a:p>
        </p:txBody>
      </p:sp>
      <p:sp>
        <p:nvSpPr>
          <p:cNvPr id="27" name="Shape 24"/>
          <p:cNvSpPr/>
          <p:nvPr/>
        </p:nvSpPr>
        <p:spPr>
          <a:xfrm>
            <a:off x="8046720" y="2103120"/>
            <a:ext cx="3319272" cy="0"/>
          </a:xfrm>
          <a:prstGeom prst="line">
            <a:avLst/>
          </a:prstGeom>
          <a:noFill/>
          <a:ln w="9525">
            <a:solidFill>
              <a:srgbClr val="2A2F38"/>
            </a:solidFill>
            <a:prstDash val="solid"/>
          </a:ln>
        </p:spPr>
      </p:sp>
      <p:sp>
        <p:nvSpPr>
          <p:cNvPr id="28" name="Text 25"/>
          <p:cNvSpPr txBox="1"/>
          <p:nvPr/>
        </p:nvSpPr>
        <p:spPr>
          <a:xfrm>
            <a:off x="8046720" y="2212848"/>
            <a:ext cx="3319272"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Inter-rater agreement</a:t>
            </a:r>
            <a:endParaRPr lang="en-US" sz="1250" dirty="0"/>
          </a:p>
        </p:txBody>
      </p:sp>
      <p:sp>
        <p:nvSpPr>
          <p:cNvPr id="29" name="Text 26"/>
          <p:cNvSpPr txBox="1"/>
          <p:nvPr/>
        </p:nvSpPr>
        <p:spPr>
          <a:xfrm>
            <a:off x="8046720" y="2542032"/>
            <a:ext cx="3319272" cy="365760"/>
          </a:xfrm>
          <a:prstGeom prst="rect">
            <a:avLst/>
          </a:prstGeom>
          <a:noFill/>
          <a:ln/>
        </p:spPr>
        <p:txBody>
          <a:bodyPr wrap="square" lIns="0" tIns="0" rIns="0" bIns="0" rtlCol="0" anchor="t"/>
          <a:lstStyle/>
          <a:p>
            <a:pPr indent="0" marL="0">
              <a:buNone/>
            </a:pPr>
            <a:r>
              <a:rPr lang="en-US" sz="1100" dirty="0">
                <a:solidFill>
                  <a:srgbClr val="9AA1AE"/>
                </a:solidFill>
                <a:latin typeface="Calibri" pitchFamily="34" charset="0"/>
                <a:ea typeface="Calibri" pitchFamily="34" charset="-122"/>
                <a:cs typeface="Calibri" pitchFamily="34" charset="-120"/>
              </a:rPr>
              <a:t>Cohen's κ ≥ 0.61 (substantial)</a:t>
            </a:r>
            <a:endParaRPr lang="en-US" sz="1100" dirty="0"/>
          </a:p>
        </p:txBody>
      </p:sp>
      <p:sp>
        <p:nvSpPr>
          <p:cNvPr id="30" name="Shape 27"/>
          <p:cNvSpPr/>
          <p:nvPr/>
        </p:nvSpPr>
        <p:spPr>
          <a:xfrm>
            <a:off x="8046720" y="3017520"/>
            <a:ext cx="3319272" cy="0"/>
          </a:xfrm>
          <a:prstGeom prst="line">
            <a:avLst/>
          </a:prstGeom>
          <a:noFill/>
          <a:ln w="9525">
            <a:solidFill>
              <a:srgbClr val="2A2F38"/>
            </a:solidFill>
            <a:prstDash val="solid"/>
          </a:ln>
        </p:spPr>
      </p:sp>
      <p:sp>
        <p:nvSpPr>
          <p:cNvPr id="31" name="Text 28"/>
          <p:cNvSpPr txBox="1"/>
          <p:nvPr/>
        </p:nvSpPr>
        <p:spPr>
          <a:xfrm>
            <a:off x="8046720" y="3127248"/>
            <a:ext cx="3319272"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Precision lift</a:t>
            </a:r>
            <a:endParaRPr lang="en-US" sz="1250" dirty="0"/>
          </a:p>
        </p:txBody>
      </p:sp>
      <p:sp>
        <p:nvSpPr>
          <p:cNvPr id="32" name="Text 29"/>
          <p:cNvSpPr txBox="1"/>
          <p:nvPr/>
        </p:nvSpPr>
        <p:spPr>
          <a:xfrm>
            <a:off x="8046720" y="3456432"/>
            <a:ext cx="3319272" cy="365760"/>
          </a:xfrm>
          <a:prstGeom prst="rect">
            <a:avLst/>
          </a:prstGeom>
          <a:noFill/>
          <a:ln/>
        </p:spPr>
        <p:txBody>
          <a:bodyPr wrap="square" lIns="0" tIns="0" rIns="0" bIns="0" rtlCol="0" anchor="t"/>
          <a:lstStyle/>
          <a:p>
            <a:pPr indent="0" marL="0">
              <a:buNone/>
            </a:pPr>
            <a:r>
              <a:rPr lang="en-US" sz="1100" dirty="0">
                <a:solidFill>
                  <a:srgbClr val="9AA1AE"/>
                </a:solidFill>
                <a:latin typeface="Calibri" pitchFamily="34" charset="0"/>
                <a:ea typeface="Calibri" pitchFamily="34" charset="-122"/>
                <a:cs typeface="Calibri" pitchFamily="34" charset="-120"/>
              </a:rPr>
              <a:t>Rubric prompt vs zero-shot</a:t>
            </a:r>
            <a:endParaRPr lang="en-US" sz="1100" dirty="0"/>
          </a:p>
        </p:txBody>
      </p:sp>
      <p:sp>
        <p:nvSpPr>
          <p:cNvPr id="33" name="Shape 30"/>
          <p:cNvSpPr/>
          <p:nvPr/>
        </p:nvSpPr>
        <p:spPr>
          <a:xfrm>
            <a:off x="8046720" y="3931920"/>
            <a:ext cx="3319272" cy="0"/>
          </a:xfrm>
          <a:prstGeom prst="line">
            <a:avLst/>
          </a:prstGeom>
          <a:noFill/>
          <a:ln w="9525">
            <a:solidFill>
              <a:srgbClr val="2A2F38"/>
            </a:solidFill>
            <a:prstDash val="solid"/>
          </a:ln>
        </p:spPr>
      </p:sp>
      <p:sp>
        <p:nvSpPr>
          <p:cNvPr id="34" name="Text 31"/>
          <p:cNvSpPr txBox="1"/>
          <p:nvPr/>
        </p:nvSpPr>
        <p:spPr>
          <a:xfrm>
            <a:off x="8046720" y="4041648"/>
            <a:ext cx="3319272"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False-alarm rate</a:t>
            </a:r>
            <a:endParaRPr lang="en-US" sz="1250" dirty="0"/>
          </a:p>
        </p:txBody>
      </p:sp>
      <p:sp>
        <p:nvSpPr>
          <p:cNvPr id="35" name="Text 32"/>
          <p:cNvSpPr txBox="1"/>
          <p:nvPr/>
        </p:nvSpPr>
        <p:spPr>
          <a:xfrm>
            <a:off x="8046720" y="4370832"/>
            <a:ext cx="3319272" cy="365760"/>
          </a:xfrm>
          <a:prstGeom prst="rect">
            <a:avLst/>
          </a:prstGeom>
          <a:noFill/>
          <a:ln/>
        </p:spPr>
        <p:txBody>
          <a:bodyPr wrap="square" lIns="0" tIns="0" rIns="0" bIns="0" rtlCol="0" anchor="t"/>
          <a:lstStyle/>
          <a:p>
            <a:pPr indent="0" marL="0">
              <a:buNone/>
            </a:pPr>
            <a:r>
              <a:rPr lang="en-US" sz="1100" dirty="0">
                <a:solidFill>
                  <a:srgbClr val="9AA1AE"/>
                </a:solidFill>
                <a:latin typeface="Calibri" pitchFamily="34" charset="0"/>
                <a:ea typeface="Calibri" pitchFamily="34" charset="-122"/>
                <a:cs typeface="Calibri" pitchFamily="34" charset="-120"/>
              </a:rPr>
              <a:t>Minimal on clean gov/utility sites</a:t>
            </a:r>
            <a:endParaRPr lang="en-US" sz="1100" dirty="0"/>
          </a:p>
        </p:txBody>
      </p:sp>
      <p:sp>
        <p:nvSpPr>
          <p:cNvPr id="36" name="Shape 33"/>
          <p:cNvSpPr/>
          <p:nvPr/>
        </p:nvSpPr>
        <p:spPr>
          <a:xfrm>
            <a:off x="8046720" y="4846320"/>
            <a:ext cx="3319272" cy="0"/>
          </a:xfrm>
          <a:prstGeom prst="line">
            <a:avLst/>
          </a:prstGeom>
          <a:noFill/>
          <a:ln w="9525">
            <a:solidFill>
              <a:srgbClr val="2A2F38"/>
            </a:solidFill>
            <a:prstDash val="solid"/>
          </a:ln>
        </p:spPr>
      </p:sp>
      <p:sp>
        <p:nvSpPr>
          <p:cNvPr id="37" name="Text 34"/>
          <p:cNvSpPr txBox="1"/>
          <p:nvPr/>
        </p:nvSpPr>
        <p:spPr>
          <a:xfrm>
            <a:off x="8046720" y="4956048"/>
            <a:ext cx="3319272"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Localisation</a:t>
            </a:r>
            <a:endParaRPr lang="en-US" sz="1250" dirty="0"/>
          </a:p>
        </p:txBody>
      </p:sp>
      <p:sp>
        <p:nvSpPr>
          <p:cNvPr id="38" name="Text 35"/>
          <p:cNvSpPr txBox="1"/>
          <p:nvPr/>
        </p:nvSpPr>
        <p:spPr>
          <a:xfrm>
            <a:off x="8046720" y="5285232"/>
            <a:ext cx="3319272" cy="365760"/>
          </a:xfrm>
          <a:prstGeom prst="rect">
            <a:avLst/>
          </a:prstGeom>
          <a:noFill/>
          <a:ln/>
        </p:spPr>
        <p:txBody>
          <a:bodyPr wrap="square" lIns="0" tIns="0" rIns="0" bIns="0" rtlCol="0" anchor="t"/>
          <a:lstStyle/>
          <a:p>
            <a:pPr indent="0" marL="0">
              <a:buNone/>
            </a:pPr>
            <a:r>
              <a:rPr lang="en-US" sz="1100" dirty="0">
                <a:solidFill>
                  <a:srgbClr val="9AA1AE"/>
                </a:solidFill>
                <a:latin typeface="Calibri" pitchFamily="34" charset="0"/>
                <a:ea typeface="Calibri" pitchFamily="34" charset="-122"/>
                <a:cs typeface="Calibri" pitchFamily="34" charset="-120"/>
              </a:rPr>
              <a:t>IoU against gold boxes</a:t>
            </a:r>
            <a:endParaRPr lang="en-US" sz="11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 · PROPOSED SOLUTION</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From Raw Screenshot to Statutory Audit</a:t>
            </a:r>
            <a:endParaRPr lang="en-US" sz="2600" dirty="0"/>
          </a:p>
        </p:txBody>
      </p:sp>
      <p:sp>
        <p:nvSpPr>
          <p:cNvPr id="5" name="Shape 2"/>
          <p:cNvSpPr/>
          <p:nvPr/>
        </p:nvSpPr>
        <p:spPr>
          <a:xfrm>
            <a:off x="548640" y="1554480"/>
            <a:ext cx="3383280" cy="4389120"/>
          </a:xfrm>
          <a:prstGeom prst="rect">
            <a:avLst/>
          </a:prstGeom>
          <a:solidFill>
            <a:srgbClr val="F1F3F5"/>
          </a:solidFill>
          <a:ln w="9525">
            <a:solidFill>
              <a:srgbClr val="E1E4E8"/>
            </a:solidFill>
            <a:prstDash val="solid"/>
          </a:ln>
        </p:spPr>
      </p:sp>
      <p:sp>
        <p:nvSpPr>
          <p:cNvPr id="6" name="Text 3"/>
          <p:cNvSpPr txBox="1"/>
          <p:nvPr/>
        </p:nvSpPr>
        <p:spPr>
          <a:xfrm>
            <a:off x="777240" y="1737360"/>
            <a:ext cx="1828800" cy="182880"/>
          </a:xfrm>
          <a:prstGeom prst="rect">
            <a:avLst/>
          </a:prstGeom>
          <a:noFill/>
          <a:ln/>
        </p:spPr>
        <p:txBody>
          <a:bodyPr wrap="square" lIns="0" tIns="0" rIns="0" bIns="0" rtlCol="0" anchor="t"/>
          <a:lstStyle/>
          <a:p>
            <a:pPr indent="0" marL="0">
              <a:buNone/>
            </a:pPr>
            <a:r>
              <a:rPr lang="en-US" sz="900" b="1" spc="250" kern="0" dirty="0">
                <a:solidFill>
                  <a:srgbClr val="525866"/>
                </a:solidFill>
                <a:latin typeface="Calibri" pitchFamily="34" charset="0"/>
                <a:ea typeface="Calibri" pitchFamily="34" charset="-122"/>
                <a:cs typeface="Calibri" pitchFamily="34" charset="-120"/>
              </a:rPr>
              <a:t>INPUT</a:t>
            </a:r>
            <a:endParaRPr lang="en-US" sz="900" dirty="0"/>
          </a:p>
        </p:txBody>
      </p:sp>
      <p:sp>
        <p:nvSpPr>
          <p:cNvPr id="7" name="Shape 4"/>
          <p:cNvSpPr/>
          <p:nvPr/>
        </p:nvSpPr>
        <p:spPr>
          <a:xfrm>
            <a:off x="777240" y="2057400"/>
            <a:ext cx="2926080" cy="365760"/>
          </a:xfrm>
          <a:prstGeom prst="rect">
            <a:avLst/>
          </a:prstGeom>
          <a:solidFill>
            <a:srgbClr val="FFFFFF"/>
          </a:solidFill>
          <a:ln w="9525">
            <a:solidFill>
              <a:srgbClr val="E1E4E8"/>
            </a:solidFill>
            <a:prstDash val="solid"/>
          </a:ln>
        </p:spPr>
      </p:sp>
      <p:sp>
        <p:nvSpPr>
          <p:cNvPr id="8" name="Text 5"/>
          <p:cNvSpPr txBox="1"/>
          <p:nvPr/>
        </p:nvSpPr>
        <p:spPr>
          <a:xfrm>
            <a:off x="914400" y="2057400"/>
            <a:ext cx="2651760" cy="365760"/>
          </a:xfrm>
          <a:prstGeom prst="rect">
            <a:avLst/>
          </a:prstGeom>
          <a:noFill/>
          <a:ln/>
        </p:spPr>
        <p:txBody>
          <a:bodyPr wrap="square" lIns="0" tIns="0" rIns="0" bIns="0" rtlCol="0" anchor="ctr"/>
          <a:lstStyle/>
          <a:p>
            <a:pPr indent="0" marL="0">
              <a:buNone/>
            </a:pPr>
            <a:r>
              <a:rPr lang="en-US" sz="950" dirty="0">
                <a:solidFill>
                  <a:srgbClr val="525866"/>
                </a:solidFill>
                <a:latin typeface="Consolas" pitchFamily="34" charset="0"/>
                <a:ea typeface="Consolas" pitchFamily="34" charset="-122"/>
                <a:cs typeface="Consolas" pitchFamily="34" charset="-120"/>
              </a:rPr>
              <a:t>https://shop.example/checkout</a:t>
            </a:r>
            <a:endParaRPr lang="en-US" sz="950" dirty="0"/>
          </a:p>
        </p:txBody>
      </p:sp>
      <p:sp>
        <p:nvSpPr>
          <p:cNvPr id="9" name="Text 6"/>
          <p:cNvSpPr txBox="1"/>
          <p:nvPr/>
        </p:nvSpPr>
        <p:spPr>
          <a:xfrm>
            <a:off x="777240" y="2514600"/>
            <a:ext cx="2926080" cy="228600"/>
          </a:xfrm>
          <a:prstGeom prst="rect">
            <a:avLst/>
          </a:prstGeom>
          <a:noFill/>
          <a:ln/>
        </p:spPr>
        <p:txBody>
          <a:bodyPr wrap="square" lIns="0" tIns="0" rIns="0" bIns="0" rtlCol="0" anchor="t"/>
          <a:lstStyle/>
          <a:p>
            <a:pPr algn="ctr" indent="0" marL="0">
              <a:buNone/>
            </a:pPr>
            <a:r>
              <a:rPr lang="en-US" sz="900" dirty="0">
                <a:solidFill>
                  <a:srgbClr val="525866"/>
                </a:solidFill>
                <a:latin typeface="Calibri" pitchFamily="34" charset="0"/>
                <a:ea typeface="Calibri" pitchFamily="34" charset="-122"/>
                <a:cs typeface="Calibri" pitchFamily="34" charset="-120"/>
              </a:rPr>
              <a:t>— or —</a:t>
            </a:r>
            <a:endParaRPr lang="en-US" sz="900" dirty="0"/>
          </a:p>
        </p:txBody>
      </p:sp>
      <p:sp>
        <p:nvSpPr>
          <p:cNvPr id="10" name="Shape 7"/>
          <p:cNvSpPr/>
          <p:nvPr/>
        </p:nvSpPr>
        <p:spPr>
          <a:xfrm>
            <a:off x="777240" y="2834640"/>
            <a:ext cx="2926080" cy="2011680"/>
          </a:xfrm>
          <a:prstGeom prst="rect">
            <a:avLst/>
          </a:prstGeom>
          <a:solidFill>
            <a:srgbClr val="FFFFFF"/>
          </a:solidFill>
          <a:ln w="9525">
            <a:solidFill>
              <a:srgbClr val="E1E4E8"/>
            </a:solidFill>
            <a:prstDash val="dash"/>
          </a:ln>
        </p:spPr>
      </p:sp>
      <p:sp>
        <p:nvSpPr>
          <p:cNvPr id="11" name="Text 8"/>
          <p:cNvSpPr txBox="1"/>
          <p:nvPr/>
        </p:nvSpPr>
        <p:spPr>
          <a:xfrm>
            <a:off x="777240" y="2834640"/>
            <a:ext cx="2926080" cy="2011680"/>
          </a:xfrm>
          <a:prstGeom prst="rect">
            <a:avLst/>
          </a:prstGeom>
          <a:noFill/>
          <a:ln/>
        </p:spPr>
        <p:txBody>
          <a:bodyPr wrap="square" lIns="0" tIns="0" rIns="0" bIns="0" rtlCol="0" anchor="ctr"/>
          <a:lstStyle/>
          <a:p>
            <a:pPr algn="ctr" indent="0" marL="0">
              <a:buNone/>
            </a:pPr>
            <a:r>
              <a:rPr lang="en-US" sz="1300" dirty="0">
                <a:solidFill>
                  <a:srgbClr val="525866"/>
                </a:solidFill>
                <a:latin typeface="Calibri" pitchFamily="34" charset="0"/>
                <a:ea typeface="Calibri" pitchFamily="34" charset="-122"/>
                <a:cs typeface="Calibri" pitchFamily="34" charset="-120"/>
              </a:rPr>
              <a:t>Raw screenshot</a:t>
            </a:r>
            <a:endParaRPr lang="en-US" sz="1300" dirty="0"/>
          </a:p>
          <a:p>
            <a:pPr algn="ctr" indent="0" marL="0">
              <a:buNone/>
            </a:pPr>
            <a:r>
              <a:rPr lang="en-US" sz="1300" dirty="0">
                <a:solidFill>
                  <a:srgbClr val="525866"/>
                </a:solidFill>
                <a:latin typeface="Calibri" pitchFamily="34" charset="0"/>
                <a:ea typeface="Calibri" pitchFamily="34" charset="-122"/>
                <a:cs typeface="Calibri" pitchFamily="34" charset="-120"/>
              </a:rPr>
              <a:t>PNG / JPG</a:t>
            </a:r>
            <a:endParaRPr lang="en-US" sz="1300" dirty="0"/>
          </a:p>
        </p:txBody>
      </p:sp>
      <p:sp>
        <p:nvSpPr>
          <p:cNvPr id="12" name="Text 9"/>
          <p:cNvSpPr txBox="1"/>
          <p:nvPr/>
        </p:nvSpPr>
        <p:spPr>
          <a:xfrm>
            <a:off x="777240" y="5074920"/>
            <a:ext cx="2926080" cy="548640"/>
          </a:xfrm>
          <a:prstGeom prst="rect">
            <a:avLst/>
          </a:prstGeom>
          <a:noFill/>
          <a:ln/>
        </p:spPr>
        <p:txBody>
          <a:bodyPr wrap="square" lIns="0" tIns="0" rIns="0" bIns="0" rtlCol="0" anchor="t"/>
          <a:lstStyle/>
          <a:p>
            <a:pPr indent="0" marL="0">
              <a:buNone/>
            </a:pPr>
            <a:r>
              <a:rPr lang="en-US" sz="1100" i="1" dirty="0">
                <a:solidFill>
                  <a:srgbClr val="525866"/>
                </a:solidFill>
                <a:latin typeface="Calibri" pitchFamily="34" charset="0"/>
                <a:ea typeface="Calibri" pitchFamily="34" charset="-122"/>
                <a:cs typeface="Calibri" pitchFamily="34" charset="-120"/>
              </a:rPr>
              <a:t>Unlabelled, untrusted, any viewport.</a:t>
            </a:r>
            <a:endParaRPr lang="en-US" sz="1100" dirty="0"/>
          </a:p>
        </p:txBody>
      </p:sp>
      <p:sp>
        <p:nvSpPr>
          <p:cNvPr id="13" name="Shape 10"/>
          <p:cNvSpPr/>
          <p:nvPr/>
        </p:nvSpPr>
        <p:spPr>
          <a:xfrm>
            <a:off x="4389120" y="1554480"/>
            <a:ext cx="3383280" cy="4389120"/>
          </a:xfrm>
          <a:prstGeom prst="rect">
            <a:avLst/>
          </a:prstGeom>
          <a:solidFill>
            <a:srgbClr val="1C1E21"/>
          </a:solidFill>
          <a:ln w="9525">
            <a:solidFill>
              <a:srgbClr val="1C1E21"/>
            </a:solidFill>
            <a:prstDash val="solid"/>
          </a:ln>
        </p:spPr>
      </p:sp>
      <p:sp>
        <p:nvSpPr>
          <p:cNvPr id="14" name="Text 11"/>
          <p:cNvSpPr txBox="1"/>
          <p:nvPr/>
        </p:nvSpPr>
        <p:spPr>
          <a:xfrm>
            <a:off x="4617720" y="1737360"/>
            <a:ext cx="2926080" cy="182880"/>
          </a:xfrm>
          <a:prstGeom prst="rect">
            <a:avLst/>
          </a:prstGeom>
          <a:noFill/>
          <a:ln/>
        </p:spPr>
        <p:txBody>
          <a:bodyPr wrap="square" lIns="0" tIns="0" rIns="0" bIns="0" rtlCol="0" anchor="t"/>
          <a:lstStyle/>
          <a:p>
            <a:pPr indent="0" marL="0">
              <a:buNone/>
            </a:pPr>
            <a:r>
              <a:rPr lang="en-US" sz="900" b="1" spc="250" kern="0" dirty="0">
                <a:solidFill>
                  <a:srgbClr val="E8590C"/>
                </a:solidFill>
                <a:latin typeface="Calibri" pitchFamily="34" charset="0"/>
                <a:ea typeface="Calibri" pitchFamily="34" charset="-122"/>
                <a:cs typeface="Calibri" pitchFamily="34" charset="-120"/>
              </a:rPr>
              <a:t>MULTI-STAGE INFERENCE ENGINE</a:t>
            </a:r>
            <a:endParaRPr lang="en-US" sz="900" dirty="0"/>
          </a:p>
        </p:txBody>
      </p:sp>
      <p:sp>
        <p:nvSpPr>
          <p:cNvPr id="15" name="Shape 12"/>
          <p:cNvSpPr/>
          <p:nvPr/>
        </p:nvSpPr>
        <p:spPr>
          <a:xfrm>
            <a:off x="4617720" y="2148840"/>
            <a:ext cx="2926080" cy="685800"/>
          </a:xfrm>
          <a:prstGeom prst="rect">
            <a:avLst/>
          </a:prstGeom>
          <a:solidFill>
            <a:srgbClr val="181B21"/>
          </a:solidFill>
          <a:ln w="9525">
            <a:solidFill>
              <a:srgbClr val="2A2F38"/>
            </a:solidFill>
            <a:prstDash val="solid"/>
          </a:ln>
        </p:spPr>
      </p:sp>
      <p:sp>
        <p:nvSpPr>
          <p:cNvPr id="16" name="Text 13"/>
          <p:cNvSpPr txBox="1"/>
          <p:nvPr/>
        </p:nvSpPr>
        <p:spPr>
          <a:xfrm>
            <a:off x="4754880" y="2148840"/>
            <a:ext cx="365760" cy="685800"/>
          </a:xfrm>
          <a:prstGeom prst="rect">
            <a:avLst/>
          </a:prstGeom>
          <a:noFill/>
          <a:ln/>
        </p:spPr>
        <p:txBody>
          <a:bodyPr wrap="square" lIns="0" tIns="0" rIns="0" bIns="0" rtlCol="0" anchor="ctr"/>
          <a:lstStyle/>
          <a:p>
            <a:pPr indent="0" marL="0">
              <a:buNone/>
            </a:pPr>
            <a:r>
              <a:rPr lang="en-US" sz="2000" b="1" dirty="0">
                <a:solidFill>
                  <a:srgbClr val="C92A2A"/>
                </a:solidFill>
                <a:latin typeface="Georgia" pitchFamily="34" charset="0"/>
                <a:ea typeface="Georgia" pitchFamily="34" charset="-122"/>
                <a:cs typeface="Georgia" pitchFamily="34" charset="-120"/>
              </a:rPr>
              <a:t>1</a:t>
            </a:r>
            <a:endParaRPr lang="en-US" sz="2000" dirty="0"/>
          </a:p>
        </p:txBody>
      </p:sp>
      <p:sp>
        <p:nvSpPr>
          <p:cNvPr id="17" name="Text 14"/>
          <p:cNvSpPr txBox="1"/>
          <p:nvPr/>
        </p:nvSpPr>
        <p:spPr>
          <a:xfrm>
            <a:off x="5166360" y="2148840"/>
            <a:ext cx="219456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Rubric-guided VLM detector</a:t>
            </a:r>
            <a:endParaRPr lang="en-US" sz="1250" dirty="0"/>
          </a:p>
        </p:txBody>
      </p:sp>
      <p:sp>
        <p:nvSpPr>
          <p:cNvPr id="18" name="Shape 15"/>
          <p:cNvSpPr/>
          <p:nvPr/>
        </p:nvSpPr>
        <p:spPr>
          <a:xfrm>
            <a:off x="4617720" y="3017520"/>
            <a:ext cx="2926080" cy="685800"/>
          </a:xfrm>
          <a:prstGeom prst="rect">
            <a:avLst/>
          </a:prstGeom>
          <a:solidFill>
            <a:srgbClr val="181B21"/>
          </a:solidFill>
          <a:ln w="9525">
            <a:solidFill>
              <a:srgbClr val="2A2F38"/>
            </a:solidFill>
            <a:prstDash val="solid"/>
          </a:ln>
        </p:spPr>
      </p:sp>
      <p:sp>
        <p:nvSpPr>
          <p:cNvPr id="19" name="Text 16"/>
          <p:cNvSpPr txBox="1"/>
          <p:nvPr/>
        </p:nvSpPr>
        <p:spPr>
          <a:xfrm>
            <a:off x="4754880" y="3017520"/>
            <a:ext cx="365760" cy="685800"/>
          </a:xfrm>
          <a:prstGeom prst="rect">
            <a:avLst/>
          </a:prstGeom>
          <a:noFill/>
          <a:ln/>
        </p:spPr>
        <p:txBody>
          <a:bodyPr wrap="square" lIns="0" tIns="0" rIns="0" bIns="0" rtlCol="0" anchor="ctr"/>
          <a:lstStyle/>
          <a:p>
            <a:pPr indent="0" marL="0">
              <a:buNone/>
            </a:pPr>
            <a:r>
              <a:rPr lang="en-US" sz="2000" b="1" dirty="0">
                <a:solidFill>
                  <a:srgbClr val="C92A2A"/>
                </a:solidFill>
                <a:latin typeface="Georgia" pitchFamily="34" charset="0"/>
                <a:ea typeface="Georgia" pitchFamily="34" charset="-122"/>
                <a:cs typeface="Georgia" pitchFamily="34" charset="-120"/>
              </a:rPr>
              <a:t>2</a:t>
            </a:r>
            <a:endParaRPr lang="en-US" sz="2000" dirty="0"/>
          </a:p>
        </p:txBody>
      </p:sp>
      <p:sp>
        <p:nvSpPr>
          <p:cNvPr id="20" name="Text 17"/>
          <p:cNvSpPr txBox="1"/>
          <p:nvPr/>
        </p:nvSpPr>
        <p:spPr>
          <a:xfrm>
            <a:off x="5166360" y="3017520"/>
            <a:ext cx="219456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Adversarial verifier</a:t>
            </a:r>
            <a:endParaRPr lang="en-US" sz="1250" dirty="0"/>
          </a:p>
        </p:txBody>
      </p:sp>
      <p:sp>
        <p:nvSpPr>
          <p:cNvPr id="21" name="Shape 18"/>
          <p:cNvSpPr/>
          <p:nvPr/>
        </p:nvSpPr>
        <p:spPr>
          <a:xfrm>
            <a:off x="4617720" y="3886200"/>
            <a:ext cx="2926080" cy="685800"/>
          </a:xfrm>
          <a:prstGeom prst="rect">
            <a:avLst/>
          </a:prstGeom>
          <a:solidFill>
            <a:srgbClr val="181B21"/>
          </a:solidFill>
          <a:ln w="9525">
            <a:solidFill>
              <a:srgbClr val="2A2F38"/>
            </a:solidFill>
            <a:prstDash val="solid"/>
          </a:ln>
        </p:spPr>
      </p:sp>
      <p:sp>
        <p:nvSpPr>
          <p:cNvPr id="22" name="Text 19"/>
          <p:cNvSpPr txBox="1"/>
          <p:nvPr/>
        </p:nvSpPr>
        <p:spPr>
          <a:xfrm>
            <a:off x="4754880" y="3886200"/>
            <a:ext cx="365760" cy="685800"/>
          </a:xfrm>
          <a:prstGeom prst="rect">
            <a:avLst/>
          </a:prstGeom>
          <a:noFill/>
          <a:ln/>
        </p:spPr>
        <p:txBody>
          <a:bodyPr wrap="square" lIns="0" tIns="0" rIns="0" bIns="0" rtlCol="0" anchor="ctr"/>
          <a:lstStyle/>
          <a:p>
            <a:pPr indent="0" marL="0">
              <a:buNone/>
            </a:pPr>
            <a:r>
              <a:rPr lang="en-US" sz="2000" b="1" dirty="0">
                <a:solidFill>
                  <a:srgbClr val="C92A2A"/>
                </a:solidFill>
                <a:latin typeface="Georgia" pitchFamily="34" charset="0"/>
                <a:ea typeface="Georgia" pitchFamily="34" charset="-122"/>
                <a:cs typeface="Georgia" pitchFamily="34" charset="-120"/>
              </a:rPr>
              <a:t>3</a:t>
            </a:r>
            <a:endParaRPr lang="en-US" sz="2000" dirty="0"/>
          </a:p>
        </p:txBody>
      </p:sp>
      <p:sp>
        <p:nvSpPr>
          <p:cNvPr id="23" name="Text 20"/>
          <p:cNvSpPr txBox="1"/>
          <p:nvPr/>
        </p:nvSpPr>
        <p:spPr>
          <a:xfrm>
            <a:off x="5166360" y="3886200"/>
            <a:ext cx="219456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DOM signal corroborator</a:t>
            </a:r>
            <a:endParaRPr lang="en-US" sz="1250" dirty="0"/>
          </a:p>
        </p:txBody>
      </p:sp>
      <p:sp>
        <p:nvSpPr>
          <p:cNvPr id="24" name="Shape 21"/>
          <p:cNvSpPr/>
          <p:nvPr/>
        </p:nvSpPr>
        <p:spPr>
          <a:xfrm>
            <a:off x="4617720" y="4754880"/>
            <a:ext cx="2926080" cy="685800"/>
          </a:xfrm>
          <a:prstGeom prst="rect">
            <a:avLst/>
          </a:prstGeom>
          <a:solidFill>
            <a:srgbClr val="181B21"/>
          </a:solidFill>
          <a:ln w="9525">
            <a:solidFill>
              <a:srgbClr val="2A2F38"/>
            </a:solidFill>
            <a:prstDash val="solid"/>
          </a:ln>
        </p:spPr>
      </p:sp>
      <p:sp>
        <p:nvSpPr>
          <p:cNvPr id="25" name="Text 22"/>
          <p:cNvSpPr txBox="1"/>
          <p:nvPr/>
        </p:nvSpPr>
        <p:spPr>
          <a:xfrm>
            <a:off x="4754880" y="4754880"/>
            <a:ext cx="365760" cy="685800"/>
          </a:xfrm>
          <a:prstGeom prst="rect">
            <a:avLst/>
          </a:prstGeom>
          <a:noFill/>
          <a:ln/>
        </p:spPr>
        <p:txBody>
          <a:bodyPr wrap="square" lIns="0" tIns="0" rIns="0" bIns="0" rtlCol="0" anchor="ctr"/>
          <a:lstStyle/>
          <a:p>
            <a:pPr indent="0" marL="0">
              <a:buNone/>
            </a:pPr>
            <a:r>
              <a:rPr lang="en-US" sz="2000" b="1" dirty="0">
                <a:solidFill>
                  <a:srgbClr val="C92A2A"/>
                </a:solidFill>
                <a:latin typeface="Georgia" pitchFamily="34" charset="0"/>
                <a:ea typeface="Georgia" pitchFamily="34" charset="-122"/>
                <a:cs typeface="Georgia" pitchFamily="34" charset="-120"/>
              </a:rPr>
              <a:t>4</a:t>
            </a:r>
            <a:endParaRPr lang="en-US" sz="2000" dirty="0"/>
          </a:p>
        </p:txBody>
      </p:sp>
      <p:sp>
        <p:nvSpPr>
          <p:cNvPr id="26" name="Text 23"/>
          <p:cNvSpPr txBox="1"/>
          <p:nvPr/>
        </p:nvSpPr>
        <p:spPr>
          <a:xfrm>
            <a:off x="5166360" y="4754880"/>
            <a:ext cx="219456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Honest remediation generator</a:t>
            </a:r>
            <a:endParaRPr lang="en-US" sz="1250" dirty="0"/>
          </a:p>
        </p:txBody>
      </p:sp>
      <p:sp>
        <p:nvSpPr>
          <p:cNvPr id="27" name="Shape 24"/>
          <p:cNvSpPr/>
          <p:nvPr/>
        </p:nvSpPr>
        <p:spPr>
          <a:xfrm>
            <a:off x="8229600" y="1554480"/>
            <a:ext cx="3383280" cy="4389120"/>
          </a:xfrm>
          <a:prstGeom prst="rect">
            <a:avLst/>
          </a:prstGeom>
          <a:solidFill>
            <a:srgbClr val="F1F3F5"/>
          </a:solidFill>
          <a:ln w="9525">
            <a:solidFill>
              <a:srgbClr val="E1E4E8"/>
            </a:solidFill>
            <a:prstDash val="solid"/>
          </a:ln>
        </p:spPr>
      </p:sp>
      <p:sp>
        <p:nvSpPr>
          <p:cNvPr id="28" name="Shape 25"/>
          <p:cNvSpPr/>
          <p:nvPr/>
        </p:nvSpPr>
        <p:spPr>
          <a:xfrm>
            <a:off x="8229600" y="1554480"/>
            <a:ext cx="54864" cy="4389120"/>
          </a:xfrm>
          <a:prstGeom prst="rect">
            <a:avLst/>
          </a:prstGeom>
          <a:solidFill>
            <a:srgbClr val="2B8A3E"/>
          </a:solidFill>
          <a:ln w="12700">
            <a:solidFill>
              <a:srgbClr val="2B8A3E"/>
            </a:solidFill>
            <a:prstDash val="solid"/>
          </a:ln>
        </p:spPr>
      </p:sp>
      <p:sp>
        <p:nvSpPr>
          <p:cNvPr id="29" name="Text 26"/>
          <p:cNvSpPr txBox="1"/>
          <p:nvPr/>
        </p:nvSpPr>
        <p:spPr>
          <a:xfrm>
            <a:off x="8503920" y="1737360"/>
            <a:ext cx="2926080" cy="182880"/>
          </a:xfrm>
          <a:prstGeom prst="rect">
            <a:avLst/>
          </a:prstGeom>
          <a:noFill/>
          <a:ln/>
        </p:spPr>
        <p:txBody>
          <a:bodyPr wrap="square" lIns="0" tIns="0" rIns="0" bIns="0" rtlCol="0" anchor="t"/>
          <a:lstStyle/>
          <a:p>
            <a:pPr indent="0" marL="0">
              <a:buNone/>
            </a:pPr>
            <a:r>
              <a:rPr lang="en-US" sz="900" b="1" spc="250" kern="0" dirty="0">
                <a:solidFill>
                  <a:srgbClr val="2B8A3E"/>
                </a:solidFill>
                <a:latin typeface="Calibri" pitchFamily="34" charset="0"/>
                <a:ea typeface="Calibri" pitchFamily="34" charset="-122"/>
                <a:cs typeface="Calibri" pitchFamily="34" charset="-120"/>
              </a:rPr>
              <a:t>CCPA STATUTORY AUDIT &amp; REDESIGN</a:t>
            </a:r>
            <a:endParaRPr lang="en-US" sz="900" dirty="0"/>
          </a:p>
        </p:txBody>
      </p:sp>
      <p:sp>
        <p:nvSpPr>
          <p:cNvPr id="30" name="Shape 27"/>
          <p:cNvSpPr/>
          <p:nvPr/>
        </p:nvSpPr>
        <p:spPr>
          <a:xfrm>
            <a:off x="8503920" y="2148840"/>
            <a:ext cx="2880360" cy="777240"/>
          </a:xfrm>
          <a:prstGeom prst="rect">
            <a:avLst/>
          </a:prstGeom>
          <a:solidFill>
            <a:srgbClr val="FFFFFF"/>
          </a:solidFill>
          <a:ln w="9525">
            <a:solidFill>
              <a:srgbClr val="E1E4E8"/>
            </a:solidFill>
            <a:prstDash val="solid"/>
          </a:ln>
        </p:spPr>
      </p:sp>
      <p:sp>
        <p:nvSpPr>
          <p:cNvPr id="31" name="Text 28"/>
          <p:cNvSpPr txBox="1"/>
          <p:nvPr/>
        </p:nvSpPr>
        <p:spPr>
          <a:xfrm>
            <a:off x="8641080" y="2240280"/>
            <a:ext cx="1828800" cy="274320"/>
          </a:xfrm>
          <a:prstGeom prst="rect">
            <a:avLst/>
          </a:prstGeom>
          <a:noFill/>
          <a:ln/>
        </p:spPr>
        <p:txBody>
          <a:bodyPr wrap="square" lIns="0" tIns="0" rIns="0" bIns="0" rtlCol="0" anchor="t"/>
          <a:lstStyle/>
          <a:p>
            <a:pPr indent="0" marL="0">
              <a:buNone/>
            </a:pPr>
            <a:r>
              <a:rPr lang="en-US" sz="1250" b="1" dirty="0">
                <a:solidFill>
                  <a:srgbClr val="1C1E21"/>
                </a:solidFill>
                <a:latin typeface="Calibri" pitchFamily="34" charset="0"/>
                <a:ea typeface="Calibri" pitchFamily="34" charset="-122"/>
                <a:cs typeface="Calibri" pitchFamily="34" charset="-120"/>
              </a:rPr>
              <a:t>False Urgency</a:t>
            </a:r>
            <a:endParaRPr lang="en-US" sz="1250" dirty="0"/>
          </a:p>
        </p:txBody>
      </p:sp>
      <p:sp>
        <p:nvSpPr>
          <p:cNvPr id="32" name="Shape 29"/>
          <p:cNvSpPr/>
          <p:nvPr/>
        </p:nvSpPr>
        <p:spPr>
          <a:xfrm>
            <a:off x="10561320" y="2258568"/>
            <a:ext cx="640080" cy="256032"/>
          </a:xfrm>
          <a:prstGeom prst="roundRect">
            <a:avLst>
              <a:gd name="adj" fmla="val 21429"/>
            </a:avLst>
          </a:prstGeom>
          <a:solidFill>
            <a:srgbClr val="C92A2A"/>
          </a:solidFill>
          <a:ln w="12700">
            <a:solidFill>
              <a:srgbClr val="C92A2A"/>
            </a:solidFill>
            <a:prstDash val="solid"/>
          </a:ln>
        </p:spPr>
      </p:sp>
      <p:sp>
        <p:nvSpPr>
          <p:cNvPr id="33" name="Text 30"/>
          <p:cNvSpPr txBox="1"/>
          <p:nvPr/>
        </p:nvSpPr>
        <p:spPr>
          <a:xfrm>
            <a:off x="10561320" y="2258568"/>
            <a:ext cx="6400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HIGH</a:t>
            </a:r>
            <a:endParaRPr lang="en-US" sz="800" dirty="0"/>
          </a:p>
        </p:txBody>
      </p:sp>
      <p:sp>
        <p:nvSpPr>
          <p:cNvPr id="34" name="Text 31"/>
          <p:cNvSpPr txBox="1"/>
          <p:nvPr/>
        </p:nvSpPr>
        <p:spPr>
          <a:xfrm>
            <a:off x="8641080" y="2560320"/>
            <a:ext cx="2743200" cy="274320"/>
          </a:xfrm>
          <a:prstGeom prst="rect">
            <a:avLst/>
          </a:prstGeom>
          <a:noFill/>
          <a:ln/>
        </p:spPr>
        <p:txBody>
          <a:bodyPr wrap="square" lIns="0" tIns="0" rIns="0" bIns="0" rtlCol="0" anchor="t"/>
          <a:lstStyle/>
          <a:p>
            <a:pPr indent="0" marL="0">
              <a:buNone/>
            </a:pPr>
            <a:r>
              <a:rPr lang="en-US" sz="950" dirty="0">
                <a:solidFill>
                  <a:srgbClr val="525866"/>
                </a:solidFill>
                <a:latin typeface="Consolas" pitchFamily="34" charset="0"/>
                <a:ea typeface="Consolas" pitchFamily="34" charset="-122"/>
                <a:cs typeface="Consolas" pitchFamily="34" charset="-120"/>
              </a:rPr>
              <a:t>box · quote · statute · honest rewrite</a:t>
            </a:r>
            <a:endParaRPr lang="en-US" sz="950" dirty="0"/>
          </a:p>
        </p:txBody>
      </p:sp>
      <p:sp>
        <p:nvSpPr>
          <p:cNvPr id="35" name="Shape 32"/>
          <p:cNvSpPr/>
          <p:nvPr/>
        </p:nvSpPr>
        <p:spPr>
          <a:xfrm>
            <a:off x="8503920" y="3063240"/>
            <a:ext cx="2880360" cy="777240"/>
          </a:xfrm>
          <a:prstGeom prst="rect">
            <a:avLst/>
          </a:prstGeom>
          <a:solidFill>
            <a:srgbClr val="FFFFFF"/>
          </a:solidFill>
          <a:ln w="9525">
            <a:solidFill>
              <a:srgbClr val="E1E4E8"/>
            </a:solidFill>
            <a:prstDash val="solid"/>
          </a:ln>
        </p:spPr>
      </p:sp>
      <p:sp>
        <p:nvSpPr>
          <p:cNvPr id="36" name="Text 33"/>
          <p:cNvSpPr txBox="1"/>
          <p:nvPr/>
        </p:nvSpPr>
        <p:spPr>
          <a:xfrm>
            <a:off x="8641080" y="3154680"/>
            <a:ext cx="1828800" cy="274320"/>
          </a:xfrm>
          <a:prstGeom prst="rect">
            <a:avLst/>
          </a:prstGeom>
          <a:noFill/>
          <a:ln/>
        </p:spPr>
        <p:txBody>
          <a:bodyPr wrap="square" lIns="0" tIns="0" rIns="0" bIns="0" rtlCol="0" anchor="t"/>
          <a:lstStyle/>
          <a:p>
            <a:pPr indent="0" marL="0">
              <a:buNone/>
            </a:pPr>
            <a:r>
              <a:rPr lang="en-US" sz="1250" b="1" dirty="0">
                <a:solidFill>
                  <a:srgbClr val="1C1E21"/>
                </a:solidFill>
                <a:latin typeface="Calibri" pitchFamily="34" charset="0"/>
                <a:ea typeface="Calibri" pitchFamily="34" charset="-122"/>
                <a:cs typeface="Calibri" pitchFamily="34" charset="-120"/>
              </a:rPr>
              <a:t>Confirm Shaming</a:t>
            </a:r>
            <a:endParaRPr lang="en-US" sz="1250" dirty="0"/>
          </a:p>
        </p:txBody>
      </p:sp>
      <p:sp>
        <p:nvSpPr>
          <p:cNvPr id="37" name="Shape 34"/>
          <p:cNvSpPr/>
          <p:nvPr/>
        </p:nvSpPr>
        <p:spPr>
          <a:xfrm>
            <a:off x="10561320" y="3172968"/>
            <a:ext cx="640080" cy="256032"/>
          </a:xfrm>
          <a:prstGeom prst="roundRect">
            <a:avLst>
              <a:gd name="adj" fmla="val 21429"/>
            </a:avLst>
          </a:prstGeom>
          <a:solidFill>
            <a:srgbClr val="D9730D"/>
          </a:solidFill>
          <a:ln w="12700">
            <a:solidFill>
              <a:srgbClr val="D9730D"/>
            </a:solidFill>
            <a:prstDash val="solid"/>
          </a:ln>
        </p:spPr>
      </p:sp>
      <p:sp>
        <p:nvSpPr>
          <p:cNvPr id="38" name="Text 35"/>
          <p:cNvSpPr txBox="1"/>
          <p:nvPr/>
        </p:nvSpPr>
        <p:spPr>
          <a:xfrm>
            <a:off x="10561320" y="3172968"/>
            <a:ext cx="6400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MED</a:t>
            </a:r>
            <a:endParaRPr lang="en-US" sz="800" dirty="0"/>
          </a:p>
        </p:txBody>
      </p:sp>
      <p:sp>
        <p:nvSpPr>
          <p:cNvPr id="39" name="Text 36"/>
          <p:cNvSpPr txBox="1"/>
          <p:nvPr/>
        </p:nvSpPr>
        <p:spPr>
          <a:xfrm>
            <a:off x="8641080" y="3474720"/>
            <a:ext cx="2743200" cy="274320"/>
          </a:xfrm>
          <a:prstGeom prst="rect">
            <a:avLst/>
          </a:prstGeom>
          <a:noFill/>
          <a:ln/>
        </p:spPr>
        <p:txBody>
          <a:bodyPr wrap="square" lIns="0" tIns="0" rIns="0" bIns="0" rtlCol="0" anchor="t"/>
          <a:lstStyle/>
          <a:p>
            <a:pPr indent="0" marL="0">
              <a:buNone/>
            </a:pPr>
            <a:r>
              <a:rPr lang="en-US" sz="950" dirty="0">
                <a:solidFill>
                  <a:srgbClr val="525866"/>
                </a:solidFill>
                <a:latin typeface="Consolas" pitchFamily="34" charset="0"/>
                <a:ea typeface="Consolas" pitchFamily="34" charset="-122"/>
                <a:cs typeface="Consolas" pitchFamily="34" charset="-120"/>
              </a:rPr>
              <a:t>box · quote · statute · honest rewrite</a:t>
            </a:r>
            <a:endParaRPr lang="en-US" sz="950" dirty="0"/>
          </a:p>
        </p:txBody>
      </p:sp>
      <p:sp>
        <p:nvSpPr>
          <p:cNvPr id="40" name="Shape 37"/>
          <p:cNvSpPr/>
          <p:nvPr/>
        </p:nvSpPr>
        <p:spPr>
          <a:xfrm>
            <a:off x="8503920" y="3977640"/>
            <a:ext cx="2880360" cy="777240"/>
          </a:xfrm>
          <a:prstGeom prst="rect">
            <a:avLst/>
          </a:prstGeom>
          <a:solidFill>
            <a:srgbClr val="FFFFFF"/>
          </a:solidFill>
          <a:ln w="9525">
            <a:solidFill>
              <a:srgbClr val="E1E4E8"/>
            </a:solidFill>
            <a:prstDash val="solid"/>
          </a:ln>
        </p:spPr>
      </p:sp>
      <p:sp>
        <p:nvSpPr>
          <p:cNvPr id="41" name="Text 38"/>
          <p:cNvSpPr txBox="1"/>
          <p:nvPr/>
        </p:nvSpPr>
        <p:spPr>
          <a:xfrm>
            <a:off x="8641080" y="4069080"/>
            <a:ext cx="1828800" cy="274320"/>
          </a:xfrm>
          <a:prstGeom prst="rect">
            <a:avLst/>
          </a:prstGeom>
          <a:noFill/>
          <a:ln/>
        </p:spPr>
        <p:txBody>
          <a:bodyPr wrap="square" lIns="0" tIns="0" rIns="0" bIns="0" rtlCol="0" anchor="t"/>
          <a:lstStyle/>
          <a:p>
            <a:pPr indent="0" marL="0">
              <a:buNone/>
            </a:pPr>
            <a:r>
              <a:rPr lang="en-US" sz="1250" b="1" dirty="0">
                <a:solidFill>
                  <a:srgbClr val="1C1E21"/>
                </a:solidFill>
                <a:latin typeface="Calibri" pitchFamily="34" charset="0"/>
                <a:ea typeface="Calibri" pitchFamily="34" charset="-122"/>
                <a:cs typeface="Calibri" pitchFamily="34" charset="-120"/>
              </a:rPr>
              <a:t>Basket Sneaking</a:t>
            </a:r>
            <a:endParaRPr lang="en-US" sz="1250" dirty="0"/>
          </a:p>
        </p:txBody>
      </p:sp>
      <p:sp>
        <p:nvSpPr>
          <p:cNvPr id="42" name="Shape 39"/>
          <p:cNvSpPr/>
          <p:nvPr/>
        </p:nvSpPr>
        <p:spPr>
          <a:xfrm>
            <a:off x="10561320" y="4087368"/>
            <a:ext cx="640080" cy="256032"/>
          </a:xfrm>
          <a:prstGeom prst="roundRect">
            <a:avLst>
              <a:gd name="adj" fmla="val 21429"/>
            </a:avLst>
          </a:prstGeom>
          <a:solidFill>
            <a:srgbClr val="C92A2A"/>
          </a:solidFill>
          <a:ln w="12700">
            <a:solidFill>
              <a:srgbClr val="C92A2A"/>
            </a:solidFill>
            <a:prstDash val="solid"/>
          </a:ln>
        </p:spPr>
      </p:sp>
      <p:sp>
        <p:nvSpPr>
          <p:cNvPr id="43" name="Text 40"/>
          <p:cNvSpPr txBox="1"/>
          <p:nvPr/>
        </p:nvSpPr>
        <p:spPr>
          <a:xfrm>
            <a:off x="10561320" y="4087368"/>
            <a:ext cx="6400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HIGH</a:t>
            </a:r>
            <a:endParaRPr lang="en-US" sz="800" dirty="0"/>
          </a:p>
        </p:txBody>
      </p:sp>
      <p:sp>
        <p:nvSpPr>
          <p:cNvPr id="44" name="Text 41"/>
          <p:cNvSpPr txBox="1"/>
          <p:nvPr/>
        </p:nvSpPr>
        <p:spPr>
          <a:xfrm>
            <a:off x="8641080" y="4389120"/>
            <a:ext cx="2743200" cy="274320"/>
          </a:xfrm>
          <a:prstGeom prst="rect">
            <a:avLst/>
          </a:prstGeom>
          <a:noFill/>
          <a:ln/>
        </p:spPr>
        <p:txBody>
          <a:bodyPr wrap="square" lIns="0" tIns="0" rIns="0" bIns="0" rtlCol="0" anchor="t"/>
          <a:lstStyle/>
          <a:p>
            <a:pPr indent="0" marL="0">
              <a:buNone/>
            </a:pPr>
            <a:r>
              <a:rPr lang="en-US" sz="950" dirty="0">
                <a:solidFill>
                  <a:srgbClr val="525866"/>
                </a:solidFill>
                <a:latin typeface="Consolas" pitchFamily="34" charset="0"/>
                <a:ea typeface="Consolas" pitchFamily="34" charset="-122"/>
                <a:cs typeface="Consolas" pitchFamily="34" charset="-120"/>
              </a:rPr>
              <a:t>box · quote · statute · honest rewrite</a:t>
            </a:r>
            <a:endParaRPr lang="en-US" sz="950" dirty="0"/>
          </a:p>
        </p:txBody>
      </p:sp>
      <p:sp>
        <p:nvSpPr>
          <p:cNvPr id="45" name="Text 42"/>
          <p:cNvSpPr txBox="1"/>
          <p:nvPr/>
        </p:nvSpPr>
        <p:spPr>
          <a:xfrm>
            <a:off x="8503920" y="5074920"/>
            <a:ext cx="2834640" cy="457200"/>
          </a:xfrm>
          <a:prstGeom prst="rect">
            <a:avLst/>
          </a:prstGeom>
          <a:noFill/>
          <a:ln/>
        </p:spPr>
        <p:txBody>
          <a:bodyPr wrap="square" lIns="0" tIns="0" rIns="0" bIns="0" rtlCol="0" anchor="t"/>
          <a:lstStyle/>
          <a:p>
            <a:pPr indent="0" marL="0">
              <a:buNone/>
            </a:pPr>
            <a:r>
              <a:rPr lang="en-US" sz="1100" i="1" dirty="0">
                <a:solidFill>
                  <a:srgbClr val="525866"/>
                </a:solidFill>
                <a:latin typeface="Calibri" pitchFamily="34" charset="0"/>
                <a:ea typeface="Calibri" pitchFamily="34" charset="-122"/>
                <a:cs typeface="Calibri" pitchFamily="34" charset="-120"/>
              </a:rPr>
              <a:t>Exportable as an annotated PDF.</a:t>
            </a:r>
            <a:endParaRPr lang="en-US" sz="1100" dirty="0"/>
          </a:p>
        </p:txBody>
      </p:sp>
      <p:sp>
        <p:nvSpPr>
          <p:cNvPr id="46" name="Shape 43"/>
          <p:cNvSpPr/>
          <p:nvPr/>
        </p:nvSpPr>
        <p:spPr>
          <a:xfrm>
            <a:off x="3977640" y="3566160"/>
            <a:ext cx="365760" cy="365760"/>
          </a:xfrm>
          <a:prstGeom prst="rightArrow">
            <a:avLst/>
          </a:prstGeom>
          <a:solidFill>
            <a:srgbClr val="C92A2A"/>
          </a:solidFill>
          <a:ln w="12700">
            <a:solidFill>
              <a:srgbClr val="C92A2A"/>
            </a:solidFill>
            <a:prstDash val="solid"/>
          </a:ln>
        </p:spPr>
      </p:sp>
      <p:sp>
        <p:nvSpPr>
          <p:cNvPr id="47" name="Shape 44"/>
          <p:cNvSpPr/>
          <p:nvPr/>
        </p:nvSpPr>
        <p:spPr>
          <a:xfrm>
            <a:off x="7818120" y="3566160"/>
            <a:ext cx="365760" cy="365760"/>
          </a:xfrm>
          <a:prstGeom prst="rightArrow">
            <a:avLst/>
          </a:prstGeom>
          <a:solidFill>
            <a:srgbClr val="C92A2A"/>
          </a:solidFill>
          <a:ln w="12700">
            <a:solidFill>
              <a:srgbClr val="C92A2A"/>
            </a:solidFill>
            <a:prstDash val="solid"/>
          </a:ln>
        </p:spPr>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 · SYSTEM DESIGN</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End-to-End System Architecture: Five Stages</a:t>
            </a:r>
            <a:endParaRPr lang="en-US" sz="2600" dirty="0"/>
          </a:p>
        </p:txBody>
      </p:sp>
      <p:sp>
        <p:nvSpPr>
          <p:cNvPr id="5" name="Shape 2"/>
          <p:cNvSpPr/>
          <p:nvPr/>
        </p:nvSpPr>
        <p:spPr>
          <a:xfrm>
            <a:off x="1600200" y="1828800"/>
            <a:ext cx="8961120" cy="0"/>
          </a:xfrm>
          <a:prstGeom prst="line">
            <a:avLst/>
          </a:prstGeom>
          <a:noFill/>
          <a:ln w="15875">
            <a:solidFill>
              <a:srgbClr val="1C1E21"/>
            </a:solidFill>
            <a:prstDash val="solid"/>
          </a:ln>
        </p:spPr>
      </p:sp>
      <p:sp>
        <p:nvSpPr>
          <p:cNvPr id="6" name="Shape 3"/>
          <p:cNvSpPr/>
          <p:nvPr/>
        </p:nvSpPr>
        <p:spPr>
          <a:xfrm>
            <a:off x="1417320" y="1645920"/>
            <a:ext cx="365760" cy="365760"/>
          </a:xfrm>
          <a:prstGeom prst="ellipse">
            <a:avLst/>
          </a:prstGeom>
          <a:solidFill>
            <a:srgbClr val="525866"/>
          </a:solidFill>
          <a:ln w="25400">
            <a:solidFill>
              <a:srgbClr val="F8F9FA"/>
            </a:solidFill>
            <a:prstDash val="solid"/>
          </a:ln>
        </p:spPr>
      </p:sp>
      <p:sp>
        <p:nvSpPr>
          <p:cNvPr id="7" name="Text 4"/>
          <p:cNvSpPr txBox="1"/>
          <p:nvPr/>
        </p:nvSpPr>
        <p:spPr>
          <a:xfrm>
            <a:off x="1417320" y="16459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548640" y="2194560"/>
            <a:ext cx="2103120" cy="3840480"/>
          </a:xfrm>
          <a:prstGeom prst="rect">
            <a:avLst/>
          </a:prstGeom>
          <a:solidFill>
            <a:srgbClr val="F1F3F5"/>
          </a:solidFill>
          <a:ln w="9525">
            <a:solidFill>
              <a:srgbClr val="E1E4E8"/>
            </a:solidFill>
            <a:prstDash val="solid"/>
          </a:ln>
        </p:spPr>
      </p:sp>
      <p:sp>
        <p:nvSpPr>
          <p:cNvPr id="9" name="Shape 6"/>
          <p:cNvSpPr/>
          <p:nvPr/>
        </p:nvSpPr>
        <p:spPr>
          <a:xfrm>
            <a:off x="548640" y="2194560"/>
            <a:ext cx="54864" cy="3840480"/>
          </a:xfrm>
          <a:prstGeom prst="rect">
            <a:avLst/>
          </a:prstGeom>
          <a:solidFill>
            <a:srgbClr val="525866"/>
          </a:solidFill>
          <a:ln w="12700">
            <a:solidFill>
              <a:srgbClr val="525866"/>
            </a:solidFill>
            <a:prstDash val="solid"/>
          </a:ln>
        </p:spPr>
      </p:sp>
      <p:sp>
        <p:nvSpPr>
          <p:cNvPr id="10" name="Text 7"/>
          <p:cNvSpPr txBox="1"/>
          <p:nvPr/>
        </p:nvSpPr>
        <p:spPr>
          <a:xfrm>
            <a:off x="749808" y="2359152"/>
            <a:ext cx="1828800" cy="182880"/>
          </a:xfrm>
          <a:prstGeom prst="rect">
            <a:avLst/>
          </a:prstGeom>
          <a:noFill/>
          <a:ln/>
        </p:spPr>
        <p:txBody>
          <a:bodyPr wrap="square" lIns="0" tIns="0" rIns="0" bIns="0" rtlCol="0" anchor="t"/>
          <a:lstStyle/>
          <a:p>
            <a:pPr indent="0" marL="0">
              <a:buNone/>
            </a:pPr>
            <a:r>
              <a:rPr lang="en-US" sz="850" b="1" spc="200" kern="0" dirty="0">
                <a:solidFill>
                  <a:srgbClr val="525866"/>
                </a:solidFill>
                <a:latin typeface="Calibri" pitchFamily="34" charset="0"/>
                <a:ea typeface="Calibri" pitchFamily="34" charset="-122"/>
                <a:cs typeface="Calibri" pitchFamily="34" charset="-120"/>
              </a:rPr>
              <a:t>STAGE 1</a:t>
            </a:r>
            <a:endParaRPr lang="en-US" sz="850" dirty="0"/>
          </a:p>
        </p:txBody>
      </p:sp>
      <p:sp>
        <p:nvSpPr>
          <p:cNvPr id="11" name="Text 8"/>
          <p:cNvSpPr txBox="1"/>
          <p:nvPr/>
        </p:nvSpPr>
        <p:spPr>
          <a:xfrm>
            <a:off x="749808" y="2606040"/>
            <a:ext cx="1783080" cy="731520"/>
          </a:xfrm>
          <a:prstGeom prst="rect">
            <a:avLst/>
          </a:prstGeom>
          <a:noFill/>
          <a:ln/>
        </p:spPr>
        <p:txBody>
          <a:bodyPr wrap="square" lIns="0" tIns="0" rIns="0" bIns="0" rtlCol="0" anchor="t"/>
          <a:lstStyle/>
          <a:p>
            <a:pPr indent="0" marL="0">
              <a:buNone/>
            </a:pPr>
            <a:r>
              <a:rPr lang="en-US" sz="1400" b="1" dirty="0">
                <a:solidFill>
                  <a:srgbClr val="1C1E21"/>
                </a:solidFill>
                <a:latin typeface="Georgia" pitchFamily="34" charset="0"/>
                <a:ea typeface="Georgia" pitchFamily="34" charset="-122"/>
                <a:cs typeface="Georgia" pitchFamily="34" charset="-120"/>
              </a:rPr>
              <a:t>Ingestion &amp; Imaging</a:t>
            </a:r>
            <a:endParaRPr lang="en-US" sz="1400" dirty="0"/>
          </a:p>
        </p:txBody>
      </p:sp>
      <p:sp>
        <p:nvSpPr>
          <p:cNvPr id="12" name="Text 9"/>
          <p:cNvSpPr txBox="1"/>
          <p:nvPr/>
        </p:nvSpPr>
        <p:spPr>
          <a:xfrm>
            <a:off x="749808" y="3383280"/>
            <a:ext cx="1737360" cy="192024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Playwright headless Chromium captures the page; Pillow performs aspect-preserving normalisation so layout is never distorted.</a:t>
            </a:r>
            <a:endParaRPr lang="en-US" sz="1050" dirty="0"/>
          </a:p>
        </p:txBody>
      </p:sp>
      <p:sp>
        <p:nvSpPr>
          <p:cNvPr id="13" name="Shape 10"/>
          <p:cNvSpPr/>
          <p:nvPr/>
        </p:nvSpPr>
        <p:spPr>
          <a:xfrm>
            <a:off x="749808" y="5532120"/>
            <a:ext cx="1700784" cy="256032"/>
          </a:xfrm>
          <a:prstGeom prst="roundRect">
            <a:avLst>
              <a:gd name="adj" fmla="val 21429"/>
            </a:avLst>
          </a:prstGeom>
          <a:solidFill>
            <a:srgbClr val="1C1E21"/>
          </a:solidFill>
          <a:ln w="12700">
            <a:solidFill>
              <a:srgbClr val="1C1E21"/>
            </a:solidFill>
            <a:prstDash val="solid"/>
          </a:ln>
        </p:spPr>
      </p:sp>
      <p:sp>
        <p:nvSpPr>
          <p:cNvPr id="14" name="Text 11"/>
          <p:cNvSpPr txBox="1"/>
          <p:nvPr/>
        </p:nvSpPr>
        <p:spPr>
          <a:xfrm>
            <a:off x="749808" y="5532120"/>
            <a:ext cx="1700784"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Playwright · PIL</a:t>
            </a:r>
            <a:endParaRPr lang="en-US" sz="800" dirty="0"/>
          </a:p>
        </p:txBody>
      </p:sp>
      <p:sp>
        <p:nvSpPr>
          <p:cNvPr id="15" name="Shape 12"/>
          <p:cNvSpPr/>
          <p:nvPr/>
        </p:nvSpPr>
        <p:spPr>
          <a:xfrm>
            <a:off x="3657600" y="1645920"/>
            <a:ext cx="365760" cy="365760"/>
          </a:xfrm>
          <a:prstGeom prst="ellipse">
            <a:avLst/>
          </a:prstGeom>
          <a:solidFill>
            <a:srgbClr val="C92A2A"/>
          </a:solidFill>
          <a:ln w="25400">
            <a:solidFill>
              <a:srgbClr val="F8F9FA"/>
            </a:solidFill>
            <a:prstDash val="solid"/>
          </a:ln>
        </p:spPr>
      </p:sp>
      <p:sp>
        <p:nvSpPr>
          <p:cNvPr id="16" name="Text 13"/>
          <p:cNvSpPr txBox="1"/>
          <p:nvPr/>
        </p:nvSpPr>
        <p:spPr>
          <a:xfrm>
            <a:off x="3657600" y="16459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Shape 14"/>
          <p:cNvSpPr/>
          <p:nvPr/>
        </p:nvSpPr>
        <p:spPr>
          <a:xfrm>
            <a:off x="2788920" y="2194560"/>
            <a:ext cx="2103120" cy="3840480"/>
          </a:xfrm>
          <a:prstGeom prst="rect">
            <a:avLst/>
          </a:prstGeom>
          <a:solidFill>
            <a:srgbClr val="F1F3F5"/>
          </a:solidFill>
          <a:ln w="9525">
            <a:solidFill>
              <a:srgbClr val="E1E4E8"/>
            </a:solidFill>
            <a:prstDash val="solid"/>
          </a:ln>
        </p:spPr>
      </p:sp>
      <p:sp>
        <p:nvSpPr>
          <p:cNvPr id="18" name="Shape 15"/>
          <p:cNvSpPr/>
          <p:nvPr/>
        </p:nvSpPr>
        <p:spPr>
          <a:xfrm>
            <a:off x="2788920" y="2194560"/>
            <a:ext cx="54864" cy="3840480"/>
          </a:xfrm>
          <a:prstGeom prst="rect">
            <a:avLst/>
          </a:prstGeom>
          <a:solidFill>
            <a:srgbClr val="C92A2A"/>
          </a:solidFill>
          <a:ln w="12700">
            <a:solidFill>
              <a:srgbClr val="C92A2A"/>
            </a:solidFill>
            <a:prstDash val="solid"/>
          </a:ln>
        </p:spPr>
      </p:sp>
      <p:sp>
        <p:nvSpPr>
          <p:cNvPr id="19" name="Text 16"/>
          <p:cNvSpPr txBox="1"/>
          <p:nvPr/>
        </p:nvSpPr>
        <p:spPr>
          <a:xfrm>
            <a:off x="2990088" y="2359152"/>
            <a:ext cx="1828800" cy="182880"/>
          </a:xfrm>
          <a:prstGeom prst="rect">
            <a:avLst/>
          </a:prstGeom>
          <a:noFill/>
          <a:ln/>
        </p:spPr>
        <p:txBody>
          <a:bodyPr wrap="square" lIns="0" tIns="0" rIns="0" bIns="0" rtlCol="0" anchor="t"/>
          <a:lstStyle/>
          <a:p>
            <a:pPr indent="0" marL="0">
              <a:buNone/>
            </a:pPr>
            <a:r>
              <a:rPr lang="en-US" sz="850" b="1" spc="200" kern="0" dirty="0">
                <a:solidFill>
                  <a:srgbClr val="C92A2A"/>
                </a:solidFill>
                <a:latin typeface="Calibri" pitchFamily="34" charset="0"/>
                <a:ea typeface="Calibri" pitchFamily="34" charset="-122"/>
                <a:cs typeface="Calibri" pitchFamily="34" charset="-120"/>
              </a:rPr>
              <a:t>STAGE 2</a:t>
            </a:r>
            <a:endParaRPr lang="en-US" sz="850" dirty="0"/>
          </a:p>
        </p:txBody>
      </p:sp>
      <p:sp>
        <p:nvSpPr>
          <p:cNvPr id="20" name="Text 17"/>
          <p:cNvSpPr txBox="1"/>
          <p:nvPr/>
        </p:nvSpPr>
        <p:spPr>
          <a:xfrm>
            <a:off x="2990088" y="2606040"/>
            <a:ext cx="1783080" cy="731520"/>
          </a:xfrm>
          <a:prstGeom prst="rect">
            <a:avLst/>
          </a:prstGeom>
          <a:noFill/>
          <a:ln/>
        </p:spPr>
        <p:txBody>
          <a:bodyPr wrap="square" lIns="0" tIns="0" rIns="0" bIns="0" rtlCol="0" anchor="t"/>
          <a:lstStyle/>
          <a:p>
            <a:pPr indent="0" marL="0">
              <a:buNone/>
            </a:pPr>
            <a:r>
              <a:rPr lang="en-US" sz="1400" b="1" dirty="0">
                <a:solidFill>
                  <a:srgbClr val="1C1E21"/>
                </a:solidFill>
                <a:latin typeface="Georgia" pitchFamily="34" charset="0"/>
                <a:ea typeface="Georgia" pitchFamily="34" charset="-122"/>
                <a:cs typeface="Georgia" pitchFamily="34" charset="-120"/>
              </a:rPr>
              <a:t>Rubric-Guided Detector</a:t>
            </a:r>
            <a:endParaRPr lang="en-US" sz="1400" dirty="0"/>
          </a:p>
        </p:txBody>
      </p:sp>
      <p:sp>
        <p:nvSpPr>
          <p:cNvPr id="21" name="Text 18"/>
          <p:cNvSpPr txBox="1"/>
          <p:nvPr/>
        </p:nvSpPr>
        <p:spPr>
          <a:xfrm>
            <a:off x="2990088" y="3383280"/>
            <a:ext cx="1737360" cy="192024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Vision pass guided by taxonomy rubrics with explicit inclusion and exclusion boundaries — beyond naive zero-shot.</a:t>
            </a:r>
            <a:endParaRPr lang="en-US" sz="1050" dirty="0"/>
          </a:p>
        </p:txBody>
      </p:sp>
      <p:sp>
        <p:nvSpPr>
          <p:cNvPr id="22" name="Shape 19"/>
          <p:cNvSpPr/>
          <p:nvPr/>
        </p:nvSpPr>
        <p:spPr>
          <a:xfrm>
            <a:off x="2990088" y="5532120"/>
            <a:ext cx="1700784" cy="256032"/>
          </a:xfrm>
          <a:prstGeom prst="roundRect">
            <a:avLst>
              <a:gd name="adj" fmla="val 21429"/>
            </a:avLst>
          </a:prstGeom>
          <a:solidFill>
            <a:srgbClr val="1C1E21"/>
          </a:solidFill>
          <a:ln w="12700">
            <a:solidFill>
              <a:srgbClr val="1C1E21"/>
            </a:solidFill>
            <a:prstDash val="solid"/>
          </a:ln>
        </p:spPr>
      </p:sp>
      <p:sp>
        <p:nvSpPr>
          <p:cNvPr id="23" name="Text 20"/>
          <p:cNvSpPr txBox="1"/>
          <p:nvPr/>
        </p:nvSpPr>
        <p:spPr>
          <a:xfrm>
            <a:off x="2990088" y="5532120"/>
            <a:ext cx="1700784"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VLM · Rubrics</a:t>
            </a:r>
            <a:endParaRPr lang="en-US" sz="800" dirty="0"/>
          </a:p>
        </p:txBody>
      </p:sp>
      <p:sp>
        <p:nvSpPr>
          <p:cNvPr id="24" name="Shape 21"/>
          <p:cNvSpPr/>
          <p:nvPr/>
        </p:nvSpPr>
        <p:spPr>
          <a:xfrm>
            <a:off x="5897880" y="1645920"/>
            <a:ext cx="365760" cy="365760"/>
          </a:xfrm>
          <a:prstGeom prst="ellipse">
            <a:avLst/>
          </a:prstGeom>
          <a:solidFill>
            <a:srgbClr val="D9730D"/>
          </a:solidFill>
          <a:ln w="25400">
            <a:solidFill>
              <a:srgbClr val="F8F9FA"/>
            </a:solidFill>
            <a:prstDash val="solid"/>
          </a:ln>
        </p:spPr>
      </p:sp>
      <p:sp>
        <p:nvSpPr>
          <p:cNvPr id="25" name="Text 22"/>
          <p:cNvSpPr txBox="1"/>
          <p:nvPr/>
        </p:nvSpPr>
        <p:spPr>
          <a:xfrm>
            <a:off x="5897880" y="16459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Shape 23"/>
          <p:cNvSpPr/>
          <p:nvPr/>
        </p:nvSpPr>
        <p:spPr>
          <a:xfrm>
            <a:off x="5029200" y="2194560"/>
            <a:ext cx="2103120" cy="3840480"/>
          </a:xfrm>
          <a:prstGeom prst="rect">
            <a:avLst/>
          </a:prstGeom>
          <a:solidFill>
            <a:srgbClr val="F1F3F5"/>
          </a:solidFill>
          <a:ln w="9525">
            <a:solidFill>
              <a:srgbClr val="E1E4E8"/>
            </a:solidFill>
            <a:prstDash val="solid"/>
          </a:ln>
        </p:spPr>
      </p:sp>
      <p:sp>
        <p:nvSpPr>
          <p:cNvPr id="27" name="Shape 24"/>
          <p:cNvSpPr/>
          <p:nvPr/>
        </p:nvSpPr>
        <p:spPr>
          <a:xfrm>
            <a:off x="5029200" y="2194560"/>
            <a:ext cx="54864" cy="3840480"/>
          </a:xfrm>
          <a:prstGeom prst="rect">
            <a:avLst/>
          </a:prstGeom>
          <a:solidFill>
            <a:srgbClr val="D9730D"/>
          </a:solidFill>
          <a:ln w="12700">
            <a:solidFill>
              <a:srgbClr val="D9730D"/>
            </a:solidFill>
            <a:prstDash val="solid"/>
          </a:ln>
        </p:spPr>
      </p:sp>
      <p:sp>
        <p:nvSpPr>
          <p:cNvPr id="28" name="Text 25"/>
          <p:cNvSpPr txBox="1"/>
          <p:nvPr/>
        </p:nvSpPr>
        <p:spPr>
          <a:xfrm>
            <a:off x="5230368" y="2359152"/>
            <a:ext cx="1828800" cy="182880"/>
          </a:xfrm>
          <a:prstGeom prst="rect">
            <a:avLst/>
          </a:prstGeom>
          <a:noFill/>
          <a:ln/>
        </p:spPr>
        <p:txBody>
          <a:bodyPr wrap="square" lIns="0" tIns="0" rIns="0" bIns="0" rtlCol="0" anchor="t"/>
          <a:lstStyle/>
          <a:p>
            <a:pPr indent="0" marL="0">
              <a:buNone/>
            </a:pPr>
            <a:r>
              <a:rPr lang="en-US" sz="850" b="1" spc="200" kern="0" dirty="0">
                <a:solidFill>
                  <a:srgbClr val="D9730D"/>
                </a:solidFill>
                <a:latin typeface="Calibri" pitchFamily="34" charset="0"/>
                <a:ea typeface="Calibri" pitchFamily="34" charset="-122"/>
                <a:cs typeface="Calibri" pitchFamily="34" charset="-120"/>
              </a:rPr>
              <a:t>STAGE 3</a:t>
            </a:r>
            <a:endParaRPr lang="en-US" sz="850" dirty="0"/>
          </a:p>
        </p:txBody>
      </p:sp>
      <p:sp>
        <p:nvSpPr>
          <p:cNvPr id="29" name="Text 26"/>
          <p:cNvSpPr txBox="1"/>
          <p:nvPr/>
        </p:nvSpPr>
        <p:spPr>
          <a:xfrm>
            <a:off x="5230368" y="2606040"/>
            <a:ext cx="1783080" cy="731520"/>
          </a:xfrm>
          <a:prstGeom prst="rect">
            <a:avLst/>
          </a:prstGeom>
          <a:noFill/>
          <a:ln/>
        </p:spPr>
        <p:txBody>
          <a:bodyPr wrap="square" lIns="0" tIns="0" rIns="0" bIns="0" rtlCol="0" anchor="t"/>
          <a:lstStyle/>
          <a:p>
            <a:pPr indent="0" marL="0">
              <a:buNone/>
            </a:pPr>
            <a:r>
              <a:rPr lang="en-US" sz="1400" b="1" dirty="0">
                <a:solidFill>
                  <a:srgbClr val="1C1E21"/>
                </a:solidFill>
                <a:latin typeface="Georgia" pitchFamily="34" charset="0"/>
                <a:ea typeface="Georgia" pitchFamily="34" charset="-122"/>
                <a:cs typeface="Georgia" pitchFamily="34" charset="-120"/>
              </a:rPr>
              <a:t>Adversarial Verification</a:t>
            </a:r>
            <a:endParaRPr lang="en-US" sz="1400" dirty="0"/>
          </a:p>
        </p:txBody>
      </p:sp>
      <p:sp>
        <p:nvSpPr>
          <p:cNvPr id="30" name="Text 27"/>
          <p:cNvSpPr txBox="1"/>
          <p:nvPr/>
        </p:nvSpPr>
        <p:spPr>
          <a:xfrm>
            <a:off x="5230368" y="3383280"/>
            <a:ext cx="1737360" cy="192024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A devil's-advocate classifier tries to explain each finding as lawful UX and rejects it if it can.</a:t>
            </a:r>
            <a:endParaRPr lang="en-US" sz="1050" dirty="0"/>
          </a:p>
        </p:txBody>
      </p:sp>
      <p:sp>
        <p:nvSpPr>
          <p:cNvPr id="31" name="Shape 28"/>
          <p:cNvSpPr/>
          <p:nvPr/>
        </p:nvSpPr>
        <p:spPr>
          <a:xfrm>
            <a:off x="5230368" y="5532120"/>
            <a:ext cx="1700784" cy="256032"/>
          </a:xfrm>
          <a:prstGeom prst="roundRect">
            <a:avLst>
              <a:gd name="adj" fmla="val 21429"/>
            </a:avLst>
          </a:prstGeom>
          <a:solidFill>
            <a:srgbClr val="1C1E21"/>
          </a:solidFill>
          <a:ln w="12700">
            <a:solidFill>
              <a:srgbClr val="1C1E21"/>
            </a:solidFill>
            <a:prstDash val="solid"/>
          </a:ln>
        </p:spPr>
      </p:sp>
      <p:sp>
        <p:nvSpPr>
          <p:cNvPr id="32" name="Text 29"/>
          <p:cNvSpPr txBox="1"/>
          <p:nvPr/>
        </p:nvSpPr>
        <p:spPr>
          <a:xfrm>
            <a:off x="5230368" y="5532120"/>
            <a:ext cx="1700784"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VLM · Reject FP</a:t>
            </a:r>
            <a:endParaRPr lang="en-US" sz="800" dirty="0"/>
          </a:p>
        </p:txBody>
      </p:sp>
      <p:sp>
        <p:nvSpPr>
          <p:cNvPr id="33" name="Shape 30"/>
          <p:cNvSpPr/>
          <p:nvPr/>
        </p:nvSpPr>
        <p:spPr>
          <a:xfrm>
            <a:off x="8138160" y="1645920"/>
            <a:ext cx="365760" cy="365760"/>
          </a:xfrm>
          <a:prstGeom prst="ellipse">
            <a:avLst/>
          </a:prstGeom>
          <a:solidFill>
            <a:srgbClr val="525866"/>
          </a:solidFill>
          <a:ln w="25400">
            <a:solidFill>
              <a:srgbClr val="F8F9FA"/>
            </a:solidFill>
            <a:prstDash val="solid"/>
          </a:ln>
        </p:spPr>
      </p:sp>
      <p:sp>
        <p:nvSpPr>
          <p:cNvPr id="34" name="Text 31"/>
          <p:cNvSpPr txBox="1"/>
          <p:nvPr/>
        </p:nvSpPr>
        <p:spPr>
          <a:xfrm>
            <a:off x="8138160" y="16459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Shape 32"/>
          <p:cNvSpPr/>
          <p:nvPr/>
        </p:nvSpPr>
        <p:spPr>
          <a:xfrm>
            <a:off x="7269480" y="2194560"/>
            <a:ext cx="2103120" cy="3840480"/>
          </a:xfrm>
          <a:prstGeom prst="rect">
            <a:avLst/>
          </a:prstGeom>
          <a:solidFill>
            <a:srgbClr val="F1F3F5"/>
          </a:solidFill>
          <a:ln w="9525">
            <a:solidFill>
              <a:srgbClr val="E1E4E8"/>
            </a:solidFill>
            <a:prstDash val="solid"/>
          </a:ln>
        </p:spPr>
      </p:sp>
      <p:sp>
        <p:nvSpPr>
          <p:cNvPr id="36" name="Shape 33"/>
          <p:cNvSpPr/>
          <p:nvPr/>
        </p:nvSpPr>
        <p:spPr>
          <a:xfrm>
            <a:off x="7269480" y="2194560"/>
            <a:ext cx="54864" cy="3840480"/>
          </a:xfrm>
          <a:prstGeom prst="rect">
            <a:avLst/>
          </a:prstGeom>
          <a:solidFill>
            <a:srgbClr val="525866"/>
          </a:solidFill>
          <a:ln w="12700">
            <a:solidFill>
              <a:srgbClr val="525866"/>
            </a:solidFill>
            <a:prstDash val="solid"/>
          </a:ln>
        </p:spPr>
      </p:sp>
      <p:sp>
        <p:nvSpPr>
          <p:cNvPr id="37" name="Text 34"/>
          <p:cNvSpPr txBox="1"/>
          <p:nvPr/>
        </p:nvSpPr>
        <p:spPr>
          <a:xfrm>
            <a:off x="7470648" y="2359152"/>
            <a:ext cx="1828800" cy="182880"/>
          </a:xfrm>
          <a:prstGeom prst="rect">
            <a:avLst/>
          </a:prstGeom>
          <a:noFill/>
          <a:ln/>
        </p:spPr>
        <p:txBody>
          <a:bodyPr wrap="square" lIns="0" tIns="0" rIns="0" bIns="0" rtlCol="0" anchor="t"/>
          <a:lstStyle/>
          <a:p>
            <a:pPr indent="0" marL="0">
              <a:buNone/>
            </a:pPr>
            <a:r>
              <a:rPr lang="en-US" sz="850" b="1" spc="200" kern="0" dirty="0">
                <a:solidFill>
                  <a:srgbClr val="525866"/>
                </a:solidFill>
                <a:latin typeface="Calibri" pitchFamily="34" charset="0"/>
                <a:ea typeface="Calibri" pitchFamily="34" charset="-122"/>
                <a:cs typeface="Calibri" pitchFamily="34" charset="-120"/>
              </a:rPr>
              <a:t>STAGE 4</a:t>
            </a:r>
            <a:endParaRPr lang="en-US" sz="850" dirty="0"/>
          </a:p>
        </p:txBody>
      </p:sp>
      <p:sp>
        <p:nvSpPr>
          <p:cNvPr id="38" name="Text 35"/>
          <p:cNvSpPr txBox="1"/>
          <p:nvPr/>
        </p:nvSpPr>
        <p:spPr>
          <a:xfrm>
            <a:off x="7470648" y="2606040"/>
            <a:ext cx="1783080" cy="731520"/>
          </a:xfrm>
          <a:prstGeom prst="rect">
            <a:avLst/>
          </a:prstGeom>
          <a:noFill/>
          <a:ln/>
        </p:spPr>
        <p:txBody>
          <a:bodyPr wrap="square" lIns="0" tIns="0" rIns="0" bIns="0" rtlCol="0" anchor="t"/>
          <a:lstStyle/>
          <a:p>
            <a:pPr indent="0" marL="0">
              <a:buNone/>
            </a:pPr>
            <a:r>
              <a:rPr lang="en-US" sz="1400" b="1" dirty="0">
                <a:solidFill>
                  <a:srgbClr val="1C1E21"/>
                </a:solidFill>
                <a:latin typeface="Georgia" pitchFamily="34" charset="0"/>
                <a:ea typeface="Georgia" pitchFamily="34" charset="-122"/>
                <a:cs typeface="Georgia" pitchFamily="34" charset="-120"/>
              </a:rPr>
              <a:t>DOM Corroboration</a:t>
            </a:r>
            <a:endParaRPr lang="en-US" sz="1400" dirty="0"/>
          </a:p>
        </p:txBody>
      </p:sp>
      <p:sp>
        <p:nvSpPr>
          <p:cNvPr id="39" name="Text 36"/>
          <p:cNvSpPr txBox="1"/>
          <p:nvPr/>
        </p:nvSpPr>
        <p:spPr>
          <a:xfrm>
            <a:off x="7470648" y="3383280"/>
            <a:ext cx="1737360" cy="192024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Heuristic AST/DOM signals: fake timers, pre-checked inputs, sticky or hidden elements back up the visual claim.</a:t>
            </a:r>
            <a:endParaRPr lang="en-US" sz="1050" dirty="0"/>
          </a:p>
        </p:txBody>
      </p:sp>
      <p:sp>
        <p:nvSpPr>
          <p:cNvPr id="40" name="Shape 37"/>
          <p:cNvSpPr/>
          <p:nvPr/>
        </p:nvSpPr>
        <p:spPr>
          <a:xfrm>
            <a:off x="7470648" y="5532120"/>
            <a:ext cx="1700784" cy="256032"/>
          </a:xfrm>
          <a:prstGeom prst="roundRect">
            <a:avLst>
              <a:gd name="adj" fmla="val 21429"/>
            </a:avLst>
          </a:prstGeom>
          <a:solidFill>
            <a:srgbClr val="1C1E21"/>
          </a:solidFill>
          <a:ln w="12700">
            <a:solidFill>
              <a:srgbClr val="1C1E21"/>
            </a:solidFill>
            <a:prstDash val="solid"/>
          </a:ln>
        </p:spPr>
      </p:sp>
      <p:sp>
        <p:nvSpPr>
          <p:cNvPr id="41" name="Text 38"/>
          <p:cNvSpPr txBox="1"/>
          <p:nvPr/>
        </p:nvSpPr>
        <p:spPr>
          <a:xfrm>
            <a:off x="7470648" y="5532120"/>
            <a:ext cx="1700784"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DOM · Heuristics</a:t>
            </a:r>
            <a:endParaRPr lang="en-US" sz="800" dirty="0"/>
          </a:p>
        </p:txBody>
      </p:sp>
      <p:sp>
        <p:nvSpPr>
          <p:cNvPr id="42" name="Shape 39"/>
          <p:cNvSpPr/>
          <p:nvPr/>
        </p:nvSpPr>
        <p:spPr>
          <a:xfrm>
            <a:off x="10378440" y="1645920"/>
            <a:ext cx="365760" cy="365760"/>
          </a:xfrm>
          <a:prstGeom prst="ellipse">
            <a:avLst/>
          </a:prstGeom>
          <a:solidFill>
            <a:srgbClr val="2B8A3E"/>
          </a:solidFill>
          <a:ln w="25400">
            <a:solidFill>
              <a:srgbClr val="F8F9FA"/>
            </a:solidFill>
            <a:prstDash val="solid"/>
          </a:ln>
        </p:spPr>
      </p:sp>
      <p:sp>
        <p:nvSpPr>
          <p:cNvPr id="43" name="Text 40"/>
          <p:cNvSpPr txBox="1"/>
          <p:nvPr/>
        </p:nvSpPr>
        <p:spPr>
          <a:xfrm>
            <a:off x="10378440" y="16459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4" name="Shape 41"/>
          <p:cNvSpPr/>
          <p:nvPr/>
        </p:nvSpPr>
        <p:spPr>
          <a:xfrm>
            <a:off x="9509760" y="2194560"/>
            <a:ext cx="2103120" cy="3840480"/>
          </a:xfrm>
          <a:prstGeom prst="rect">
            <a:avLst/>
          </a:prstGeom>
          <a:solidFill>
            <a:srgbClr val="F1F3F5"/>
          </a:solidFill>
          <a:ln w="9525">
            <a:solidFill>
              <a:srgbClr val="E1E4E8"/>
            </a:solidFill>
            <a:prstDash val="solid"/>
          </a:ln>
        </p:spPr>
      </p:sp>
      <p:sp>
        <p:nvSpPr>
          <p:cNvPr id="45" name="Shape 42"/>
          <p:cNvSpPr/>
          <p:nvPr/>
        </p:nvSpPr>
        <p:spPr>
          <a:xfrm>
            <a:off x="9509760" y="2194560"/>
            <a:ext cx="54864" cy="3840480"/>
          </a:xfrm>
          <a:prstGeom prst="rect">
            <a:avLst/>
          </a:prstGeom>
          <a:solidFill>
            <a:srgbClr val="2B8A3E"/>
          </a:solidFill>
          <a:ln w="12700">
            <a:solidFill>
              <a:srgbClr val="2B8A3E"/>
            </a:solidFill>
            <a:prstDash val="solid"/>
          </a:ln>
        </p:spPr>
      </p:sp>
      <p:sp>
        <p:nvSpPr>
          <p:cNvPr id="46" name="Text 43"/>
          <p:cNvSpPr txBox="1"/>
          <p:nvPr/>
        </p:nvSpPr>
        <p:spPr>
          <a:xfrm>
            <a:off x="9710928" y="2359152"/>
            <a:ext cx="1828800" cy="182880"/>
          </a:xfrm>
          <a:prstGeom prst="rect">
            <a:avLst/>
          </a:prstGeom>
          <a:noFill/>
          <a:ln/>
        </p:spPr>
        <p:txBody>
          <a:bodyPr wrap="square" lIns="0" tIns="0" rIns="0" bIns="0" rtlCol="0" anchor="t"/>
          <a:lstStyle/>
          <a:p>
            <a:pPr indent="0" marL="0">
              <a:buNone/>
            </a:pPr>
            <a:r>
              <a:rPr lang="en-US" sz="850" b="1" spc="200" kern="0" dirty="0">
                <a:solidFill>
                  <a:srgbClr val="2B8A3E"/>
                </a:solidFill>
                <a:latin typeface="Calibri" pitchFamily="34" charset="0"/>
                <a:ea typeface="Calibri" pitchFamily="34" charset="-122"/>
                <a:cs typeface="Calibri" pitchFamily="34" charset="-120"/>
              </a:rPr>
              <a:t>STAGE 5</a:t>
            </a:r>
            <a:endParaRPr lang="en-US" sz="850" dirty="0"/>
          </a:p>
        </p:txBody>
      </p:sp>
      <p:sp>
        <p:nvSpPr>
          <p:cNvPr id="47" name="Text 44"/>
          <p:cNvSpPr txBox="1"/>
          <p:nvPr/>
        </p:nvSpPr>
        <p:spPr>
          <a:xfrm>
            <a:off x="9710928" y="2606040"/>
            <a:ext cx="1783080" cy="731520"/>
          </a:xfrm>
          <a:prstGeom prst="rect">
            <a:avLst/>
          </a:prstGeom>
          <a:noFill/>
          <a:ln/>
        </p:spPr>
        <p:txBody>
          <a:bodyPr wrap="square" lIns="0" tIns="0" rIns="0" bIns="0" rtlCol="0" anchor="t"/>
          <a:lstStyle/>
          <a:p>
            <a:pPr indent="0" marL="0">
              <a:buNone/>
            </a:pPr>
            <a:r>
              <a:rPr lang="en-US" sz="1400" b="1" dirty="0">
                <a:solidFill>
                  <a:srgbClr val="1C1E21"/>
                </a:solidFill>
                <a:latin typeface="Georgia" pitchFamily="34" charset="0"/>
                <a:ea typeface="Georgia" pitchFamily="34" charset="-122"/>
                <a:cs typeface="Georgia" pitchFamily="34" charset="-120"/>
              </a:rPr>
              <a:t>Remediation &amp; PDF</a:t>
            </a:r>
            <a:endParaRPr lang="en-US" sz="1400" dirty="0"/>
          </a:p>
        </p:txBody>
      </p:sp>
      <p:sp>
        <p:nvSpPr>
          <p:cNvPr id="48" name="Text 45"/>
          <p:cNvSpPr txBox="1"/>
          <p:nvPr/>
        </p:nvSpPr>
        <p:spPr>
          <a:xfrm>
            <a:off x="9710928" y="3383280"/>
            <a:ext cx="1737360" cy="192024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Honest-copy rewrites, layout fixes and restored regulatory principle, compiled into an annotated PDF audit.</a:t>
            </a:r>
            <a:endParaRPr lang="en-US" sz="1050" dirty="0"/>
          </a:p>
        </p:txBody>
      </p:sp>
      <p:sp>
        <p:nvSpPr>
          <p:cNvPr id="49" name="Shape 46"/>
          <p:cNvSpPr/>
          <p:nvPr/>
        </p:nvSpPr>
        <p:spPr>
          <a:xfrm>
            <a:off x="9710928" y="5532120"/>
            <a:ext cx="1700784" cy="256032"/>
          </a:xfrm>
          <a:prstGeom prst="roundRect">
            <a:avLst>
              <a:gd name="adj" fmla="val 21429"/>
            </a:avLst>
          </a:prstGeom>
          <a:solidFill>
            <a:srgbClr val="1C1E21"/>
          </a:solidFill>
          <a:ln w="12700">
            <a:solidFill>
              <a:srgbClr val="1C1E21"/>
            </a:solidFill>
            <a:prstDash val="solid"/>
          </a:ln>
        </p:spPr>
      </p:sp>
      <p:sp>
        <p:nvSpPr>
          <p:cNvPr id="50" name="Text 47"/>
          <p:cNvSpPr txBox="1"/>
          <p:nvPr/>
        </p:nvSpPr>
        <p:spPr>
          <a:xfrm>
            <a:off x="9710928" y="5532120"/>
            <a:ext cx="1700784"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ReportLab · Pillow</a:t>
            </a:r>
            <a:endParaRPr lang="en-US" sz="8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 · STATUTORY TAXONOMY</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The 13 CCPA Dark Patterns, Grouped by Mechanism</a:t>
            </a:r>
            <a:endParaRPr lang="en-US" sz="2600" dirty="0"/>
          </a:p>
        </p:txBody>
      </p:sp>
      <p:sp>
        <p:nvSpPr>
          <p:cNvPr id="5" name="Shape 2"/>
          <p:cNvSpPr/>
          <p:nvPr/>
        </p:nvSpPr>
        <p:spPr>
          <a:xfrm>
            <a:off x="548640" y="1508760"/>
            <a:ext cx="3566160" cy="457200"/>
          </a:xfrm>
          <a:prstGeom prst="rect">
            <a:avLst/>
          </a:prstGeom>
          <a:solidFill>
            <a:srgbClr val="C92A2A"/>
          </a:solidFill>
          <a:ln w="12700">
            <a:solidFill>
              <a:srgbClr val="C92A2A"/>
            </a:solidFill>
            <a:prstDash val="solid"/>
          </a:ln>
        </p:spPr>
      </p:sp>
      <p:sp>
        <p:nvSpPr>
          <p:cNvPr id="6" name="Text 3"/>
          <p:cNvSpPr txBox="1"/>
          <p:nvPr/>
        </p:nvSpPr>
        <p:spPr>
          <a:xfrm>
            <a:off x="731520" y="1508760"/>
            <a:ext cx="3291840" cy="457200"/>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PRESSURE &amp; COERCION</a:t>
            </a:r>
            <a:endParaRPr lang="en-US" sz="1050" dirty="0"/>
          </a:p>
        </p:txBody>
      </p:sp>
      <p:sp>
        <p:nvSpPr>
          <p:cNvPr id="7" name="Shape 4"/>
          <p:cNvSpPr/>
          <p:nvPr/>
        </p:nvSpPr>
        <p:spPr>
          <a:xfrm>
            <a:off x="548640" y="2011680"/>
            <a:ext cx="3566160" cy="749808"/>
          </a:xfrm>
          <a:prstGeom prst="rect">
            <a:avLst/>
          </a:prstGeom>
          <a:solidFill>
            <a:srgbClr val="F1F3F5"/>
          </a:solidFill>
          <a:ln w="9525">
            <a:solidFill>
              <a:srgbClr val="E1E4E8"/>
            </a:solidFill>
            <a:prstDash val="solid"/>
          </a:ln>
        </p:spPr>
      </p:sp>
      <p:sp>
        <p:nvSpPr>
          <p:cNvPr id="8" name="Text 5"/>
          <p:cNvSpPr txBox="1"/>
          <p:nvPr/>
        </p:nvSpPr>
        <p:spPr>
          <a:xfrm>
            <a:off x="731520" y="210312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False Urgency</a:t>
            </a:r>
            <a:endParaRPr lang="en-US" sz="1300" dirty="0"/>
          </a:p>
        </p:txBody>
      </p:sp>
      <p:sp>
        <p:nvSpPr>
          <p:cNvPr id="9" name="Text 6"/>
          <p:cNvSpPr txBox="1"/>
          <p:nvPr/>
        </p:nvSpPr>
        <p:spPr>
          <a:xfrm>
            <a:off x="731520" y="242316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Fake scarcity or deadlines</a:t>
            </a:r>
            <a:endParaRPr lang="en-US" sz="1050" dirty="0"/>
          </a:p>
        </p:txBody>
      </p:sp>
      <p:sp>
        <p:nvSpPr>
          <p:cNvPr id="10" name="Shape 7"/>
          <p:cNvSpPr/>
          <p:nvPr/>
        </p:nvSpPr>
        <p:spPr>
          <a:xfrm>
            <a:off x="548640" y="2834640"/>
            <a:ext cx="3566160" cy="749808"/>
          </a:xfrm>
          <a:prstGeom prst="rect">
            <a:avLst/>
          </a:prstGeom>
          <a:solidFill>
            <a:srgbClr val="F1F3F5"/>
          </a:solidFill>
          <a:ln w="9525">
            <a:solidFill>
              <a:srgbClr val="E1E4E8"/>
            </a:solidFill>
            <a:prstDash val="solid"/>
          </a:ln>
        </p:spPr>
      </p:sp>
      <p:sp>
        <p:nvSpPr>
          <p:cNvPr id="11" name="Text 8"/>
          <p:cNvSpPr txBox="1"/>
          <p:nvPr/>
        </p:nvSpPr>
        <p:spPr>
          <a:xfrm>
            <a:off x="731520" y="292608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Nagging</a:t>
            </a:r>
            <a:endParaRPr lang="en-US" sz="1300" dirty="0"/>
          </a:p>
        </p:txBody>
      </p:sp>
      <p:sp>
        <p:nvSpPr>
          <p:cNvPr id="12" name="Text 9"/>
          <p:cNvSpPr txBox="1"/>
          <p:nvPr/>
        </p:nvSpPr>
        <p:spPr>
          <a:xfrm>
            <a:off x="731520" y="324612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Repeated interruptions</a:t>
            </a:r>
            <a:endParaRPr lang="en-US" sz="1050" dirty="0"/>
          </a:p>
        </p:txBody>
      </p:sp>
      <p:sp>
        <p:nvSpPr>
          <p:cNvPr id="13" name="Shape 10"/>
          <p:cNvSpPr/>
          <p:nvPr/>
        </p:nvSpPr>
        <p:spPr>
          <a:xfrm>
            <a:off x="548640" y="3657600"/>
            <a:ext cx="3566160" cy="749808"/>
          </a:xfrm>
          <a:prstGeom prst="rect">
            <a:avLst/>
          </a:prstGeom>
          <a:solidFill>
            <a:srgbClr val="F1F3F5"/>
          </a:solidFill>
          <a:ln w="9525">
            <a:solidFill>
              <a:srgbClr val="E1E4E8"/>
            </a:solidFill>
            <a:prstDash val="solid"/>
          </a:ln>
        </p:spPr>
      </p:sp>
      <p:sp>
        <p:nvSpPr>
          <p:cNvPr id="14" name="Text 11"/>
          <p:cNvSpPr txBox="1"/>
          <p:nvPr/>
        </p:nvSpPr>
        <p:spPr>
          <a:xfrm>
            <a:off x="731520" y="374904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Confirm Shaming</a:t>
            </a:r>
            <a:endParaRPr lang="en-US" sz="1300" dirty="0"/>
          </a:p>
        </p:txBody>
      </p:sp>
      <p:sp>
        <p:nvSpPr>
          <p:cNvPr id="15" name="Text 12"/>
          <p:cNvSpPr txBox="1"/>
          <p:nvPr/>
        </p:nvSpPr>
        <p:spPr>
          <a:xfrm>
            <a:off x="731520" y="406908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Guilt-laden decline copy</a:t>
            </a:r>
            <a:endParaRPr lang="en-US" sz="1050" dirty="0"/>
          </a:p>
        </p:txBody>
      </p:sp>
      <p:sp>
        <p:nvSpPr>
          <p:cNvPr id="16" name="Shape 13"/>
          <p:cNvSpPr/>
          <p:nvPr/>
        </p:nvSpPr>
        <p:spPr>
          <a:xfrm>
            <a:off x="548640" y="4480560"/>
            <a:ext cx="3566160" cy="749808"/>
          </a:xfrm>
          <a:prstGeom prst="rect">
            <a:avLst/>
          </a:prstGeom>
          <a:solidFill>
            <a:srgbClr val="F1F3F5"/>
          </a:solidFill>
          <a:ln w="9525">
            <a:solidFill>
              <a:srgbClr val="E1E4E8"/>
            </a:solidFill>
            <a:prstDash val="solid"/>
          </a:ln>
        </p:spPr>
      </p:sp>
      <p:sp>
        <p:nvSpPr>
          <p:cNvPr id="17" name="Text 14"/>
          <p:cNvSpPr txBox="1"/>
          <p:nvPr/>
        </p:nvSpPr>
        <p:spPr>
          <a:xfrm>
            <a:off x="731520" y="457200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Forced Action</a:t>
            </a:r>
            <a:endParaRPr lang="en-US" sz="1300" dirty="0"/>
          </a:p>
        </p:txBody>
      </p:sp>
      <p:sp>
        <p:nvSpPr>
          <p:cNvPr id="18" name="Text 15"/>
          <p:cNvSpPr txBox="1"/>
          <p:nvPr/>
        </p:nvSpPr>
        <p:spPr>
          <a:xfrm>
            <a:off x="731520" y="489204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Unrelated tasks required</a:t>
            </a:r>
            <a:endParaRPr lang="en-US" sz="1050" dirty="0"/>
          </a:p>
        </p:txBody>
      </p:sp>
      <p:sp>
        <p:nvSpPr>
          <p:cNvPr id="19" name="Shape 16"/>
          <p:cNvSpPr/>
          <p:nvPr/>
        </p:nvSpPr>
        <p:spPr>
          <a:xfrm>
            <a:off x="4297680" y="1508760"/>
            <a:ext cx="3566160" cy="457200"/>
          </a:xfrm>
          <a:prstGeom prst="rect">
            <a:avLst/>
          </a:prstGeom>
          <a:solidFill>
            <a:srgbClr val="D9730D"/>
          </a:solidFill>
          <a:ln w="12700">
            <a:solidFill>
              <a:srgbClr val="D9730D"/>
            </a:solidFill>
            <a:prstDash val="solid"/>
          </a:ln>
        </p:spPr>
      </p:sp>
      <p:sp>
        <p:nvSpPr>
          <p:cNvPr id="20" name="Text 17"/>
          <p:cNvSpPr txBox="1"/>
          <p:nvPr/>
        </p:nvSpPr>
        <p:spPr>
          <a:xfrm>
            <a:off x="4480560" y="1508760"/>
            <a:ext cx="3291840" cy="457200"/>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HIDDEN COST &amp; COMMITMENT</a:t>
            </a:r>
            <a:endParaRPr lang="en-US" sz="1050" dirty="0"/>
          </a:p>
        </p:txBody>
      </p:sp>
      <p:sp>
        <p:nvSpPr>
          <p:cNvPr id="21" name="Shape 18"/>
          <p:cNvSpPr/>
          <p:nvPr/>
        </p:nvSpPr>
        <p:spPr>
          <a:xfrm>
            <a:off x="4297680" y="2011680"/>
            <a:ext cx="3566160" cy="749808"/>
          </a:xfrm>
          <a:prstGeom prst="rect">
            <a:avLst/>
          </a:prstGeom>
          <a:solidFill>
            <a:srgbClr val="F1F3F5"/>
          </a:solidFill>
          <a:ln w="9525">
            <a:solidFill>
              <a:srgbClr val="E1E4E8"/>
            </a:solidFill>
            <a:prstDash val="solid"/>
          </a:ln>
        </p:spPr>
      </p:sp>
      <p:sp>
        <p:nvSpPr>
          <p:cNvPr id="22" name="Text 19"/>
          <p:cNvSpPr txBox="1"/>
          <p:nvPr/>
        </p:nvSpPr>
        <p:spPr>
          <a:xfrm>
            <a:off x="4480560" y="210312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Basket Sneaking</a:t>
            </a:r>
            <a:endParaRPr lang="en-US" sz="1300" dirty="0"/>
          </a:p>
        </p:txBody>
      </p:sp>
      <p:sp>
        <p:nvSpPr>
          <p:cNvPr id="23" name="Text 20"/>
          <p:cNvSpPr txBox="1"/>
          <p:nvPr/>
        </p:nvSpPr>
        <p:spPr>
          <a:xfrm>
            <a:off x="4480560" y="242316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Add-ons slipped into cart</a:t>
            </a:r>
            <a:endParaRPr lang="en-US" sz="1050" dirty="0"/>
          </a:p>
        </p:txBody>
      </p:sp>
      <p:sp>
        <p:nvSpPr>
          <p:cNvPr id="24" name="Shape 21"/>
          <p:cNvSpPr/>
          <p:nvPr/>
        </p:nvSpPr>
        <p:spPr>
          <a:xfrm>
            <a:off x="4297680" y="2834640"/>
            <a:ext cx="3566160" cy="749808"/>
          </a:xfrm>
          <a:prstGeom prst="rect">
            <a:avLst/>
          </a:prstGeom>
          <a:solidFill>
            <a:srgbClr val="F1F3F5"/>
          </a:solidFill>
          <a:ln w="9525">
            <a:solidFill>
              <a:srgbClr val="E1E4E8"/>
            </a:solidFill>
            <a:prstDash val="solid"/>
          </a:ln>
        </p:spPr>
      </p:sp>
      <p:sp>
        <p:nvSpPr>
          <p:cNvPr id="25" name="Text 22"/>
          <p:cNvSpPr txBox="1"/>
          <p:nvPr/>
        </p:nvSpPr>
        <p:spPr>
          <a:xfrm>
            <a:off x="4480560" y="292608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Drip Pricing</a:t>
            </a:r>
            <a:endParaRPr lang="en-US" sz="1300" dirty="0"/>
          </a:p>
        </p:txBody>
      </p:sp>
      <p:sp>
        <p:nvSpPr>
          <p:cNvPr id="26" name="Text 23"/>
          <p:cNvSpPr txBox="1"/>
          <p:nvPr/>
        </p:nvSpPr>
        <p:spPr>
          <a:xfrm>
            <a:off x="4480560" y="324612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Fees revealed late</a:t>
            </a:r>
            <a:endParaRPr lang="en-US" sz="1050" dirty="0"/>
          </a:p>
        </p:txBody>
      </p:sp>
      <p:sp>
        <p:nvSpPr>
          <p:cNvPr id="27" name="Shape 24"/>
          <p:cNvSpPr/>
          <p:nvPr/>
        </p:nvSpPr>
        <p:spPr>
          <a:xfrm>
            <a:off x="4297680" y="3657600"/>
            <a:ext cx="3566160" cy="749808"/>
          </a:xfrm>
          <a:prstGeom prst="rect">
            <a:avLst/>
          </a:prstGeom>
          <a:solidFill>
            <a:srgbClr val="F1F3F5"/>
          </a:solidFill>
          <a:ln w="9525">
            <a:solidFill>
              <a:srgbClr val="E1E4E8"/>
            </a:solidFill>
            <a:prstDash val="solid"/>
          </a:ln>
        </p:spPr>
      </p:sp>
      <p:sp>
        <p:nvSpPr>
          <p:cNvPr id="28" name="Text 25"/>
          <p:cNvSpPr txBox="1"/>
          <p:nvPr/>
        </p:nvSpPr>
        <p:spPr>
          <a:xfrm>
            <a:off x="4480560" y="374904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Subscription Trap</a:t>
            </a:r>
            <a:endParaRPr lang="en-US" sz="1300" dirty="0"/>
          </a:p>
        </p:txBody>
      </p:sp>
      <p:sp>
        <p:nvSpPr>
          <p:cNvPr id="29" name="Text 26"/>
          <p:cNvSpPr txBox="1"/>
          <p:nvPr/>
        </p:nvSpPr>
        <p:spPr>
          <a:xfrm>
            <a:off x="4480560" y="406908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Easy in, hard out</a:t>
            </a:r>
            <a:endParaRPr lang="en-US" sz="1050" dirty="0"/>
          </a:p>
        </p:txBody>
      </p:sp>
      <p:sp>
        <p:nvSpPr>
          <p:cNvPr id="30" name="Shape 27"/>
          <p:cNvSpPr/>
          <p:nvPr/>
        </p:nvSpPr>
        <p:spPr>
          <a:xfrm>
            <a:off x="4297680" y="4480560"/>
            <a:ext cx="3566160" cy="749808"/>
          </a:xfrm>
          <a:prstGeom prst="rect">
            <a:avLst/>
          </a:prstGeom>
          <a:solidFill>
            <a:srgbClr val="F1F3F5"/>
          </a:solidFill>
          <a:ln w="9525">
            <a:solidFill>
              <a:srgbClr val="E1E4E8"/>
            </a:solidFill>
            <a:prstDash val="solid"/>
          </a:ln>
        </p:spPr>
      </p:sp>
      <p:sp>
        <p:nvSpPr>
          <p:cNvPr id="31" name="Text 28"/>
          <p:cNvSpPr txBox="1"/>
          <p:nvPr/>
        </p:nvSpPr>
        <p:spPr>
          <a:xfrm>
            <a:off x="4480560" y="457200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SaaS Billing</a:t>
            </a:r>
            <a:endParaRPr lang="en-US" sz="1300" dirty="0"/>
          </a:p>
        </p:txBody>
      </p:sp>
      <p:sp>
        <p:nvSpPr>
          <p:cNvPr id="32" name="Text 29"/>
          <p:cNvSpPr txBox="1"/>
          <p:nvPr/>
        </p:nvSpPr>
        <p:spPr>
          <a:xfrm>
            <a:off x="4480560" y="489204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Opaque recurring charges</a:t>
            </a:r>
            <a:endParaRPr lang="en-US" sz="1050" dirty="0"/>
          </a:p>
        </p:txBody>
      </p:sp>
      <p:sp>
        <p:nvSpPr>
          <p:cNvPr id="33" name="Shape 30"/>
          <p:cNvSpPr/>
          <p:nvPr/>
        </p:nvSpPr>
        <p:spPr>
          <a:xfrm>
            <a:off x="8046720" y="1508760"/>
            <a:ext cx="3566160" cy="457200"/>
          </a:xfrm>
          <a:prstGeom prst="rect">
            <a:avLst/>
          </a:prstGeom>
          <a:solidFill>
            <a:srgbClr val="1C1E21"/>
          </a:solidFill>
          <a:ln w="12700">
            <a:solidFill>
              <a:srgbClr val="1C1E21"/>
            </a:solidFill>
            <a:prstDash val="solid"/>
          </a:ln>
        </p:spPr>
      </p:sp>
      <p:sp>
        <p:nvSpPr>
          <p:cNvPr id="34" name="Text 31"/>
          <p:cNvSpPr txBox="1"/>
          <p:nvPr/>
        </p:nvSpPr>
        <p:spPr>
          <a:xfrm>
            <a:off x="8229600" y="1508760"/>
            <a:ext cx="3291840" cy="457200"/>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DECEPTIVE INTERFACE</a:t>
            </a:r>
            <a:endParaRPr lang="en-US" sz="1050" dirty="0"/>
          </a:p>
        </p:txBody>
      </p:sp>
      <p:sp>
        <p:nvSpPr>
          <p:cNvPr id="35" name="Shape 32"/>
          <p:cNvSpPr/>
          <p:nvPr/>
        </p:nvSpPr>
        <p:spPr>
          <a:xfrm>
            <a:off x="8046720" y="2011680"/>
            <a:ext cx="3566160" cy="749808"/>
          </a:xfrm>
          <a:prstGeom prst="rect">
            <a:avLst/>
          </a:prstGeom>
          <a:solidFill>
            <a:srgbClr val="F1F3F5"/>
          </a:solidFill>
          <a:ln w="9525">
            <a:solidFill>
              <a:srgbClr val="E1E4E8"/>
            </a:solidFill>
            <a:prstDash val="solid"/>
          </a:ln>
        </p:spPr>
      </p:sp>
      <p:sp>
        <p:nvSpPr>
          <p:cNvPr id="36" name="Text 33"/>
          <p:cNvSpPr txBox="1"/>
          <p:nvPr/>
        </p:nvSpPr>
        <p:spPr>
          <a:xfrm>
            <a:off x="8229600" y="210312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Interface Interference</a:t>
            </a:r>
            <a:endParaRPr lang="en-US" sz="1300" dirty="0"/>
          </a:p>
        </p:txBody>
      </p:sp>
      <p:sp>
        <p:nvSpPr>
          <p:cNvPr id="37" name="Text 34"/>
          <p:cNvSpPr txBox="1"/>
          <p:nvPr/>
        </p:nvSpPr>
        <p:spPr>
          <a:xfrm>
            <a:off x="8229600" y="242316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Visual hierarchy steers choice</a:t>
            </a:r>
            <a:endParaRPr lang="en-US" sz="1050" dirty="0"/>
          </a:p>
        </p:txBody>
      </p:sp>
      <p:sp>
        <p:nvSpPr>
          <p:cNvPr id="38" name="Shape 35"/>
          <p:cNvSpPr/>
          <p:nvPr/>
        </p:nvSpPr>
        <p:spPr>
          <a:xfrm>
            <a:off x="8046720" y="2834640"/>
            <a:ext cx="3566160" cy="749808"/>
          </a:xfrm>
          <a:prstGeom prst="rect">
            <a:avLst/>
          </a:prstGeom>
          <a:solidFill>
            <a:srgbClr val="F1F3F5"/>
          </a:solidFill>
          <a:ln w="9525">
            <a:solidFill>
              <a:srgbClr val="E1E4E8"/>
            </a:solidFill>
            <a:prstDash val="solid"/>
          </a:ln>
        </p:spPr>
      </p:sp>
      <p:sp>
        <p:nvSpPr>
          <p:cNvPr id="39" name="Text 36"/>
          <p:cNvSpPr txBox="1"/>
          <p:nvPr/>
        </p:nvSpPr>
        <p:spPr>
          <a:xfrm>
            <a:off x="8229600" y="292608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Trick Question</a:t>
            </a:r>
            <a:endParaRPr lang="en-US" sz="1300" dirty="0"/>
          </a:p>
        </p:txBody>
      </p:sp>
      <p:sp>
        <p:nvSpPr>
          <p:cNvPr id="40" name="Text 37"/>
          <p:cNvSpPr txBox="1"/>
          <p:nvPr/>
        </p:nvSpPr>
        <p:spPr>
          <a:xfrm>
            <a:off x="8229600" y="324612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Confusing double negatives</a:t>
            </a:r>
            <a:endParaRPr lang="en-US" sz="1050" dirty="0"/>
          </a:p>
        </p:txBody>
      </p:sp>
      <p:sp>
        <p:nvSpPr>
          <p:cNvPr id="41" name="Shape 38"/>
          <p:cNvSpPr/>
          <p:nvPr/>
        </p:nvSpPr>
        <p:spPr>
          <a:xfrm>
            <a:off x="8046720" y="3657600"/>
            <a:ext cx="3566160" cy="749808"/>
          </a:xfrm>
          <a:prstGeom prst="rect">
            <a:avLst/>
          </a:prstGeom>
          <a:solidFill>
            <a:srgbClr val="F1F3F5"/>
          </a:solidFill>
          <a:ln w="9525">
            <a:solidFill>
              <a:srgbClr val="E1E4E8"/>
            </a:solidFill>
            <a:prstDash val="solid"/>
          </a:ln>
        </p:spPr>
      </p:sp>
      <p:sp>
        <p:nvSpPr>
          <p:cNvPr id="42" name="Text 39"/>
          <p:cNvSpPr txBox="1"/>
          <p:nvPr/>
        </p:nvSpPr>
        <p:spPr>
          <a:xfrm>
            <a:off x="8229600" y="374904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Disguised Ads</a:t>
            </a:r>
            <a:endParaRPr lang="en-US" sz="1300" dirty="0"/>
          </a:p>
        </p:txBody>
      </p:sp>
      <p:sp>
        <p:nvSpPr>
          <p:cNvPr id="43" name="Text 40"/>
          <p:cNvSpPr txBox="1"/>
          <p:nvPr/>
        </p:nvSpPr>
        <p:spPr>
          <a:xfrm>
            <a:off x="8229600" y="406908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Ads posing as content</a:t>
            </a:r>
            <a:endParaRPr lang="en-US" sz="1050" dirty="0"/>
          </a:p>
        </p:txBody>
      </p:sp>
      <p:sp>
        <p:nvSpPr>
          <p:cNvPr id="44" name="Shape 41"/>
          <p:cNvSpPr/>
          <p:nvPr/>
        </p:nvSpPr>
        <p:spPr>
          <a:xfrm>
            <a:off x="8046720" y="4480560"/>
            <a:ext cx="3566160" cy="749808"/>
          </a:xfrm>
          <a:prstGeom prst="rect">
            <a:avLst/>
          </a:prstGeom>
          <a:solidFill>
            <a:srgbClr val="F1F3F5"/>
          </a:solidFill>
          <a:ln w="9525">
            <a:solidFill>
              <a:srgbClr val="E1E4E8"/>
            </a:solidFill>
            <a:prstDash val="solid"/>
          </a:ln>
        </p:spPr>
      </p:sp>
      <p:sp>
        <p:nvSpPr>
          <p:cNvPr id="45" name="Text 42"/>
          <p:cNvSpPr txBox="1"/>
          <p:nvPr/>
        </p:nvSpPr>
        <p:spPr>
          <a:xfrm>
            <a:off x="8229600" y="457200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Bait and Switch</a:t>
            </a:r>
            <a:endParaRPr lang="en-US" sz="1300" dirty="0"/>
          </a:p>
        </p:txBody>
      </p:sp>
      <p:sp>
        <p:nvSpPr>
          <p:cNvPr id="46" name="Text 43"/>
          <p:cNvSpPr txBox="1"/>
          <p:nvPr/>
        </p:nvSpPr>
        <p:spPr>
          <a:xfrm>
            <a:off x="8229600" y="489204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Advertised ≠ delivered</a:t>
            </a:r>
            <a:endParaRPr lang="en-US" sz="1050" dirty="0"/>
          </a:p>
        </p:txBody>
      </p:sp>
      <p:sp>
        <p:nvSpPr>
          <p:cNvPr id="47" name="Shape 44"/>
          <p:cNvSpPr/>
          <p:nvPr/>
        </p:nvSpPr>
        <p:spPr>
          <a:xfrm>
            <a:off x="8046720" y="5303520"/>
            <a:ext cx="3566160" cy="749808"/>
          </a:xfrm>
          <a:prstGeom prst="rect">
            <a:avLst/>
          </a:prstGeom>
          <a:solidFill>
            <a:srgbClr val="F1F3F5"/>
          </a:solidFill>
          <a:ln w="9525">
            <a:solidFill>
              <a:srgbClr val="E1E4E8"/>
            </a:solidFill>
            <a:prstDash val="solid"/>
          </a:ln>
        </p:spPr>
      </p:sp>
      <p:sp>
        <p:nvSpPr>
          <p:cNvPr id="48" name="Text 45"/>
          <p:cNvSpPr txBox="1"/>
          <p:nvPr/>
        </p:nvSpPr>
        <p:spPr>
          <a:xfrm>
            <a:off x="8229600" y="5394960"/>
            <a:ext cx="3200400" cy="274320"/>
          </a:xfrm>
          <a:prstGeom prst="rect">
            <a:avLst/>
          </a:prstGeom>
          <a:noFill/>
          <a:ln/>
        </p:spPr>
        <p:txBody>
          <a:bodyPr wrap="square" lIns="0" tIns="0" rIns="0" bIns="0" rtlCol="0" anchor="t"/>
          <a:lstStyle/>
          <a:p>
            <a:pPr indent="0" marL="0">
              <a:buNone/>
            </a:pPr>
            <a:r>
              <a:rPr lang="en-US" sz="1300" b="1" dirty="0">
                <a:solidFill>
                  <a:srgbClr val="1C1E21"/>
                </a:solidFill>
                <a:latin typeface="Georgia" pitchFamily="34" charset="0"/>
                <a:ea typeface="Georgia" pitchFamily="34" charset="-122"/>
                <a:cs typeface="Georgia" pitchFamily="34" charset="-120"/>
              </a:rPr>
              <a:t>Rogue Malware</a:t>
            </a:r>
            <a:endParaRPr lang="en-US" sz="1300" dirty="0"/>
          </a:p>
        </p:txBody>
      </p:sp>
      <p:sp>
        <p:nvSpPr>
          <p:cNvPr id="49" name="Text 46"/>
          <p:cNvSpPr txBox="1"/>
          <p:nvPr/>
        </p:nvSpPr>
        <p:spPr>
          <a:xfrm>
            <a:off x="8229600" y="5715000"/>
            <a:ext cx="3200400" cy="27432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Scareware / deceptive installs</a:t>
            </a:r>
            <a:endParaRPr lang="en-US" sz="1050" dirty="0"/>
          </a:p>
        </p:txBody>
      </p:sp>
      <p:sp>
        <p:nvSpPr>
          <p:cNvPr id="50" name="Text 47"/>
          <p:cNvSpPr txBox="1"/>
          <p:nvPr/>
        </p:nvSpPr>
        <p:spPr>
          <a:xfrm>
            <a:off x="548640" y="6172200"/>
            <a:ext cx="11091672" cy="201168"/>
          </a:xfrm>
          <a:prstGeom prst="rect">
            <a:avLst/>
          </a:prstGeom>
          <a:noFill/>
          <a:ln/>
        </p:spPr>
        <p:txBody>
          <a:bodyPr wrap="square" lIns="0" tIns="0" rIns="0" bIns="0" rtlCol="0" anchor="t"/>
          <a:lstStyle/>
          <a:p>
            <a:pPr indent="0" marL="0">
              <a:buNone/>
            </a:pPr>
            <a:r>
              <a:rPr lang="en-US" sz="850" i="1" dirty="0">
                <a:solidFill>
                  <a:srgbClr val="525866"/>
                </a:solidFill>
                <a:latin typeface="Calibri" pitchFamily="34" charset="0"/>
                <a:ea typeface="Calibri" pitchFamily="34" charset="-122"/>
                <a:cs typeface="Calibri" pitchFamily="34" charset="-120"/>
              </a:rPr>
              <a:t>Source: Guidelines for Prevention and Regulation of Dark Patterns, 2023 (Annexure 1). Groupings are the project's own.</a:t>
            </a:r>
            <a:endParaRPr lang="en-US" sz="8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 · CORE TECHNICAL CONTRIBUTION</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The Exclusion Test: Separating Lawful UX from Violations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749040"/>
                <a:gridCol w="3931920"/>
                <a:gridCol w="338328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LAWFUL LOOKALIKE (EXCLUDE)</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2B8A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VIOLATION (INCLUDE)</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C92A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BOUNDARY TEST</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C1E21"/>
                    </a:solidFill>
                  </a:tcPr>
                </a:tc>
              </a:tr>
              <a:tr h="713232">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Genuine stock counter: "Only 3 left" tied to real inventory</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b="1" dirty="0">
                          <a:solidFill>
                            <a:srgbClr val="C92A2A"/>
                          </a:solidFill>
                          <a:latin typeface="Calibri" pitchFamily="34" charset="0"/>
                          <a:ea typeface="Calibri" pitchFamily="34" charset="-122"/>
                          <a:cs typeface="Calibri" pitchFamily="34" charset="-120"/>
                        </a:rPr>
                        <a:t>False Urgency: timer or scarcity message with no real constraint</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Is the scarcity verifiable and persistent, or does it reset or repeat?</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713232">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Clear primary action: one prominent "Continue" with an equally visible "Cancel"</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b="1" dirty="0">
                          <a:solidFill>
                            <a:srgbClr val="C92A2A"/>
                          </a:solidFill>
                          <a:latin typeface="Calibri" pitchFamily="34" charset="0"/>
                          <a:ea typeface="Calibri" pitchFamily="34" charset="-122"/>
                          <a:cs typeface="Calibri" pitchFamily="34" charset="-120"/>
                        </a:rPr>
                        <a:t>Interface Interference: decline option obscured, low-contrast or misleading</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Can an average user find the opposite choice at equal effort?</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713232">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Optional add-on, unchecked, clearly priced</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b="1" dirty="0">
                          <a:solidFill>
                            <a:srgbClr val="C92A2A"/>
                          </a:solidFill>
                          <a:latin typeface="Calibri" pitchFamily="34" charset="0"/>
                          <a:ea typeface="Calibri" pitchFamily="34" charset="-122"/>
                          <a:cs typeface="Calibri" pitchFamily="34" charset="-120"/>
                        </a:rPr>
                        <a:t>Basket Sneaking: pre-ticked add-on that changes the total</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Did the user act to add it, or was it added by default?</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713232">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Neutral decline: "No thanks"</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b="1" dirty="0">
                          <a:solidFill>
                            <a:srgbClr val="C92A2A"/>
                          </a:solidFill>
                          <a:latin typeface="Calibri" pitchFamily="34" charset="0"/>
                          <a:ea typeface="Calibri" pitchFamily="34" charset="-122"/>
                          <a:cs typeface="Calibri" pitchFamily="34" charset="-120"/>
                        </a:rPr>
                        <a:t>Confirm Shaming: "No, I prefer paying full price"</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Does the copy attach emotion or judgement to declining?</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713232">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Price shown up front, taxes noted</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b="1" dirty="0">
                          <a:solidFill>
                            <a:srgbClr val="C92A2A"/>
                          </a:solidFill>
                          <a:latin typeface="Calibri" pitchFamily="34" charset="0"/>
                          <a:ea typeface="Calibri" pitchFamily="34" charset="-122"/>
                          <a:cs typeface="Calibri" pitchFamily="34" charset="-120"/>
                        </a:rPr>
                        <a:t>Drip Pricing: new mandatory fees appear late in the flow</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indent="0" marL="0">
                        <a:buNone/>
                      </a:pPr>
                      <a:r>
                        <a:rPr lang="en-US" sz="1050" dirty="0">
                          <a:solidFill>
                            <a:srgbClr val="1C1E21"/>
                          </a:solidFill>
                          <a:latin typeface="Calibri" pitchFamily="34" charset="0"/>
                          <a:ea typeface="Calibri" pitchFamily="34" charset="-122"/>
                          <a:cs typeface="Calibri" pitchFamily="34" charset="-120"/>
                        </a:rPr>
                        <a:t>Was the full mandatory cost disclosed when the price was first shown?</a:t>
                      </a:r>
                      <a:endParaRPr lang="en-US" sz="1050" dirty="0">
                        <a:latin typeface="Calibri" charset="0"/>
                        <a:ea typeface="Calibri" charset="0"/>
                        <a:cs typeface="Calibri" charset="0"/>
                      </a:endParaRPr>
                    </a:p>
                  </a:txBody>
                  <a:tcPr marL="109728" marR="109728"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623560"/>
            <a:ext cx="11091672" cy="640080"/>
          </a:xfrm>
          <a:prstGeom prst="rect">
            <a:avLst/>
          </a:prstGeom>
          <a:solidFill>
            <a:srgbClr val="1C1E21"/>
          </a:solidFill>
          <a:ln w="9525">
            <a:solidFill>
              <a:srgbClr val="1C1E21"/>
            </a:solidFill>
            <a:prstDash val="solid"/>
          </a:ln>
        </p:spPr>
      </p:sp>
      <p:sp>
        <p:nvSpPr>
          <p:cNvPr id="7" name="Text 3"/>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400" i="1" dirty="0">
                <a:solidFill>
                  <a:srgbClr val="FFFFFF"/>
                </a:solidFill>
                <a:latin typeface="Georgia" pitchFamily="34" charset="0"/>
                <a:ea typeface="Georgia" pitchFamily="34" charset="-122"/>
                <a:cs typeface="Georgia" pitchFamily="34" charset="-120"/>
              </a:rPr>
              <a:t>Detector proposes  →  Verifier tries to acquit  →  A finding survives only if no lawful reading remains.</a:t>
            </a:r>
            <a:endParaRPr lang="en-US" sz="14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III · ENGINEERING</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Technical Stack &amp; Infrastructure</a:t>
            </a:r>
            <a:endParaRPr lang="en-US" sz="2600" dirty="0"/>
          </a:p>
        </p:txBody>
      </p:sp>
      <p:sp>
        <p:nvSpPr>
          <p:cNvPr id="5" name="Shape 2"/>
          <p:cNvSpPr/>
          <p:nvPr/>
        </p:nvSpPr>
        <p:spPr>
          <a:xfrm>
            <a:off x="548640" y="1508760"/>
            <a:ext cx="5431536" cy="2148840"/>
          </a:xfrm>
          <a:prstGeom prst="rect">
            <a:avLst/>
          </a:prstGeom>
          <a:solidFill>
            <a:srgbClr val="F1F3F5"/>
          </a:solidFill>
          <a:ln w="9525">
            <a:solidFill>
              <a:srgbClr val="E1E4E8"/>
            </a:solidFill>
            <a:prstDash val="solid"/>
          </a:ln>
        </p:spPr>
      </p:sp>
      <p:sp>
        <p:nvSpPr>
          <p:cNvPr id="6" name="Shape 3"/>
          <p:cNvSpPr/>
          <p:nvPr/>
        </p:nvSpPr>
        <p:spPr>
          <a:xfrm>
            <a:off x="548640" y="1508760"/>
            <a:ext cx="54864" cy="2148840"/>
          </a:xfrm>
          <a:prstGeom prst="rect">
            <a:avLst/>
          </a:prstGeom>
          <a:solidFill>
            <a:srgbClr val="C92A2A"/>
          </a:solidFill>
          <a:ln w="12700">
            <a:solidFill>
              <a:srgbClr val="C92A2A"/>
            </a:solidFill>
            <a:prstDash val="solid"/>
          </a:ln>
        </p:spPr>
      </p:sp>
      <p:sp>
        <p:nvSpPr>
          <p:cNvPr id="7" name="Text 4"/>
          <p:cNvSpPr txBox="1"/>
          <p:nvPr/>
        </p:nvSpPr>
        <p:spPr>
          <a:xfrm>
            <a:off x="822960" y="1691640"/>
            <a:ext cx="4974336" cy="182880"/>
          </a:xfrm>
          <a:prstGeom prst="rect">
            <a:avLst/>
          </a:prstGeom>
          <a:noFill/>
          <a:ln/>
        </p:spPr>
        <p:txBody>
          <a:bodyPr wrap="square" lIns="0" tIns="0" rIns="0" bIns="0" rtlCol="0" anchor="t"/>
          <a:lstStyle/>
          <a:p>
            <a:pPr indent="0" marL="0">
              <a:buNone/>
            </a:pPr>
            <a:r>
              <a:rPr lang="en-US" sz="900" b="1" spc="250" kern="0" dirty="0">
                <a:solidFill>
                  <a:srgbClr val="C92A2A"/>
                </a:solidFill>
                <a:latin typeface="Calibri" pitchFamily="34" charset="0"/>
                <a:ea typeface="Calibri" pitchFamily="34" charset="-122"/>
                <a:cs typeface="Calibri" pitchFamily="34" charset="-120"/>
              </a:rPr>
              <a:t>VISION INFERENCE</a:t>
            </a:r>
            <a:endParaRPr lang="en-US" sz="900" dirty="0"/>
          </a:p>
        </p:txBody>
      </p:sp>
      <p:sp>
        <p:nvSpPr>
          <p:cNvPr id="8" name="Text 5"/>
          <p:cNvSpPr txBox="1"/>
          <p:nvPr/>
        </p:nvSpPr>
        <p:spPr>
          <a:xfrm>
            <a:off x="822960" y="2011680"/>
            <a:ext cx="4974336"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Groq multimodal (Qwen 3.8 27B)</a:t>
            </a:r>
            <a:endParaRPr lang="en-US" sz="1600" dirty="0"/>
          </a:p>
          <a:p>
            <a:pPr indent="0" marL="0">
              <a:buNone/>
            </a:pPr>
            <a:r>
              <a:rPr lang="en-US" sz="1600" b="1" dirty="0">
                <a:solidFill>
                  <a:srgbClr val="1C1E21"/>
                </a:solidFill>
                <a:latin typeface="Georgia" pitchFamily="34" charset="0"/>
                <a:ea typeface="Georgia" pitchFamily="34" charset="-122"/>
                <a:cs typeface="Georgia" pitchFamily="34" charset="-120"/>
              </a:rPr>
              <a:t>Anthropic Claude API</a:t>
            </a:r>
            <a:endParaRPr lang="en-US" sz="1600" dirty="0"/>
          </a:p>
        </p:txBody>
      </p:sp>
      <p:sp>
        <p:nvSpPr>
          <p:cNvPr id="9" name="Text 6"/>
          <p:cNvSpPr txBox="1"/>
          <p:nvPr/>
        </p:nvSpPr>
        <p:spPr>
          <a:xfrm>
            <a:off x="822960" y="2834640"/>
            <a:ext cx="4882896" cy="73152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Swappable provider layer; the same prompts, schema and verifier run on both.</a:t>
            </a:r>
            <a:endParaRPr lang="en-US" sz="1150" dirty="0"/>
          </a:p>
        </p:txBody>
      </p:sp>
      <p:sp>
        <p:nvSpPr>
          <p:cNvPr id="10" name="Shape 7"/>
          <p:cNvSpPr/>
          <p:nvPr/>
        </p:nvSpPr>
        <p:spPr>
          <a:xfrm>
            <a:off x="6181344" y="1508760"/>
            <a:ext cx="5431536" cy="2148840"/>
          </a:xfrm>
          <a:prstGeom prst="rect">
            <a:avLst/>
          </a:prstGeom>
          <a:solidFill>
            <a:srgbClr val="F1F3F5"/>
          </a:solidFill>
          <a:ln w="9525">
            <a:solidFill>
              <a:srgbClr val="E1E4E8"/>
            </a:solidFill>
            <a:prstDash val="solid"/>
          </a:ln>
        </p:spPr>
      </p:sp>
      <p:sp>
        <p:nvSpPr>
          <p:cNvPr id="11" name="Shape 8"/>
          <p:cNvSpPr/>
          <p:nvPr/>
        </p:nvSpPr>
        <p:spPr>
          <a:xfrm>
            <a:off x="6181344" y="1508760"/>
            <a:ext cx="54864" cy="2148840"/>
          </a:xfrm>
          <a:prstGeom prst="rect">
            <a:avLst/>
          </a:prstGeom>
          <a:solidFill>
            <a:srgbClr val="1C1E21"/>
          </a:solidFill>
          <a:ln w="12700">
            <a:solidFill>
              <a:srgbClr val="1C1E21"/>
            </a:solidFill>
            <a:prstDash val="solid"/>
          </a:ln>
        </p:spPr>
      </p:sp>
      <p:sp>
        <p:nvSpPr>
          <p:cNvPr id="12" name="Text 9"/>
          <p:cNvSpPr txBox="1"/>
          <p:nvPr/>
        </p:nvSpPr>
        <p:spPr>
          <a:xfrm>
            <a:off x="6455664" y="1691640"/>
            <a:ext cx="4974336" cy="182880"/>
          </a:xfrm>
          <a:prstGeom prst="rect">
            <a:avLst/>
          </a:prstGeom>
          <a:noFill/>
          <a:ln/>
        </p:spPr>
        <p:txBody>
          <a:bodyPr wrap="square" lIns="0" tIns="0" rIns="0" bIns="0" rtlCol="0" anchor="t"/>
          <a:lstStyle/>
          <a:p>
            <a:pPr indent="0" marL="0">
              <a:buNone/>
            </a:pPr>
            <a:r>
              <a:rPr lang="en-US" sz="900" b="1" spc="250" kern="0" dirty="0">
                <a:solidFill>
                  <a:srgbClr val="1C1E21"/>
                </a:solidFill>
                <a:latin typeface="Calibri" pitchFamily="34" charset="0"/>
                <a:ea typeface="Calibri" pitchFamily="34" charset="-122"/>
                <a:cs typeface="Calibri" pitchFamily="34" charset="-120"/>
              </a:rPr>
              <a:t>AUDITOR INTERFACE</a:t>
            </a:r>
            <a:endParaRPr lang="en-US" sz="900" dirty="0"/>
          </a:p>
        </p:txBody>
      </p:sp>
      <p:sp>
        <p:nvSpPr>
          <p:cNvPr id="13" name="Text 10"/>
          <p:cNvSpPr txBox="1"/>
          <p:nvPr/>
        </p:nvSpPr>
        <p:spPr>
          <a:xfrm>
            <a:off x="6455664" y="2011680"/>
            <a:ext cx="4974336"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Streamlit</a:t>
            </a:r>
            <a:endParaRPr lang="en-US" sz="1600" dirty="0"/>
          </a:p>
        </p:txBody>
      </p:sp>
      <p:sp>
        <p:nvSpPr>
          <p:cNvPr id="14" name="Text 11"/>
          <p:cNvSpPr txBox="1"/>
          <p:nvPr/>
        </p:nvSpPr>
        <p:spPr>
          <a:xfrm>
            <a:off x="6455664" y="2834640"/>
            <a:ext cx="4882896" cy="73152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Reactive single-page app: upload or paste URL, view overlays, download the audit.</a:t>
            </a:r>
            <a:endParaRPr lang="en-US" sz="1150" dirty="0"/>
          </a:p>
        </p:txBody>
      </p:sp>
      <p:sp>
        <p:nvSpPr>
          <p:cNvPr id="15" name="Shape 12"/>
          <p:cNvSpPr/>
          <p:nvPr/>
        </p:nvSpPr>
        <p:spPr>
          <a:xfrm>
            <a:off x="548640" y="3858768"/>
            <a:ext cx="5431536" cy="2148840"/>
          </a:xfrm>
          <a:prstGeom prst="rect">
            <a:avLst/>
          </a:prstGeom>
          <a:solidFill>
            <a:srgbClr val="F1F3F5"/>
          </a:solidFill>
          <a:ln w="9525">
            <a:solidFill>
              <a:srgbClr val="E1E4E8"/>
            </a:solidFill>
            <a:prstDash val="solid"/>
          </a:ln>
        </p:spPr>
      </p:sp>
      <p:sp>
        <p:nvSpPr>
          <p:cNvPr id="16" name="Shape 13"/>
          <p:cNvSpPr/>
          <p:nvPr/>
        </p:nvSpPr>
        <p:spPr>
          <a:xfrm>
            <a:off x="548640" y="3858768"/>
            <a:ext cx="54864" cy="2148840"/>
          </a:xfrm>
          <a:prstGeom prst="rect">
            <a:avLst/>
          </a:prstGeom>
          <a:solidFill>
            <a:srgbClr val="D9730D"/>
          </a:solidFill>
          <a:ln w="12700">
            <a:solidFill>
              <a:srgbClr val="D9730D"/>
            </a:solidFill>
            <a:prstDash val="solid"/>
          </a:ln>
        </p:spPr>
      </p:sp>
      <p:sp>
        <p:nvSpPr>
          <p:cNvPr id="17" name="Text 14"/>
          <p:cNvSpPr txBox="1"/>
          <p:nvPr/>
        </p:nvSpPr>
        <p:spPr>
          <a:xfrm>
            <a:off x="822960" y="4041648"/>
            <a:ext cx="4974336" cy="182880"/>
          </a:xfrm>
          <a:prstGeom prst="rect">
            <a:avLst/>
          </a:prstGeom>
          <a:noFill/>
          <a:ln/>
        </p:spPr>
        <p:txBody>
          <a:bodyPr wrap="square" lIns="0" tIns="0" rIns="0" bIns="0" rtlCol="0" anchor="t"/>
          <a:lstStyle/>
          <a:p>
            <a:pPr indent="0" marL="0">
              <a:buNone/>
            </a:pPr>
            <a:r>
              <a:rPr lang="en-US" sz="900" b="1" spc="250" kern="0" dirty="0">
                <a:solidFill>
                  <a:srgbClr val="D9730D"/>
                </a:solidFill>
                <a:latin typeface="Calibri" pitchFamily="34" charset="0"/>
                <a:ea typeface="Calibri" pitchFamily="34" charset="-122"/>
                <a:cs typeface="Calibri" pitchFamily="34" charset="-120"/>
              </a:rPr>
              <a:t>BROWSER AUTOMATION</a:t>
            </a:r>
            <a:endParaRPr lang="en-US" sz="900" dirty="0"/>
          </a:p>
        </p:txBody>
      </p:sp>
      <p:sp>
        <p:nvSpPr>
          <p:cNvPr id="18" name="Text 15"/>
          <p:cNvSpPr txBox="1"/>
          <p:nvPr/>
        </p:nvSpPr>
        <p:spPr>
          <a:xfrm>
            <a:off x="822960" y="4361688"/>
            <a:ext cx="4974336"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Playwright (headless Chromium)</a:t>
            </a:r>
            <a:endParaRPr lang="en-US" sz="1600" dirty="0"/>
          </a:p>
        </p:txBody>
      </p:sp>
      <p:sp>
        <p:nvSpPr>
          <p:cNvPr id="19" name="Text 16"/>
          <p:cNvSpPr txBox="1"/>
          <p:nvPr/>
        </p:nvSpPr>
        <p:spPr>
          <a:xfrm>
            <a:off x="822960" y="5184648"/>
            <a:ext cx="4882896" cy="73152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Deterministic capture plus DOM probing for timers, checked inputs and sticky nodes.</a:t>
            </a:r>
            <a:endParaRPr lang="en-US" sz="1150" dirty="0"/>
          </a:p>
        </p:txBody>
      </p:sp>
      <p:sp>
        <p:nvSpPr>
          <p:cNvPr id="20" name="Shape 17"/>
          <p:cNvSpPr/>
          <p:nvPr/>
        </p:nvSpPr>
        <p:spPr>
          <a:xfrm>
            <a:off x="6181344" y="3858768"/>
            <a:ext cx="5431536" cy="2148840"/>
          </a:xfrm>
          <a:prstGeom prst="rect">
            <a:avLst/>
          </a:prstGeom>
          <a:solidFill>
            <a:srgbClr val="F1F3F5"/>
          </a:solidFill>
          <a:ln w="9525">
            <a:solidFill>
              <a:srgbClr val="E1E4E8"/>
            </a:solidFill>
            <a:prstDash val="solid"/>
          </a:ln>
        </p:spPr>
      </p:sp>
      <p:sp>
        <p:nvSpPr>
          <p:cNvPr id="21" name="Shape 18"/>
          <p:cNvSpPr/>
          <p:nvPr/>
        </p:nvSpPr>
        <p:spPr>
          <a:xfrm>
            <a:off x="6181344" y="3858768"/>
            <a:ext cx="54864" cy="2148840"/>
          </a:xfrm>
          <a:prstGeom prst="rect">
            <a:avLst/>
          </a:prstGeom>
          <a:solidFill>
            <a:srgbClr val="2B8A3E"/>
          </a:solidFill>
          <a:ln w="12700">
            <a:solidFill>
              <a:srgbClr val="2B8A3E"/>
            </a:solidFill>
            <a:prstDash val="solid"/>
          </a:ln>
        </p:spPr>
      </p:sp>
      <p:sp>
        <p:nvSpPr>
          <p:cNvPr id="22" name="Text 19"/>
          <p:cNvSpPr txBox="1"/>
          <p:nvPr/>
        </p:nvSpPr>
        <p:spPr>
          <a:xfrm>
            <a:off x="6455664" y="4041648"/>
            <a:ext cx="4974336" cy="182880"/>
          </a:xfrm>
          <a:prstGeom prst="rect">
            <a:avLst/>
          </a:prstGeom>
          <a:noFill/>
          <a:ln/>
        </p:spPr>
        <p:txBody>
          <a:bodyPr wrap="square" lIns="0" tIns="0" rIns="0" bIns="0" rtlCol="0" anchor="t"/>
          <a:lstStyle/>
          <a:p>
            <a:pPr indent="0" marL="0">
              <a:buNone/>
            </a:pPr>
            <a:r>
              <a:rPr lang="en-US" sz="900" b="1" spc="250" kern="0" dirty="0">
                <a:solidFill>
                  <a:srgbClr val="2B8A3E"/>
                </a:solidFill>
                <a:latin typeface="Calibri" pitchFamily="34" charset="0"/>
                <a:ea typeface="Calibri" pitchFamily="34" charset="-122"/>
                <a:cs typeface="Calibri" pitchFamily="34" charset="-120"/>
              </a:rPr>
              <a:t>ARTEFACT GENERATION</a:t>
            </a:r>
            <a:endParaRPr lang="en-US" sz="900" dirty="0"/>
          </a:p>
        </p:txBody>
      </p:sp>
      <p:sp>
        <p:nvSpPr>
          <p:cNvPr id="23" name="Text 20"/>
          <p:cNvSpPr txBox="1"/>
          <p:nvPr/>
        </p:nvSpPr>
        <p:spPr>
          <a:xfrm>
            <a:off x="6455664" y="4361688"/>
            <a:ext cx="4974336"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Pillow  ·  ReportLab</a:t>
            </a:r>
            <a:endParaRPr lang="en-US" sz="1600" dirty="0"/>
          </a:p>
        </p:txBody>
      </p:sp>
      <p:sp>
        <p:nvSpPr>
          <p:cNvPr id="24" name="Text 21"/>
          <p:cNvSpPr txBox="1"/>
          <p:nvPr/>
        </p:nvSpPr>
        <p:spPr>
          <a:xfrm>
            <a:off x="6455664" y="5184648"/>
            <a:ext cx="4882896" cy="73152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Bounding-box overlays on the screenshot and a formatted PDF audit report.</a:t>
            </a:r>
            <a:endParaRPr lang="en-US" sz="11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III · IMPLEMENTATION</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Structured Tool Schema &amp; Coordinate Mapping</a:t>
            </a:r>
            <a:endParaRPr lang="en-US" sz="2600" dirty="0"/>
          </a:p>
        </p:txBody>
      </p:sp>
      <p:sp>
        <p:nvSpPr>
          <p:cNvPr id="5" name="Shape 2"/>
          <p:cNvSpPr/>
          <p:nvPr/>
        </p:nvSpPr>
        <p:spPr>
          <a:xfrm>
            <a:off x="548640" y="1508760"/>
            <a:ext cx="6309360" cy="4526280"/>
          </a:xfrm>
          <a:prstGeom prst="rect">
            <a:avLst/>
          </a:prstGeom>
          <a:solidFill>
            <a:srgbClr val="0F1115"/>
          </a:solidFill>
          <a:ln w="9525">
            <a:solidFill>
              <a:srgbClr val="0F1115"/>
            </a:solidFill>
            <a:prstDash val="solid"/>
          </a:ln>
        </p:spPr>
      </p:sp>
      <p:sp>
        <p:nvSpPr>
          <p:cNvPr id="6" name="Text 3"/>
          <p:cNvSpPr txBox="1"/>
          <p:nvPr/>
        </p:nvSpPr>
        <p:spPr>
          <a:xfrm>
            <a:off x="822960" y="1645920"/>
            <a:ext cx="5486400" cy="228600"/>
          </a:xfrm>
          <a:prstGeom prst="rect">
            <a:avLst/>
          </a:prstGeom>
          <a:noFill/>
          <a:ln/>
        </p:spPr>
        <p:txBody>
          <a:bodyPr wrap="square" lIns="0" tIns="0" rIns="0" bIns="0" rtlCol="0" anchor="t"/>
          <a:lstStyle/>
          <a:p>
            <a:pPr indent="0" marL="0">
              <a:buNone/>
            </a:pPr>
            <a:r>
              <a:rPr lang="en-US" sz="1000" b="1" dirty="0">
                <a:solidFill>
                  <a:srgbClr val="E8590C"/>
                </a:solidFill>
                <a:latin typeface="Consolas" pitchFamily="34" charset="0"/>
                <a:ea typeface="Consolas" pitchFamily="34" charset="-122"/>
                <a:cs typeface="Consolas" pitchFamily="34" charset="-120"/>
              </a:rPr>
              <a:t>report_violations — tool schema</a:t>
            </a:r>
            <a:endParaRPr lang="en-US" sz="1000" dirty="0"/>
          </a:p>
        </p:txBody>
      </p:sp>
      <p:sp>
        <p:nvSpPr>
          <p:cNvPr id="7" name="Text 4"/>
          <p:cNvSpPr txBox="1"/>
          <p:nvPr/>
        </p:nvSpPr>
        <p:spPr>
          <a:xfrm>
            <a:off x="822960" y="2011680"/>
            <a:ext cx="5852160" cy="3840480"/>
          </a:xfrm>
          <a:prstGeom prst="rect">
            <a:avLst/>
          </a:prstGeom>
          <a:noFill/>
          <a:ln/>
        </p:spPr>
        <p:txBody>
          <a:bodyPr wrap="square" lIns="0" tIns="0" rIns="0" bIns="0" rtlCol="0" anchor="t"/>
          <a:lstStyle/>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"findings": [{</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"pattern":   enum[13 CCPA types],</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"severity":  "high" | "medium" | "low",</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"confidence": 0.0 – 1.0,</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"bbox":      [x1, y1, x2, y2],   // 0–1000</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"evidence":  "quoted on-screen text",</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"rationale": "why this violates the rule",</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"statute":   "Annexure 1, Pattern n",</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"honest_rewrite": "compliant copy + UI fix"</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  "clean": boolean   // true if none survive</a:t>
            </a:r>
            <a:endParaRPr lang="en-US" sz="1100" dirty="0"/>
          </a:p>
          <a:p>
            <a:pPr indent="0" marL="0">
              <a:lnSpc>
                <a:spcPts val="1900"/>
              </a:lnSpc>
              <a:buNone/>
            </a:pPr>
            <a:r>
              <a:rPr lang="en-US" sz="1100" dirty="0">
                <a:solidFill>
                  <a:srgbClr val="D0D4DB"/>
                </a:solidFill>
                <a:latin typeface="Consolas" pitchFamily="34" charset="0"/>
                <a:ea typeface="Consolas" pitchFamily="34" charset="-122"/>
                <a:cs typeface="Consolas" pitchFamily="34" charset="-120"/>
              </a:rPr>
              <a:t>}</a:t>
            </a:r>
            <a:endParaRPr lang="en-US" sz="1100" dirty="0"/>
          </a:p>
        </p:txBody>
      </p:sp>
      <p:sp>
        <p:nvSpPr>
          <p:cNvPr id="8" name="Shape 5"/>
          <p:cNvSpPr/>
          <p:nvPr/>
        </p:nvSpPr>
        <p:spPr>
          <a:xfrm>
            <a:off x="7132320" y="1508760"/>
            <a:ext cx="4507992" cy="2377440"/>
          </a:xfrm>
          <a:prstGeom prst="rect">
            <a:avLst/>
          </a:prstGeom>
          <a:solidFill>
            <a:srgbClr val="F1F3F5"/>
          </a:solidFill>
          <a:ln w="9525">
            <a:solidFill>
              <a:srgbClr val="E1E4E8"/>
            </a:solidFill>
            <a:prstDash val="solid"/>
          </a:ln>
        </p:spPr>
      </p:sp>
      <p:sp>
        <p:nvSpPr>
          <p:cNvPr id="9" name="Shape 6"/>
          <p:cNvSpPr/>
          <p:nvPr/>
        </p:nvSpPr>
        <p:spPr>
          <a:xfrm>
            <a:off x="7132320" y="1508760"/>
            <a:ext cx="54864" cy="2377440"/>
          </a:xfrm>
          <a:prstGeom prst="rect">
            <a:avLst/>
          </a:prstGeom>
          <a:solidFill>
            <a:srgbClr val="C92A2A"/>
          </a:solidFill>
          <a:ln w="12700">
            <a:solidFill>
              <a:srgbClr val="C92A2A"/>
            </a:solidFill>
            <a:prstDash val="solid"/>
          </a:ln>
        </p:spPr>
      </p:sp>
      <p:sp>
        <p:nvSpPr>
          <p:cNvPr id="10" name="Text 7"/>
          <p:cNvSpPr txBox="1"/>
          <p:nvPr/>
        </p:nvSpPr>
        <p:spPr>
          <a:xfrm>
            <a:off x="7406640" y="1664208"/>
            <a:ext cx="4050792" cy="182880"/>
          </a:xfrm>
          <a:prstGeom prst="rect">
            <a:avLst/>
          </a:prstGeom>
          <a:noFill/>
          <a:ln/>
        </p:spPr>
        <p:txBody>
          <a:bodyPr wrap="square" lIns="0" tIns="0" rIns="0" bIns="0" rtlCol="0" anchor="t"/>
          <a:lstStyle/>
          <a:p>
            <a:pPr indent="0" marL="0">
              <a:buNone/>
            </a:pPr>
            <a:r>
              <a:rPr lang="en-US" sz="900" b="1" spc="200" kern="0" dirty="0">
                <a:solidFill>
                  <a:srgbClr val="C92A2A"/>
                </a:solidFill>
                <a:latin typeface="Calibri" pitchFamily="34" charset="0"/>
                <a:ea typeface="Calibri" pitchFamily="34" charset="-122"/>
                <a:cs typeface="Calibri" pitchFamily="34" charset="-120"/>
              </a:rPr>
              <a:t>NORMALISED → NATIVE PIXELS</a:t>
            </a:r>
            <a:endParaRPr lang="en-US" sz="900" dirty="0"/>
          </a:p>
        </p:txBody>
      </p:sp>
      <p:sp>
        <p:nvSpPr>
          <p:cNvPr id="11" name="Text 8"/>
          <p:cNvSpPr txBox="1"/>
          <p:nvPr/>
        </p:nvSpPr>
        <p:spPr>
          <a:xfrm>
            <a:off x="7406640" y="2011680"/>
            <a:ext cx="4050792" cy="731520"/>
          </a:xfrm>
          <a:prstGeom prst="rect">
            <a:avLst/>
          </a:prstGeom>
          <a:noFill/>
          <a:ln/>
        </p:spPr>
        <p:txBody>
          <a:bodyPr wrap="square" lIns="0" tIns="0" rIns="0" bIns="0" rtlCol="0" anchor="t"/>
          <a:lstStyle/>
          <a:p>
            <a:pPr indent="0" marL="0">
              <a:lnSpc>
                <a:spcPts val="2000"/>
              </a:lnSpc>
              <a:buNone/>
            </a:pPr>
            <a:r>
              <a:rPr lang="en-US" sz="1200" b="1" dirty="0">
                <a:solidFill>
                  <a:srgbClr val="1C1E21"/>
                </a:solidFill>
                <a:latin typeface="Consolas" pitchFamily="34" charset="0"/>
                <a:ea typeface="Consolas" pitchFamily="34" charset="-122"/>
                <a:cs typeface="Consolas" pitchFamily="34" charset="-120"/>
              </a:rPr>
              <a:t>px_x = (x_norm / 1000) × width</a:t>
            </a:r>
            <a:endParaRPr lang="en-US" sz="1200" dirty="0"/>
          </a:p>
          <a:p>
            <a:pPr indent="0" marL="0">
              <a:lnSpc>
                <a:spcPts val="2000"/>
              </a:lnSpc>
              <a:buNone/>
            </a:pPr>
            <a:r>
              <a:rPr lang="en-US" sz="1200" b="1" dirty="0">
                <a:solidFill>
                  <a:srgbClr val="1C1E21"/>
                </a:solidFill>
                <a:latin typeface="Consolas" pitchFamily="34" charset="0"/>
                <a:ea typeface="Consolas" pitchFamily="34" charset="-122"/>
                <a:cs typeface="Consolas" pitchFamily="34" charset="-120"/>
              </a:rPr>
              <a:t>px_y = (y_norm / 1000) × height</a:t>
            </a:r>
            <a:endParaRPr lang="en-US" sz="1200" dirty="0"/>
          </a:p>
        </p:txBody>
      </p:sp>
      <p:sp>
        <p:nvSpPr>
          <p:cNvPr id="12" name="Text 9"/>
          <p:cNvSpPr txBox="1"/>
          <p:nvPr/>
        </p:nvSpPr>
        <p:spPr>
          <a:xfrm>
            <a:off x="7406640" y="2880360"/>
            <a:ext cx="4050792" cy="91440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Resolution-independent: the same box overlays correctly on the original capture, a thumbnail or the PDF.</a:t>
            </a:r>
            <a:endParaRPr lang="en-US" sz="1150" dirty="0"/>
          </a:p>
        </p:txBody>
      </p:sp>
      <p:sp>
        <p:nvSpPr>
          <p:cNvPr id="13" name="Shape 10"/>
          <p:cNvSpPr/>
          <p:nvPr/>
        </p:nvSpPr>
        <p:spPr>
          <a:xfrm>
            <a:off x="7132320" y="4069080"/>
            <a:ext cx="4507992" cy="1965960"/>
          </a:xfrm>
          <a:prstGeom prst="rect">
            <a:avLst/>
          </a:prstGeom>
          <a:solidFill>
            <a:srgbClr val="F1F3F5"/>
          </a:solidFill>
          <a:ln w="9525">
            <a:solidFill>
              <a:srgbClr val="E1E4E8"/>
            </a:solidFill>
            <a:prstDash val="solid"/>
          </a:ln>
        </p:spPr>
      </p:sp>
      <p:sp>
        <p:nvSpPr>
          <p:cNvPr id="14" name="Shape 11"/>
          <p:cNvSpPr/>
          <p:nvPr/>
        </p:nvSpPr>
        <p:spPr>
          <a:xfrm>
            <a:off x="7132320" y="4069080"/>
            <a:ext cx="54864" cy="1965960"/>
          </a:xfrm>
          <a:prstGeom prst="rect">
            <a:avLst/>
          </a:prstGeom>
          <a:solidFill>
            <a:srgbClr val="2B8A3E"/>
          </a:solidFill>
          <a:ln w="12700">
            <a:solidFill>
              <a:srgbClr val="2B8A3E"/>
            </a:solidFill>
            <a:prstDash val="solid"/>
          </a:ln>
        </p:spPr>
      </p:sp>
      <p:sp>
        <p:nvSpPr>
          <p:cNvPr id="15" name="Text 12"/>
          <p:cNvSpPr txBox="1"/>
          <p:nvPr/>
        </p:nvSpPr>
        <p:spPr>
          <a:xfrm>
            <a:off x="7406640" y="4224528"/>
            <a:ext cx="4050792" cy="182880"/>
          </a:xfrm>
          <a:prstGeom prst="rect">
            <a:avLst/>
          </a:prstGeom>
          <a:noFill/>
          <a:ln/>
        </p:spPr>
        <p:txBody>
          <a:bodyPr wrap="square" lIns="0" tIns="0" rIns="0" bIns="0" rtlCol="0" anchor="t"/>
          <a:lstStyle/>
          <a:p>
            <a:pPr indent="0" marL="0">
              <a:buNone/>
            </a:pPr>
            <a:r>
              <a:rPr lang="en-US" sz="900" b="1" spc="200" kern="0" dirty="0">
                <a:solidFill>
                  <a:srgbClr val="2B8A3E"/>
                </a:solidFill>
                <a:latin typeface="Calibri" pitchFamily="34" charset="0"/>
                <a:ea typeface="Calibri" pitchFamily="34" charset="-122"/>
                <a:cs typeface="Calibri" pitchFamily="34" charset="-120"/>
              </a:rPr>
              <a:t>WHY FUNCTION CALLING</a:t>
            </a:r>
            <a:endParaRPr lang="en-US" sz="900" dirty="0"/>
          </a:p>
        </p:txBody>
      </p:sp>
      <p:sp>
        <p:nvSpPr>
          <p:cNvPr id="16" name="Text 13"/>
          <p:cNvSpPr txBox="1"/>
          <p:nvPr/>
        </p:nvSpPr>
        <p:spPr>
          <a:xfrm>
            <a:off x="7406640" y="4572000"/>
            <a:ext cx="4050792" cy="13716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525866"/>
                </a:solidFill>
                <a:latin typeface="Calibri" pitchFamily="34" charset="0"/>
                <a:ea typeface="Calibri" pitchFamily="34" charset="-122"/>
                <a:cs typeface="Calibri" pitchFamily="34" charset="-120"/>
              </a:rPr>
              <a:t>Deterministic, validated structure</a:t>
            </a:r>
            <a:endParaRPr lang="en-US" sz="1150" dirty="0"/>
          </a:p>
          <a:p>
            <a:pPr marL="342900" indent="-342900">
              <a:spcAft>
                <a:spcPts val="400"/>
              </a:spcAft>
              <a:buSzPct val="100000"/>
              <a:buChar char="•"/>
            </a:pPr>
            <a:r>
              <a:rPr lang="en-US" sz="1150" dirty="0">
                <a:solidFill>
                  <a:srgbClr val="525866"/>
                </a:solidFill>
                <a:latin typeface="Calibri" pitchFamily="34" charset="0"/>
                <a:ea typeface="Calibri" pitchFamily="34" charset="-122"/>
                <a:cs typeface="Calibri" pitchFamily="34" charset="-120"/>
              </a:rPr>
              <a:t>Closed label set (no invented patterns)</a:t>
            </a:r>
            <a:endParaRPr lang="en-US" sz="1150" dirty="0"/>
          </a:p>
          <a:p>
            <a:pPr marL="342900" indent="-342900">
              <a:spcAft>
                <a:spcPts val="400"/>
              </a:spcAft>
              <a:buSzPct val="100000"/>
              <a:buChar char="•"/>
            </a:pPr>
            <a:r>
              <a:rPr lang="en-US" sz="1150" dirty="0">
                <a:solidFill>
                  <a:srgbClr val="525866"/>
                </a:solidFill>
                <a:latin typeface="Calibri" pitchFamily="34" charset="0"/>
                <a:ea typeface="Calibri" pitchFamily="34" charset="-122"/>
                <a:cs typeface="Calibri" pitchFamily="34" charset="-120"/>
              </a:rPr>
              <a:t>Direct feed into overlay and PDF</a:t>
            </a:r>
            <a:endParaRPr lang="en-US" sz="11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III · AUDIT FINDING ANATOMY</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Anatomy of an Audit Finding</a:t>
            </a:r>
            <a:endParaRPr lang="en-US" sz="2600" dirty="0"/>
          </a:p>
        </p:txBody>
      </p:sp>
      <p:sp>
        <p:nvSpPr>
          <p:cNvPr id="5" name="Shape 2"/>
          <p:cNvSpPr/>
          <p:nvPr/>
        </p:nvSpPr>
        <p:spPr>
          <a:xfrm>
            <a:off x="548640" y="1508760"/>
            <a:ext cx="3931920" cy="4572000"/>
          </a:xfrm>
          <a:prstGeom prst="rect">
            <a:avLst/>
          </a:prstGeom>
          <a:solidFill>
            <a:srgbClr val="FFFFFF"/>
          </a:solidFill>
          <a:ln w="9525">
            <a:solidFill>
              <a:srgbClr val="E1E4E8"/>
            </a:solidFill>
            <a:prstDash val="solid"/>
          </a:ln>
        </p:spPr>
      </p:sp>
      <p:sp>
        <p:nvSpPr>
          <p:cNvPr id="6" name="Text 3"/>
          <p:cNvSpPr txBox="1"/>
          <p:nvPr/>
        </p:nvSpPr>
        <p:spPr>
          <a:xfrm>
            <a:off x="777240" y="1645920"/>
            <a:ext cx="347472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ANNOTATED CAPTURE</a:t>
            </a:r>
            <a:endParaRPr lang="en-US" sz="900" dirty="0"/>
          </a:p>
        </p:txBody>
      </p:sp>
      <p:sp>
        <p:nvSpPr>
          <p:cNvPr id="7" name="Shape 4"/>
          <p:cNvSpPr/>
          <p:nvPr/>
        </p:nvSpPr>
        <p:spPr>
          <a:xfrm>
            <a:off x="822960" y="2011680"/>
            <a:ext cx="3383280" cy="457200"/>
          </a:xfrm>
          <a:prstGeom prst="rect">
            <a:avLst/>
          </a:prstGeom>
          <a:solidFill>
            <a:srgbClr val="2B8A3E"/>
          </a:solidFill>
          <a:ln w="12700">
            <a:solidFill>
              <a:srgbClr val="2B8A3E"/>
            </a:solidFill>
            <a:prstDash val="solid"/>
          </a:ln>
        </p:spPr>
      </p:sp>
      <p:sp>
        <p:nvSpPr>
          <p:cNvPr id="8" name="Text 5"/>
          <p:cNvSpPr txBox="1"/>
          <p:nvPr/>
        </p:nvSpPr>
        <p:spPr>
          <a:xfrm>
            <a:off x="822960" y="2011680"/>
            <a:ext cx="3383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Yes, keep my 20% discount!</a:t>
            </a:r>
            <a:endParaRPr lang="en-US" sz="1200" dirty="0"/>
          </a:p>
        </p:txBody>
      </p:sp>
      <p:sp>
        <p:nvSpPr>
          <p:cNvPr id="9" name="Shape 6"/>
          <p:cNvSpPr/>
          <p:nvPr/>
        </p:nvSpPr>
        <p:spPr>
          <a:xfrm>
            <a:off x="1417320" y="2926080"/>
            <a:ext cx="2194560" cy="411480"/>
          </a:xfrm>
          <a:prstGeom prst="rect">
            <a:avLst/>
          </a:prstGeom>
          <a:ln w="25400">
            <a:solidFill>
              <a:srgbClr val="C92A2A"/>
            </a:solidFill>
            <a:prstDash val="solid"/>
          </a:ln>
        </p:spPr>
      </p:sp>
      <p:sp>
        <p:nvSpPr>
          <p:cNvPr id="10" name="Text 7"/>
          <p:cNvSpPr txBox="1"/>
          <p:nvPr/>
        </p:nvSpPr>
        <p:spPr>
          <a:xfrm>
            <a:off x="1417320" y="2926080"/>
            <a:ext cx="2194560" cy="411480"/>
          </a:xfrm>
          <a:prstGeom prst="rect">
            <a:avLst/>
          </a:prstGeom>
          <a:noFill/>
          <a:ln/>
        </p:spPr>
        <p:txBody>
          <a:bodyPr wrap="square" lIns="0" tIns="0" rIns="0" bIns="0" rtlCol="0" anchor="ctr"/>
          <a:lstStyle/>
          <a:p>
            <a:pPr algn="ctr" indent="0" marL="0">
              <a:buNone/>
            </a:pPr>
            <a:r>
              <a:rPr lang="en-US" sz="950" dirty="0">
                <a:solidFill>
                  <a:srgbClr val="8A909C"/>
                </a:solidFill>
                <a:latin typeface="Calibri" pitchFamily="34" charset="0"/>
                <a:ea typeface="Calibri" pitchFamily="34" charset="-122"/>
                <a:cs typeface="Calibri" pitchFamily="34" charset="-120"/>
              </a:rPr>
              <a:t>No, I prefer paying full price</a:t>
            </a:r>
            <a:endParaRPr lang="en-US" sz="950" dirty="0"/>
          </a:p>
        </p:txBody>
      </p:sp>
      <p:sp>
        <p:nvSpPr>
          <p:cNvPr id="11" name="Shape 8"/>
          <p:cNvSpPr/>
          <p:nvPr/>
        </p:nvSpPr>
        <p:spPr>
          <a:xfrm>
            <a:off x="1417320" y="2651760"/>
            <a:ext cx="502920" cy="219456"/>
          </a:xfrm>
          <a:prstGeom prst="roundRect">
            <a:avLst>
              <a:gd name="adj" fmla="val 25000"/>
            </a:avLst>
          </a:prstGeom>
          <a:solidFill>
            <a:srgbClr val="C92A2A"/>
          </a:solidFill>
          <a:ln w="12700">
            <a:solidFill>
              <a:srgbClr val="C92A2A"/>
            </a:solidFill>
            <a:prstDash val="solid"/>
          </a:ln>
        </p:spPr>
      </p:sp>
      <p:sp>
        <p:nvSpPr>
          <p:cNvPr id="12" name="Text 9"/>
          <p:cNvSpPr txBox="1"/>
          <p:nvPr/>
        </p:nvSpPr>
        <p:spPr>
          <a:xfrm>
            <a:off x="1417320" y="2651760"/>
            <a:ext cx="5029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#1</a:t>
            </a:r>
            <a:endParaRPr lang="en-US" sz="800" dirty="0"/>
          </a:p>
        </p:txBody>
      </p:sp>
      <p:sp>
        <p:nvSpPr>
          <p:cNvPr id="13" name="Text 10"/>
          <p:cNvSpPr txBox="1"/>
          <p:nvPr/>
        </p:nvSpPr>
        <p:spPr>
          <a:xfrm>
            <a:off x="822960" y="3611880"/>
            <a:ext cx="3383280" cy="228600"/>
          </a:xfrm>
          <a:prstGeom prst="rect">
            <a:avLst/>
          </a:prstGeom>
          <a:noFill/>
          <a:ln/>
        </p:spPr>
        <p:txBody>
          <a:bodyPr wrap="square" lIns="0" tIns="0" rIns="0" bIns="0" rtlCol="0" anchor="t"/>
          <a:lstStyle/>
          <a:p>
            <a:pPr indent="0" marL="0">
              <a:buNone/>
            </a:pPr>
            <a:r>
              <a:rPr lang="en-US" sz="950" dirty="0">
                <a:solidFill>
                  <a:srgbClr val="525866"/>
                </a:solidFill>
                <a:latin typeface="Consolas" pitchFamily="34" charset="0"/>
                <a:ea typeface="Consolas" pitchFamily="34" charset="-122"/>
                <a:cs typeface="Consolas" pitchFamily="34" charset="-120"/>
              </a:rPr>
              <a:t>bbox [412, 702, 588, 738]</a:t>
            </a:r>
            <a:endParaRPr lang="en-US" sz="950" dirty="0"/>
          </a:p>
        </p:txBody>
      </p:sp>
      <p:sp>
        <p:nvSpPr>
          <p:cNvPr id="14" name="Text 11"/>
          <p:cNvSpPr txBox="1"/>
          <p:nvPr/>
        </p:nvSpPr>
        <p:spPr>
          <a:xfrm>
            <a:off x="822960" y="3931920"/>
            <a:ext cx="3383280" cy="640080"/>
          </a:xfrm>
          <a:prstGeom prst="rect">
            <a:avLst/>
          </a:prstGeom>
          <a:noFill/>
          <a:ln/>
        </p:spPr>
        <p:txBody>
          <a:bodyPr wrap="square" lIns="0" tIns="0" rIns="0" bIns="0" rtlCol="0" anchor="t"/>
          <a:lstStyle/>
          <a:p>
            <a:pPr indent="0" marL="0">
              <a:buNone/>
            </a:pPr>
            <a:r>
              <a:rPr lang="en-US" sz="1000" i="1" dirty="0">
                <a:solidFill>
                  <a:srgbClr val="525866"/>
                </a:solidFill>
                <a:latin typeface="Calibri" pitchFamily="34" charset="0"/>
                <a:ea typeface="Calibri" pitchFamily="34" charset="-122"/>
                <a:cs typeface="Calibri" pitchFamily="34" charset="-120"/>
              </a:rPr>
              <a:t>Confidence 0.91 · Verified by adversarial pass · DOM: decline is &lt;a&gt;, 11px, #9AA</a:t>
            </a:r>
            <a:endParaRPr lang="en-US" sz="1000" dirty="0"/>
          </a:p>
        </p:txBody>
      </p:sp>
      <p:sp>
        <p:nvSpPr>
          <p:cNvPr id="15" name="Shape 12"/>
          <p:cNvSpPr/>
          <p:nvPr/>
        </p:nvSpPr>
        <p:spPr>
          <a:xfrm>
            <a:off x="4663440" y="1508760"/>
            <a:ext cx="3246120" cy="4572000"/>
          </a:xfrm>
          <a:prstGeom prst="rect">
            <a:avLst/>
          </a:prstGeom>
          <a:solidFill>
            <a:srgbClr val="F1F3F5"/>
          </a:solidFill>
          <a:ln w="9525">
            <a:solidFill>
              <a:srgbClr val="E1E4E8"/>
            </a:solidFill>
            <a:prstDash val="solid"/>
          </a:ln>
        </p:spPr>
      </p:sp>
      <p:sp>
        <p:nvSpPr>
          <p:cNvPr id="16" name="Shape 13"/>
          <p:cNvSpPr/>
          <p:nvPr/>
        </p:nvSpPr>
        <p:spPr>
          <a:xfrm>
            <a:off x="4663440" y="1508760"/>
            <a:ext cx="54864" cy="4572000"/>
          </a:xfrm>
          <a:prstGeom prst="rect">
            <a:avLst/>
          </a:prstGeom>
          <a:solidFill>
            <a:srgbClr val="D9730D"/>
          </a:solidFill>
          <a:ln w="12700">
            <a:solidFill>
              <a:srgbClr val="D9730D"/>
            </a:solidFill>
            <a:prstDash val="solid"/>
          </a:ln>
        </p:spPr>
      </p:sp>
      <p:sp>
        <p:nvSpPr>
          <p:cNvPr id="17" name="Shape 14"/>
          <p:cNvSpPr/>
          <p:nvPr/>
        </p:nvSpPr>
        <p:spPr>
          <a:xfrm>
            <a:off x="4937760" y="1691640"/>
            <a:ext cx="1645920" cy="256032"/>
          </a:xfrm>
          <a:prstGeom prst="roundRect">
            <a:avLst>
              <a:gd name="adj" fmla="val 21429"/>
            </a:avLst>
          </a:prstGeom>
          <a:solidFill>
            <a:srgbClr val="D9730D"/>
          </a:solidFill>
          <a:ln w="12700">
            <a:solidFill>
              <a:srgbClr val="D9730D"/>
            </a:solidFill>
            <a:prstDash val="solid"/>
          </a:ln>
        </p:spPr>
      </p:sp>
      <p:sp>
        <p:nvSpPr>
          <p:cNvPr id="18" name="Text 15"/>
          <p:cNvSpPr txBox="1"/>
          <p:nvPr/>
        </p:nvSpPr>
        <p:spPr>
          <a:xfrm>
            <a:off x="4937760" y="1691640"/>
            <a:ext cx="16459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SEVERITY: MEDIUM</a:t>
            </a:r>
            <a:endParaRPr lang="en-US" sz="800" dirty="0"/>
          </a:p>
        </p:txBody>
      </p:sp>
      <p:sp>
        <p:nvSpPr>
          <p:cNvPr id="19" name="Text 16"/>
          <p:cNvSpPr txBox="1"/>
          <p:nvPr/>
        </p:nvSpPr>
        <p:spPr>
          <a:xfrm>
            <a:off x="4937760" y="2103120"/>
            <a:ext cx="2788920" cy="411480"/>
          </a:xfrm>
          <a:prstGeom prst="rect">
            <a:avLst/>
          </a:prstGeom>
          <a:noFill/>
          <a:ln/>
        </p:spPr>
        <p:txBody>
          <a:bodyPr wrap="square" lIns="0" tIns="0" rIns="0" bIns="0" rtlCol="0" anchor="t"/>
          <a:lstStyle/>
          <a:p>
            <a:pPr indent="0" marL="0">
              <a:buNone/>
            </a:pPr>
            <a:r>
              <a:rPr lang="en-US" sz="1900" b="1" dirty="0">
                <a:solidFill>
                  <a:srgbClr val="1C1E21"/>
                </a:solidFill>
                <a:latin typeface="Georgia" pitchFamily="34" charset="0"/>
                <a:ea typeface="Georgia" pitchFamily="34" charset="-122"/>
                <a:cs typeface="Georgia" pitchFamily="34" charset="-120"/>
              </a:rPr>
              <a:t>Confirm Shaming</a:t>
            </a:r>
            <a:endParaRPr lang="en-US" sz="1900" dirty="0"/>
          </a:p>
        </p:txBody>
      </p:sp>
      <p:sp>
        <p:nvSpPr>
          <p:cNvPr id="20" name="Text 17"/>
          <p:cNvSpPr txBox="1"/>
          <p:nvPr/>
        </p:nvSpPr>
        <p:spPr>
          <a:xfrm>
            <a:off x="4937760" y="2697480"/>
            <a:ext cx="278892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EVIDENCE</a:t>
            </a:r>
            <a:endParaRPr lang="en-US" sz="900" dirty="0"/>
          </a:p>
        </p:txBody>
      </p:sp>
      <p:sp>
        <p:nvSpPr>
          <p:cNvPr id="21" name="Text 18"/>
          <p:cNvSpPr txBox="1"/>
          <p:nvPr/>
        </p:nvSpPr>
        <p:spPr>
          <a:xfrm>
            <a:off x="4937760" y="2926080"/>
            <a:ext cx="2788920" cy="548640"/>
          </a:xfrm>
          <a:prstGeom prst="rect">
            <a:avLst/>
          </a:prstGeom>
          <a:noFill/>
          <a:ln/>
        </p:spPr>
        <p:txBody>
          <a:bodyPr wrap="square" lIns="0" tIns="0" rIns="0" bIns="0" rtlCol="0" anchor="t"/>
          <a:lstStyle/>
          <a:p>
            <a:pPr indent="0" marL="0">
              <a:buNone/>
            </a:pPr>
            <a:r>
              <a:rPr lang="en-US" sz="1300" i="1" dirty="0">
                <a:solidFill>
                  <a:srgbClr val="1C1E21"/>
                </a:solidFill>
                <a:latin typeface="Georgia" pitchFamily="34" charset="0"/>
                <a:ea typeface="Georgia" pitchFamily="34" charset="-122"/>
                <a:cs typeface="Georgia" pitchFamily="34" charset="-120"/>
              </a:rPr>
              <a:t>“No, I prefer paying full price”</a:t>
            </a:r>
            <a:endParaRPr lang="en-US" sz="1300" dirty="0"/>
          </a:p>
        </p:txBody>
      </p:sp>
      <p:sp>
        <p:nvSpPr>
          <p:cNvPr id="22" name="Text 19"/>
          <p:cNvSpPr txBox="1"/>
          <p:nvPr/>
        </p:nvSpPr>
        <p:spPr>
          <a:xfrm>
            <a:off x="4937760" y="3611880"/>
            <a:ext cx="278892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STATUTORY REFERENCE</a:t>
            </a:r>
            <a:endParaRPr lang="en-US" sz="900" dirty="0"/>
          </a:p>
        </p:txBody>
      </p:sp>
      <p:sp>
        <p:nvSpPr>
          <p:cNvPr id="23" name="Text 20"/>
          <p:cNvSpPr txBox="1"/>
          <p:nvPr/>
        </p:nvSpPr>
        <p:spPr>
          <a:xfrm>
            <a:off x="4937760" y="3840480"/>
            <a:ext cx="2788920" cy="73152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CCPA Guidelines 2023, Annexure 1 — Confirm Shaming. Consumer Protection Act, 2019.</a:t>
            </a:r>
            <a:endParaRPr lang="en-US" sz="1100" dirty="0"/>
          </a:p>
        </p:txBody>
      </p:sp>
      <p:sp>
        <p:nvSpPr>
          <p:cNvPr id="24" name="Text 21"/>
          <p:cNvSpPr txBox="1"/>
          <p:nvPr/>
        </p:nvSpPr>
        <p:spPr>
          <a:xfrm>
            <a:off x="4937760" y="4617720"/>
            <a:ext cx="278892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RATIONALE</a:t>
            </a:r>
            <a:endParaRPr lang="en-US" sz="900" dirty="0"/>
          </a:p>
        </p:txBody>
      </p:sp>
      <p:sp>
        <p:nvSpPr>
          <p:cNvPr id="25" name="Text 22"/>
          <p:cNvSpPr txBox="1"/>
          <p:nvPr/>
        </p:nvSpPr>
        <p:spPr>
          <a:xfrm>
            <a:off x="4937760" y="4846320"/>
            <a:ext cx="2788920" cy="91440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Decline copy imposes guilt; accept button carries all visual weight.</a:t>
            </a:r>
            <a:endParaRPr lang="en-US" sz="1100" dirty="0"/>
          </a:p>
        </p:txBody>
      </p:sp>
      <p:sp>
        <p:nvSpPr>
          <p:cNvPr id="26" name="Shape 23"/>
          <p:cNvSpPr/>
          <p:nvPr/>
        </p:nvSpPr>
        <p:spPr>
          <a:xfrm>
            <a:off x="8092440" y="1508760"/>
            <a:ext cx="3547872" cy="2148840"/>
          </a:xfrm>
          <a:prstGeom prst="rect">
            <a:avLst/>
          </a:prstGeom>
          <a:solidFill>
            <a:srgbClr val="F1F3F5"/>
          </a:solidFill>
          <a:ln w="9525">
            <a:solidFill>
              <a:srgbClr val="E1E4E8"/>
            </a:solidFill>
            <a:prstDash val="solid"/>
          </a:ln>
        </p:spPr>
      </p:sp>
      <p:sp>
        <p:nvSpPr>
          <p:cNvPr id="27" name="Shape 24"/>
          <p:cNvSpPr/>
          <p:nvPr/>
        </p:nvSpPr>
        <p:spPr>
          <a:xfrm>
            <a:off x="8092440" y="1508760"/>
            <a:ext cx="54864" cy="2148840"/>
          </a:xfrm>
          <a:prstGeom prst="rect">
            <a:avLst/>
          </a:prstGeom>
          <a:solidFill>
            <a:srgbClr val="C92A2A"/>
          </a:solidFill>
          <a:ln w="12700">
            <a:solidFill>
              <a:srgbClr val="C92A2A"/>
            </a:solidFill>
            <a:prstDash val="solid"/>
          </a:ln>
        </p:spPr>
      </p:sp>
      <p:sp>
        <p:nvSpPr>
          <p:cNvPr id="28" name="Text 25"/>
          <p:cNvSpPr txBox="1"/>
          <p:nvPr/>
        </p:nvSpPr>
        <p:spPr>
          <a:xfrm>
            <a:off x="8366760" y="1645920"/>
            <a:ext cx="3090672" cy="182880"/>
          </a:xfrm>
          <a:prstGeom prst="rect">
            <a:avLst/>
          </a:prstGeom>
          <a:noFill/>
          <a:ln/>
        </p:spPr>
        <p:txBody>
          <a:bodyPr wrap="square" lIns="0" tIns="0" rIns="0" bIns="0" rtlCol="0" anchor="t"/>
          <a:lstStyle/>
          <a:p>
            <a:pPr indent="0" marL="0">
              <a:buNone/>
            </a:pPr>
            <a:r>
              <a:rPr lang="en-US" sz="900" b="1" spc="200" kern="0" dirty="0">
                <a:solidFill>
                  <a:srgbClr val="C92A2A"/>
                </a:solidFill>
                <a:latin typeface="Calibri" pitchFamily="34" charset="0"/>
                <a:ea typeface="Calibri" pitchFamily="34" charset="-122"/>
                <a:cs typeface="Calibri" pitchFamily="34" charset="-120"/>
              </a:rPr>
              <a:t>MANIPULATIVE</a:t>
            </a:r>
            <a:endParaRPr lang="en-US" sz="900" dirty="0"/>
          </a:p>
        </p:txBody>
      </p:sp>
      <p:sp>
        <p:nvSpPr>
          <p:cNvPr id="29" name="Text 26"/>
          <p:cNvSpPr txBox="1"/>
          <p:nvPr/>
        </p:nvSpPr>
        <p:spPr>
          <a:xfrm>
            <a:off x="8366760" y="1920240"/>
            <a:ext cx="3090672" cy="1554480"/>
          </a:xfrm>
          <a:prstGeom prst="rect">
            <a:avLst/>
          </a:prstGeom>
          <a:noFill/>
          <a:ln/>
        </p:spPr>
        <p:txBody>
          <a:bodyPr wrap="square" lIns="0" tIns="0" rIns="0" bIns="0" rtlCol="0" anchor="t"/>
          <a:lstStyle/>
          <a:p>
            <a:pPr indent="0" marL="0">
              <a:buNone/>
            </a:pPr>
            <a:r>
              <a:rPr lang="en-US" sz="1150" dirty="0">
                <a:solidFill>
                  <a:srgbClr val="1C1E21"/>
                </a:solidFill>
                <a:latin typeface="Calibri" pitchFamily="34" charset="0"/>
                <a:ea typeface="Calibri" pitchFamily="34" charset="-122"/>
                <a:cs typeface="Calibri" pitchFamily="34" charset="-120"/>
              </a:rPr>
              <a:t>“No, I prefer paying full price”</a:t>
            </a:r>
            <a:endParaRPr lang="en-US" sz="1150" dirty="0"/>
          </a:p>
          <a:p>
            <a:pPr indent="0" marL="0">
              <a:buNone/>
            </a:pPr>
            <a:r>
              <a:rPr lang="en-US" sz="1150" dirty="0">
                <a:solidFill>
                  <a:srgbClr val="1C1E21"/>
                </a:solidFill>
                <a:latin typeface="Calibri" pitchFamily="34" charset="0"/>
                <a:ea typeface="Calibri" pitchFamily="34" charset="-122"/>
                <a:cs typeface="Calibri" pitchFamily="34" charset="-120"/>
              </a:rPr>
              <a:t>Tiny grey link below a large green button.</a:t>
            </a:r>
            <a:endParaRPr lang="en-US" sz="1150" dirty="0"/>
          </a:p>
        </p:txBody>
      </p:sp>
      <p:sp>
        <p:nvSpPr>
          <p:cNvPr id="30" name="Shape 27"/>
          <p:cNvSpPr/>
          <p:nvPr/>
        </p:nvSpPr>
        <p:spPr>
          <a:xfrm>
            <a:off x="8092440" y="3840480"/>
            <a:ext cx="3547872" cy="2240280"/>
          </a:xfrm>
          <a:prstGeom prst="rect">
            <a:avLst/>
          </a:prstGeom>
          <a:solidFill>
            <a:srgbClr val="F1F3F5"/>
          </a:solidFill>
          <a:ln w="9525">
            <a:solidFill>
              <a:srgbClr val="E1E4E8"/>
            </a:solidFill>
            <a:prstDash val="solid"/>
          </a:ln>
        </p:spPr>
      </p:sp>
      <p:sp>
        <p:nvSpPr>
          <p:cNvPr id="31" name="Shape 28"/>
          <p:cNvSpPr/>
          <p:nvPr/>
        </p:nvSpPr>
        <p:spPr>
          <a:xfrm>
            <a:off x="8092440" y="3840480"/>
            <a:ext cx="54864" cy="2240280"/>
          </a:xfrm>
          <a:prstGeom prst="rect">
            <a:avLst/>
          </a:prstGeom>
          <a:solidFill>
            <a:srgbClr val="2B8A3E"/>
          </a:solidFill>
          <a:ln w="12700">
            <a:solidFill>
              <a:srgbClr val="2B8A3E"/>
            </a:solidFill>
            <a:prstDash val="solid"/>
          </a:ln>
        </p:spPr>
      </p:sp>
      <p:sp>
        <p:nvSpPr>
          <p:cNvPr id="32" name="Text 29"/>
          <p:cNvSpPr txBox="1"/>
          <p:nvPr/>
        </p:nvSpPr>
        <p:spPr>
          <a:xfrm>
            <a:off x="8366760" y="3977640"/>
            <a:ext cx="3090672" cy="182880"/>
          </a:xfrm>
          <a:prstGeom prst="rect">
            <a:avLst/>
          </a:prstGeom>
          <a:noFill/>
          <a:ln/>
        </p:spPr>
        <p:txBody>
          <a:bodyPr wrap="square" lIns="0" tIns="0" rIns="0" bIns="0" rtlCol="0" anchor="t"/>
          <a:lstStyle/>
          <a:p>
            <a:pPr indent="0" marL="0">
              <a:buNone/>
            </a:pPr>
            <a:r>
              <a:rPr lang="en-US" sz="900" b="1" spc="200" kern="0" dirty="0">
                <a:solidFill>
                  <a:srgbClr val="2B8A3E"/>
                </a:solidFill>
                <a:latin typeface="Calibri" pitchFamily="34" charset="0"/>
                <a:ea typeface="Calibri" pitchFamily="34" charset="-122"/>
                <a:cs typeface="Calibri" pitchFamily="34" charset="-120"/>
              </a:rPr>
              <a:t>HONEST REDESIGN</a:t>
            </a:r>
            <a:endParaRPr lang="en-US" sz="900" dirty="0"/>
          </a:p>
        </p:txBody>
      </p:sp>
      <p:sp>
        <p:nvSpPr>
          <p:cNvPr id="33" name="Text 30"/>
          <p:cNvSpPr txBox="1"/>
          <p:nvPr/>
        </p:nvSpPr>
        <p:spPr>
          <a:xfrm>
            <a:off x="8366760" y="4251960"/>
            <a:ext cx="3090672" cy="320040"/>
          </a:xfrm>
          <a:prstGeom prst="rect">
            <a:avLst/>
          </a:prstGeom>
          <a:noFill/>
          <a:ln/>
        </p:spPr>
        <p:txBody>
          <a:bodyPr wrap="square" lIns="0" tIns="0" rIns="0" bIns="0" rtlCol="0" anchor="t"/>
          <a:lstStyle/>
          <a:p>
            <a:pPr indent="0" marL="0">
              <a:buNone/>
            </a:pPr>
            <a:r>
              <a:rPr lang="en-US" sz="1400" b="1" dirty="0">
                <a:solidFill>
                  <a:srgbClr val="1C1E21"/>
                </a:solidFill>
                <a:latin typeface="Georgia" pitchFamily="34" charset="0"/>
                <a:ea typeface="Georgia" pitchFamily="34" charset="-122"/>
                <a:cs typeface="Georgia" pitchFamily="34" charset="-120"/>
              </a:rPr>
              <a:t>“No thanks”</a:t>
            </a:r>
            <a:endParaRPr lang="en-US" sz="1400" dirty="0"/>
          </a:p>
        </p:txBody>
      </p:sp>
      <p:sp>
        <p:nvSpPr>
          <p:cNvPr id="34" name="Text 31"/>
          <p:cNvSpPr txBox="1"/>
          <p:nvPr/>
        </p:nvSpPr>
        <p:spPr>
          <a:xfrm>
            <a:off x="8366760" y="4663440"/>
            <a:ext cx="3090672" cy="128016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UI fix: two buttons of equal size and contrast, neutral labels, same row.</a:t>
            </a:r>
            <a:endParaRPr lang="en-US" sz="11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IV · EVALUATION PROTOCOL</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Dual-Annotator Gold Standard</a:t>
            </a:r>
            <a:endParaRPr lang="en-US" sz="2600" dirty="0"/>
          </a:p>
        </p:txBody>
      </p:sp>
      <p:sp>
        <p:nvSpPr>
          <p:cNvPr id="5" name="Shape 2"/>
          <p:cNvSpPr/>
          <p:nvPr/>
        </p:nvSpPr>
        <p:spPr>
          <a:xfrm>
            <a:off x="548640" y="1508760"/>
            <a:ext cx="2103120" cy="2651760"/>
          </a:xfrm>
          <a:prstGeom prst="rect">
            <a:avLst/>
          </a:prstGeom>
          <a:solidFill>
            <a:srgbClr val="F1F3F5"/>
          </a:solidFill>
          <a:ln w="9525">
            <a:solidFill>
              <a:srgbClr val="E1E4E8"/>
            </a:solidFill>
            <a:prstDash val="solid"/>
          </a:ln>
        </p:spPr>
      </p:sp>
      <p:sp>
        <p:nvSpPr>
          <p:cNvPr id="6" name="Shape 3"/>
          <p:cNvSpPr/>
          <p:nvPr/>
        </p:nvSpPr>
        <p:spPr>
          <a:xfrm>
            <a:off x="548640" y="1508760"/>
            <a:ext cx="54864" cy="2651760"/>
          </a:xfrm>
          <a:prstGeom prst="rect">
            <a:avLst/>
          </a:prstGeom>
          <a:solidFill>
            <a:srgbClr val="1C1E21"/>
          </a:solidFill>
          <a:ln w="12700">
            <a:solidFill>
              <a:srgbClr val="1C1E21"/>
            </a:solidFill>
            <a:prstDash val="solid"/>
          </a:ln>
        </p:spPr>
      </p:sp>
      <p:sp>
        <p:nvSpPr>
          <p:cNvPr id="7" name="Text 4"/>
          <p:cNvSpPr txBox="1"/>
          <p:nvPr/>
        </p:nvSpPr>
        <p:spPr>
          <a:xfrm>
            <a:off x="749808" y="1645920"/>
            <a:ext cx="548640" cy="50292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1</a:t>
            </a:r>
            <a:endParaRPr lang="en-US" sz="2800" dirty="0"/>
          </a:p>
        </p:txBody>
      </p:sp>
      <p:sp>
        <p:nvSpPr>
          <p:cNvPr id="8" name="Text 5"/>
          <p:cNvSpPr txBox="1"/>
          <p:nvPr/>
        </p:nvSpPr>
        <p:spPr>
          <a:xfrm>
            <a:off x="749808" y="2240280"/>
            <a:ext cx="1737360" cy="457200"/>
          </a:xfrm>
          <a:prstGeom prst="rect">
            <a:avLst/>
          </a:prstGeom>
          <a:noFill/>
          <a:ln/>
        </p:spPr>
        <p:txBody>
          <a:bodyPr wrap="square" lIns="0" tIns="0" rIns="0" bIns="0" rtlCol="0" anchor="t"/>
          <a:lstStyle/>
          <a:p>
            <a:pPr indent="0" marL="0">
              <a:buNone/>
            </a:pPr>
            <a:r>
              <a:rPr lang="en-US" sz="1350" b="1" dirty="0">
                <a:solidFill>
                  <a:srgbClr val="1C1E21"/>
                </a:solidFill>
                <a:latin typeface="Georgia" pitchFamily="34" charset="0"/>
                <a:ea typeface="Georgia" pitchFamily="34" charset="-122"/>
                <a:cs typeface="Georgia" pitchFamily="34" charset="-120"/>
              </a:rPr>
              <a:t>Sample set</a:t>
            </a:r>
            <a:endParaRPr lang="en-US" sz="1350" dirty="0"/>
          </a:p>
        </p:txBody>
      </p:sp>
      <p:sp>
        <p:nvSpPr>
          <p:cNvPr id="9" name="Text 6"/>
          <p:cNvSpPr txBox="1"/>
          <p:nvPr/>
        </p:nvSpPr>
        <p:spPr>
          <a:xfrm>
            <a:off x="749808" y="2743200"/>
            <a:ext cx="1737360" cy="137160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Screens from real sites across e-commerce, travel, SaaS, plus clean government and utility pages as negatives.</a:t>
            </a:r>
            <a:endParaRPr lang="en-US" sz="1050" dirty="0"/>
          </a:p>
        </p:txBody>
      </p:sp>
      <p:sp>
        <p:nvSpPr>
          <p:cNvPr id="10" name="Shape 7"/>
          <p:cNvSpPr/>
          <p:nvPr/>
        </p:nvSpPr>
        <p:spPr>
          <a:xfrm>
            <a:off x="2788920" y="1508760"/>
            <a:ext cx="2103120" cy="2651760"/>
          </a:xfrm>
          <a:prstGeom prst="rect">
            <a:avLst/>
          </a:prstGeom>
          <a:solidFill>
            <a:srgbClr val="F1F3F5"/>
          </a:solidFill>
          <a:ln w="9525">
            <a:solidFill>
              <a:srgbClr val="E1E4E8"/>
            </a:solidFill>
            <a:prstDash val="solid"/>
          </a:ln>
        </p:spPr>
      </p:sp>
      <p:sp>
        <p:nvSpPr>
          <p:cNvPr id="11" name="Shape 8"/>
          <p:cNvSpPr/>
          <p:nvPr/>
        </p:nvSpPr>
        <p:spPr>
          <a:xfrm>
            <a:off x="2788920" y="1508760"/>
            <a:ext cx="54864" cy="2651760"/>
          </a:xfrm>
          <a:prstGeom prst="rect">
            <a:avLst/>
          </a:prstGeom>
          <a:solidFill>
            <a:srgbClr val="1C1E21"/>
          </a:solidFill>
          <a:ln w="12700">
            <a:solidFill>
              <a:srgbClr val="1C1E21"/>
            </a:solidFill>
            <a:prstDash val="solid"/>
          </a:ln>
        </p:spPr>
      </p:sp>
      <p:sp>
        <p:nvSpPr>
          <p:cNvPr id="12" name="Text 9"/>
          <p:cNvSpPr txBox="1"/>
          <p:nvPr/>
        </p:nvSpPr>
        <p:spPr>
          <a:xfrm>
            <a:off x="2990088" y="1645920"/>
            <a:ext cx="548640" cy="50292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2</a:t>
            </a:r>
            <a:endParaRPr lang="en-US" sz="2800" dirty="0"/>
          </a:p>
        </p:txBody>
      </p:sp>
      <p:sp>
        <p:nvSpPr>
          <p:cNvPr id="13" name="Text 10"/>
          <p:cNvSpPr txBox="1"/>
          <p:nvPr/>
        </p:nvSpPr>
        <p:spPr>
          <a:xfrm>
            <a:off x="2990088" y="2240280"/>
            <a:ext cx="1737360" cy="457200"/>
          </a:xfrm>
          <a:prstGeom prst="rect">
            <a:avLst/>
          </a:prstGeom>
          <a:noFill/>
          <a:ln/>
        </p:spPr>
        <p:txBody>
          <a:bodyPr wrap="square" lIns="0" tIns="0" rIns="0" bIns="0" rtlCol="0" anchor="t"/>
          <a:lstStyle/>
          <a:p>
            <a:pPr indent="0" marL="0">
              <a:buNone/>
            </a:pPr>
            <a:r>
              <a:rPr lang="en-US" sz="1350" b="1" dirty="0">
                <a:solidFill>
                  <a:srgbClr val="1C1E21"/>
                </a:solidFill>
                <a:latin typeface="Georgia" pitchFamily="34" charset="0"/>
                <a:ea typeface="Georgia" pitchFamily="34" charset="-122"/>
                <a:cs typeface="Georgia" pitchFamily="34" charset="-120"/>
              </a:rPr>
              <a:t>Independent labelling</a:t>
            </a:r>
            <a:endParaRPr lang="en-US" sz="1350" dirty="0"/>
          </a:p>
        </p:txBody>
      </p:sp>
      <p:sp>
        <p:nvSpPr>
          <p:cNvPr id="14" name="Text 11"/>
          <p:cNvSpPr txBox="1"/>
          <p:nvPr/>
        </p:nvSpPr>
        <p:spPr>
          <a:xfrm>
            <a:off x="2990088" y="2743200"/>
            <a:ext cx="1737360" cy="137160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labels-ayan.csv and labels-aditya.csv: pattern, severity and bounding box. No collaboration.</a:t>
            </a:r>
            <a:endParaRPr lang="en-US" sz="1050" dirty="0"/>
          </a:p>
        </p:txBody>
      </p:sp>
      <p:sp>
        <p:nvSpPr>
          <p:cNvPr id="15" name="Shape 12"/>
          <p:cNvSpPr/>
          <p:nvPr/>
        </p:nvSpPr>
        <p:spPr>
          <a:xfrm>
            <a:off x="5029200" y="1508760"/>
            <a:ext cx="2103120" cy="2651760"/>
          </a:xfrm>
          <a:prstGeom prst="rect">
            <a:avLst/>
          </a:prstGeom>
          <a:solidFill>
            <a:srgbClr val="F1F3F5"/>
          </a:solidFill>
          <a:ln w="9525">
            <a:solidFill>
              <a:srgbClr val="E1E4E8"/>
            </a:solidFill>
            <a:prstDash val="solid"/>
          </a:ln>
        </p:spPr>
      </p:sp>
      <p:sp>
        <p:nvSpPr>
          <p:cNvPr id="16" name="Shape 13"/>
          <p:cNvSpPr/>
          <p:nvPr/>
        </p:nvSpPr>
        <p:spPr>
          <a:xfrm>
            <a:off x="5029200" y="1508760"/>
            <a:ext cx="54864" cy="2651760"/>
          </a:xfrm>
          <a:prstGeom prst="rect">
            <a:avLst/>
          </a:prstGeom>
          <a:solidFill>
            <a:srgbClr val="1C1E21"/>
          </a:solidFill>
          <a:ln w="12700">
            <a:solidFill>
              <a:srgbClr val="1C1E21"/>
            </a:solidFill>
            <a:prstDash val="solid"/>
          </a:ln>
        </p:spPr>
      </p:sp>
      <p:sp>
        <p:nvSpPr>
          <p:cNvPr id="17" name="Text 14"/>
          <p:cNvSpPr txBox="1"/>
          <p:nvPr/>
        </p:nvSpPr>
        <p:spPr>
          <a:xfrm>
            <a:off x="5230368" y="1645920"/>
            <a:ext cx="548640" cy="50292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3</a:t>
            </a:r>
            <a:endParaRPr lang="en-US" sz="2800" dirty="0"/>
          </a:p>
        </p:txBody>
      </p:sp>
      <p:sp>
        <p:nvSpPr>
          <p:cNvPr id="18" name="Text 15"/>
          <p:cNvSpPr txBox="1"/>
          <p:nvPr/>
        </p:nvSpPr>
        <p:spPr>
          <a:xfrm>
            <a:off x="5230368" y="2240280"/>
            <a:ext cx="1737360" cy="457200"/>
          </a:xfrm>
          <a:prstGeom prst="rect">
            <a:avLst/>
          </a:prstGeom>
          <a:noFill/>
          <a:ln/>
        </p:spPr>
        <p:txBody>
          <a:bodyPr wrap="square" lIns="0" tIns="0" rIns="0" bIns="0" rtlCol="0" anchor="t"/>
          <a:lstStyle/>
          <a:p>
            <a:pPr indent="0" marL="0">
              <a:buNone/>
            </a:pPr>
            <a:r>
              <a:rPr lang="en-US" sz="1350" b="1" dirty="0">
                <a:solidFill>
                  <a:srgbClr val="1C1E21"/>
                </a:solidFill>
                <a:latin typeface="Georgia" pitchFamily="34" charset="0"/>
                <a:ea typeface="Georgia" pitchFamily="34" charset="-122"/>
                <a:cs typeface="Georgia" pitchFamily="34" charset="-120"/>
              </a:rPr>
              <a:t>Agreement</a:t>
            </a:r>
            <a:endParaRPr lang="en-US" sz="1350" dirty="0"/>
          </a:p>
        </p:txBody>
      </p:sp>
      <p:sp>
        <p:nvSpPr>
          <p:cNvPr id="19" name="Text 16"/>
          <p:cNvSpPr txBox="1"/>
          <p:nvPr/>
        </p:nvSpPr>
        <p:spPr>
          <a:xfrm>
            <a:off x="5230368" y="2743200"/>
            <a:ext cx="1737360" cy="137160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Cohen's κ per pattern and overall, computed before any discussion.</a:t>
            </a:r>
            <a:endParaRPr lang="en-US" sz="1050" dirty="0"/>
          </a:p>
        </p:txBody>
      </p:sp>
      <p:sp>
        <p:nvSpPr>
          <p:cNvPr id="20" name="Shape 17"/>
          <p:cNvSpPr/>
          <p:nvPr/>
        </p:nvSpPr>
        <p:spPr>
          <a:xfrm>
            <a:off x="7269480" y="1508760"/>
            <a:ext cx="2103120" cy="2651760"/>
          </a:xfrm>
          <a:prstGeom prst="rect">
            <a:avLst/>
          </a:prstGeom>
          <a:solidFill>
            <a:srgbClr val="F1F3F5"/>
          </a:solidFill>
          <a:ln w="9525">
            <a:solidFill>
              <a:srgbClr val="E1E4E8"/>
            </a:solidFill>
            <a:prstDash val="solid"/>
          </a:ln>
        </p:spPr>
      </p:sp>
      <p:sp>
        <p:nvSpPr>
          <p:cNvPr id="21" name="Shape 18"/>
          <p:cNvSpPr/>
          <p:nvPr/>
        </p:nvSpPr>
        <p:spPr>
          <a:xfrm>
            <a:off x="7269480" y="1508760"/>
            <a:ext cx="54864" cy="2651760"/>
          </a:xfrm>
          <a:prstGeom prst="rect">
            <a:avLst/>
          </a:prstGeom>
          <a:solidFill>
            <a:srgbClr val="1C1E21"/>
          </a:solidFill>
          <a:ln w="12700">
            <a:solidFill>
              <a:srgbClr val="1C1E21"/>
            </a:solidFill>
            <a:prstDash val="solid"/>
          </a:ln>
        </p:spPr>
      </p:sp>
      <p:sp>
        <p:nvSpPr>
          <p:cNvPr id="22" name="Text 19"/>
          <p:cNvSpPr txBox="1"/>
          <p:nvPr/>
        </p:nvSpPr>
        <p:spPr>
          <a:xfrm>
            <a:off x="7470648" y="1645920"/>
            <a:ext cx="548640" cy="50292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4</a:t>
            </a:r>
            <a:endParaRPr lang="en-US" sz="2800" dirty="0"/>
          </a:p>
        </p:txBody>
      </p:sp>
      <p:sp>
        <p:nvSpPr>
          <p:cNvPr id="23" name="Text 20"/>
          <p:cNvSpPr txBox="1"/>
          <p:nvPr/>
        </p:nvSpPr>
        <p:spPr>
          <a:xfrm>
            <a:off x="7470648" y="2240280"/>
            <a:ext cx="1737360" cy="457200"/>
          </a:xfrm>
          <a:prstGeom prst="rect">
            <a:avLst/>
          </a:prstGeom>
          <a:noFill/>
          <a:ln/>
        </p:spPr>
        <p:txBody>
          <a:bodyPr wrap="square" lIns="0" tIns="0" rIns="0" bIns="0" rtlCol="0" anchor="t"/>
          <a:lstStyle/>
          <a:p>
            <a:pPr indent="0" marL="0">
              <a:buNone/>
            </a:pPr>
            <a:r>
              <a:rPr lang="en-US" sz="1350" b="1" dirty="0">
                <a:solidFill>
                  <a:srgbClr val="1C1E21"/>
                </a:solidFill>
                <a:latin typeface="Georgia" pitchFamily="34" charset="0"/>
                <a:ea typeface="Georgia" pitchFamily="34" charset="-122"/>
                <a:cs typeface="Georgia" pitchFamily="34" charset="-120"/>
              </a:rPr>
              <a:t>Adjudication</a:t>
            </a:r>
            <a:endParaRPr lang="en-US" sz="1350" dirty="0"/>
          </a:p>
        </p:txBody>
      </p:sp>
      <p:sp>
        <p:nvSpPr>
          <p:cNvPr id="24" name="Text 21"/>
          <p:cNvSpPr txBox="1"/>
          <p:nvPr/>
        </p:nvSpPr>
        <p:spPr>
          <a:xfrm>
            <a:off x="7470648" y="2743200"/>
            <a:ext cx="1737360" cy="137160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Each disagreement resolved against the Gazette text; rationale logged.</a:t>
            </a:r>
            <a:endParaRPr lang="en-US" sz="1050" dirty="0"/>
          </a:p>
        </p:txBody>
      </p:sp>
      <p:sp>
        <p:nvSpPr>
          <p:cNvPr id="25" name="Shape 22"/>
          <p:cNvSpPr/>
          <p:nvPr/>
        </p:nvSpPr>
        <p:spPr>
          <a:xfrm>
            <a:off x="9509760" y="1508760"/>
            <a:ext cx="2103120" cy="2651760"/>
          </a:xfrm>
          <a:prstGeom prst="rect">
            <a:avLst/>
          </a:prstGeom>
          <a:solidFill>
            <a:srgbClr val="F1F3F5"/>
          </a:solidFill>
          <a:ln w="9525">
            <a:solidFill>
              <a:srgbClr val="E1E4E8"/>
            </a:solidFill>
            <a:prstDash val="solid"/>
          </a:ln>
        </p:spPr>
      </p:sp>
      <p:sp>
        <p:nvSpPr>
          <p:cNvPr id="26" name="Shape 23"/>
          <p:cNvSpPr/>
          <p:nvPr/>
        </p:nvSpPr>
        <p:spPr>
          <a:xfrm>
            <a:off x="9509760" y="1508760"/>
            <a:ext cx="54864" cy="2651760"/>
          </a:xfrm>
          <a:prstGeom prst="rect">
            <a:avLst/>
          </a:prstGeom>
          <a:solidFill>
            <a:srgbClr val="2B8A3E"/>
          </a:solidFill>
          <a:ln w="12700">
            <a:solidFill>
              <a:srgbClr val="2B8A3E"/>
            </a:solidFill>
            <a:prstDash val="solid"/>
          </a:ln>
        </p:spPr>
      </p:sp>
      <p:sp>
        <p:nvSpPr>
          <p:cNvPr id="27" name="Text 24"/>
          <p:cNvSpPr txBox="1"/>
          <p:nvPr/>
        </p:nvSpPr>
        <p:spPr>
          <a:xfrm>
            <a:off x="9710928" y="1645920"/>
            <a:ext cx="548640" cy="502920"/>
          </a:xfrm>
          <a:prstGeom prst="rect">
            <a:avLst/>
          </a:prstGeom>
          <a:noFill/>
          <a:ln/>
        </p:spPr>
        <p:txBody>
          <a:bodyPr wrap="square" lIns="0" tIns="0" rIns="0" bIns="0" rtlCol="0" anchor="t"/>
          <a:lstStyle/>
          <a:p>
            <a:pPr indent="0" marL="0">
              <a:buNone/>
            </a:pPr>
            <a:r>
              <a:rPr lang="en-US" sz="2800" b="1" dirty="0">
                <a:solidFill>
                  <a:srgbClr val="C92A2A"/>
                </a:solidFill>
                <a:latin typeface="Georgia" pitchFamily="34" charset="0"/>
                <a:ea typeface="Georgia" pitchFamily="34" charset="-122"/>
                <a:cs typeface="Georgia" pitchFamily="34" charset="-120"/>
              </a:rPr>
              <a:t>5</a:t>
            </a:r>
            <a:endParaRPr lang="en-US" sz="2800" dirty="0"/>
          </a:p>
        </p:txBody>
      </p:sp>
      <p:sp>
        <p:nvSpPr>
          <p:cNvPr id="28" name="Text 25"/>
          <p:cNvSpPr txBox="1"/>
          <p:nvPr/>
        </p:nvSpPr>
        <p:spPr>
          <a:xfrm>
            <a:off x="9710928" y="2240280"/>
            <a:ext cx="1737360" cy="457200"/>
          </a:xfrm>
          <a:prstGeom prst="rect">
            <a:avLst/>
          </a:prstGeom>
          <a:noFill/>
          <a:ln/>
        </p:spPr>
        <p:txBody>
          <a:bodyPr wrap="square" lIns="0" tIns="0" rIns="0" bIns="0" rtlCol="0" anchor="t"/>
          <a:lstStyle/>
          <a:p>
            <a:pPr indent="0" marL="0">
              <a:buNone/>
            </a:pPr>
            <a:r>
              <a:rPr lang="en-US" sz="1350" b="1" dirty="0">
                <a:solidFill>
                  <a:srgbClr val="1C1E21"/>
                </a:solidFill>
                <a:latin typeface="Georgia" pitchFamily="34" charset="0"/>
                <a:ea typeface="Georgia" pitchFamily="34" charset="-122"/>
                <a:cs typeface="Georgia" pitchFamily="34" charset="-120"/>
              </a:rPr>
              <a:t>Gold test split</a:t>
            </a:r>
            <a:endParaRPr lang="en-US" sz="1350" dirty="0"/>
          </a:p>
        </p:txBody>
      </p:sp>
      <p:sp>
        <p:nvSpPr>
          <p:cNvPr id="29" name="Text 26"/>
          <p:cNvSpPr txBox="1"/>
          <p:nvPr/>
        </p:nvSpPr>
        <p:spPr>
          <a:xfrm>
            <a:off x="9710928" y="2743200"/>
            <a:ext cx="1737360" cy="1371600"/>
          </a:xfrm>
          <a:prstGeom prst="rect">
            <a:avLst/>
          </a:prstGeom>
          <a:noFill/>
          <a:ln/>
        </p:spPr>
        <p:txBody>
          <a:bodyPr wrap="square" lIns="0" tIns="0" rIns="0" bIns="0" rtlCol="0" anchor="t"/>
          <a:lstStyle/>
          <a:p>
            <a:pPr indent="0" marL="0">
              <a:buNone/>
            </a:pPr>
            <a:r>
              <a:rPr lang="en-US" sz="1050" dirty="0">
                <a:solidFill>
                  <a:srgbClr val="525866"/>
                </a:solidFill>
                <a:latin typeface="Calibri" pitchFamily="34" charset="0"/>
                <a:ea typeface="Calibri" pitchFamily="34" charset="-122"/>
                <a:cs typeface="Calibri" pitchFamily="34" charset="-120"/>
              </a:rPr>
              <a:t>Frozen adjudicated labels. Never used to tune prompts.</a:t>
            </a:r>
            <a:endParaRPr lang="en-US" sz="1050" dirty="0"/>
          </a:p>
        </p:txBody>
      </p:sp>
      <p:sp>
        <p:nvSpPr>
          <p:cNvPr id="30" name="Shape 27"/>
          <p:cNvSpPr/>
          <p:nvPr/>
        </p:nvSpPr>
        <p:spPr>
          <a:xfrm>
            <a:off x="548640" y="4389120"/>
            <a:ext cx="5486400" cy="1691640"/>
          </a:xfrm>
          <a:prstGeom prst="rect">
            <a:avLst/>
          </a:prstGeom>
          <a:solidFill>
            <a:srgbClr val="1C1E21"/>
          </a:solidFill>
          <a:ln w="9525">
            <a:solidFill>
              <a:srgbClr val="1C1E21"/>
            </a:solidFill>
            <a:prstDash val="solid"/>
          </a:ln>
        </p:spPr>
      </p:sp>
      <p:sp>
        <p:nvSpPr>
          <p:cNvPr id="31" name="Text 28"/>
          <p:cNvSpPr txBox="1"/>
          <p:nvPr/>
        </p:nvSpPr>
        <p:spPr>
          <a:xfrm>
            <a:off x="822960" y="4526280"/>
            <a:ext cx="4937760" cy="182880"/>
          </a:xfrm>
          <a:prstGeom prst="rect">
            <a:avLst/>
          </a:prstGeom>
          <a:noFill/>
          <a:ln/>
        </p:spPr>
        <p:txBody>
          <a:bodyPr wrap="square" lIns="0" tIns="0" rIns="0" bIns="0" rtlCol="0" anchor="t"/>
          <a:lstStyle/>
          <a:p>
            <a:pPr indent="0" marL="0">
              <a:buNone/>
            </a:pPr>
            <a:r>
              <a:rPr lang="en-US" sz="900" b="1" spc="250" kern="0" dirty="0">
                <a:solidFill>
                  <a:srgbClr val="E8590C"/>
                </a:solidFill>
                <a:latin typeface="Calibri" pitchFamily="34" charset="0"/>
                <a:ea typeface="Calibri" pitchFamily="34" charset="-122"/>
                <a:cs typeface="Calibri" pitchFamily="34" charset="-120"/>
              </a:rPr>
              <a:t>COHEN'S KAPPA</a:t>
            </a:r>
            <a:endParaRPr lang="en-US" sz="900" dirty="0"/>
          </a:p>
        </p:txBody>
      </p:sp>
      <p:sp>
        <p:nvSpPr>
          <p:cNvPr id="32" name="Text 29"/>
          <p:cNvSpPr txBox="1"/>
          <p:nvPr/>
        </p:nvSpPr>
        <p:spPr>
          <a:xfrm>
            <a:off x="822960" y="4846320"/>
            <a:ext cx="4937760" cy="457200"/>
          </a:xfrm>
          <a:prstGeom prst="rect">
            <a:avLst/>
          </a:prstGeom>
          <a:noFill/>
          <a:ln/>
        </p:spPr>
        <p:txBody>
          <a:bodyPr wrap="square" lIns="0" tIns="0" rIns="0" bIns="0" rtlCol="0" anchor="t"/>
          <a:lstStyle/>
          <a:p>
            <a:pPr indent="0" marL="0">
              <a:buNone/>
            </a:pPr>
            <a:r>
              <a:rPr lang="en-US" sz="2000" b="1" dirty="0">
                <a:solidFill>
                  <a:srgbClr val="FFFFFF"/>
                </a:solidFill>
                <a:latin typeface="Consolas" pitchFamily="34" charset="0"/>
                <a:ea typeface="Consolas" pitchFamily="34" charset="-122"/>
                <a:cs typeface="Consolas" pitchFamily="34" charset="-120"/>
              </a:rPr>
              <a:t>κ = (pₒ − pₑ) / (1 − pₑ)</a:t>
            </a:r>
            <a:endParaRPr lang="en-US" sz="2000" dirty="0"/>
          </a:p>
        </p:txBody>
      </p:sp>
      <p:sp>
        <p:nvSpPr>
          <p:cNvPr id="33" name="Text 30"/>
          <p:cNvSpPr txBox="1"/>
          <p:nvPr/>
        </p:nvSpPr>
        <p:spPr>
          <a:xfrm>
            <a:off x="822960" y="5440680"/>
            <a:ext cx="4937760" cy="457200"/>
          </a:xfrm>
          <a:prstGeom prst="rect">
            <a:avLst/>
          </a:prstGeom>
          <a:noFill/>
          <a:ln/>
        </p:spPr>
        <p:txBody>
          <a:bodyPr wrap="square" lIns="0" tIns="0" rIns="0" bIns="0" rtlCol="0" anchor="t"/>
          <a:lstStyle/>
          <a:p>
            <a:pPr indent="0" marL="0">
              <a:buNone/>
            </a:pPr>
            <a:r>
              <a:rPr lang="en-US" sz="1100" dirty="0">
                <a:solidFill>
                  <a:srgbClr val="9AA1AE"/>
                </a:solidFill>
                <a:latin typeface="Calibri" pitchFamily="34" charset="0"/>
                <a:ea typeface="Calibri" pitchFamily="34" charset="-122"/>
                <a:cs typeface="Calibri" pitchFamily="34" charset="-120"/>
              </a:rPr>
              <a:t>pₒ = observed agreement,  pₑ = agreement expected by chance</a:t>
            </a:r>
            <a:endParaRPr lang="en-US" sz="1100" dirty="0"/>
          </a:p>
        </p:txBody>
      </p:sp>
      <p:sp>
        <p:nvSpPr>
          <p:cNvPr id="34" name="Shape 31"/>
          <p:cNvSpPr/>
          <p:nvPr/>
        </p:nvSpPr>
        <p:spPr>
          <a:xfrm>
            <a:off x="6217920" y="4389120"/>
            <a:ext cx="5422392" cy="1691640"/>
          </a:xfrm>
          <a:prstGeom prst="rect">
            <a:avLst/>
          </a:prstGeom>
          <a:solidFill>
            <a:srgbClr val="F1F3F5"/>
          </a:solidFill>
          <a:ln w="9525">
            <a:solidFill>
              <a:srgbClr val="E1E4E8"/>
            </a:solidFill>
            <a:prstDash val="solid"/>
          </a:ln>
        </p:spPr>
      </p:sp>
      <p:sp>
        <p:nvSpPr>
          <p:cNvPr id="35" name="Text 32"/>
          <p:cNvSpPr txBox="1"/>
          <p:nvPr/>
        </p:nvSpPr>
        <p:spPr>
          <a:xfrm>
            <a:off x="6492240" y="4526280"/>
            <a:ext cx="4937760" cy="182880"/>
          </a:xfrm>
          <a:prstGeom prst="rect">
            <a:avLst/>
          </a:prstGeom>
          <a:noFill/>
          <a:ln/>
        </p:spPr>
        <p:txBody>
          <a:bodyPr wrap="square" lIns="0" tIns="0" rIns="0" bIns="0" rtlCol="0" anchor="t"/>
          <a:lstStyle/>
          <a:p>
            <a:pPr indent="0" marL="0">
              <a:buNone/>
            </a:pPr>
            <a:r>
              <a:rPr lang="en-US" sz="900" b="1" spc="200" kern="0" dirty="0">
                <a:solidFill>
                  <a:srgbClr val="525866"/>
                </a:solidFill>
                <a:latin typeface="Calibri" pitchFamily="34" charset="0"/>
                <a:ea typeface="Calibri" pitchFamily="34" charset="-122"/>
                <a:cs typeface="Calibri" pitchFamily="34" charset="-120"/>
              </a:rPr>
              <a:t>INTERPRETATION BANDS (LANDIS &amp; KOCH)</a:t>
            </a:r>
            <a:endParaRPr lang="en-US" sz="900" dirty="0"/>
          </a:p>
        </p:txBody>
      </p:sp>
      <p:sp>
        <p:nvSpPr>
          <p:cNvPr id="36" name="Shape 33"/>
          <p:cNvSpPr/>
          <p:nvPr/>
        </p:nvSpPr>
        <p:spPr>
          <a:xfrm>
            <a:off x="6492240" y="4892040"/>
            <a:ext cx="1143000" cy="256032"/>
          </a:xfrm>
          <a:prstGeom prst="roundRect">
            <a:avLst>
              <a:gd name="adj" fmla="val 21429"/>
            </a:avLst>
          </a:prstGeom>
          <a:solidFill>
            <a:srgbClr val="C92A2A"/>
          </a:solidFill>
          <a:ln w="12700">
            <a:solidFill>
              <a:srgbClr val="C92A2A"/>
            </a:solidFill>
            <a:prstDash val="solid"/>
          </a:ln>
        </p:spPr>
      </p:sp>
      <p:sp>
        <p:nvSpPr>
          <p:cNvPr id="37" name="Text 34"/>
          <p:cNvSpPr txBox="1"/>
          <p:nvPr/>
        </p:nvSpPr>
        <p:spPr>
          <a:xfrm>
            <a:off x="6492240" y="4892040"/>
            <a:ext cx="114300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&lt; 0.40</a:t>
            </a:r>
            <a:endParaRPr lang="en-US" sz="900" dirty="0"/>
          </a:p>
        </p:txBody>
      </p:sp>
      <p:sp>
        <p:nvSpPr>
          <p:cNvPr id="38" name="Text 35"/>
          <p:cNvSpPr txBox="1"/>
          <p:nvPr/>
        </p:nvSpPr>
        <p:spPr>
          <a:xfrm>
            <a:off x="6492240" y="5257800"/>
            <a:ext cx="1143000" cy="274320"/>
          </a:xfrm>
          <a:prstGeom prst="rect">
            <a:avLst/>
          </a:prstGeom>
          <a:noFill/>
          <a:ln/>
        </p:spPr>
        <p:txBody>
          <a:bodyPr wrap="square" lIns="0" tIns="0" rIns="0" bIns="0" rtlCol="0" anchor="t"/>
          <a:lstStyle/>
          <a:p>
            <a:pPr algn="ctr" indent="0" marL="0">
              <a:buNone/>
            </a:pPr>
            <a:r>
              <a:rPr lang="en-US" sz="1000" dirty="0">
                <a:solidFill>
                  <a:srgbClr val="525866"/>
                </a:solidFill>
                <a:latin typeface="Calibri" pitchFamily="34" charset="0"/>
                <a:ea typeface="Calibri" pitchFamily="34" charset="-122"/>
                <a:cs typeface="Calibri" pitchFamily="34" charset="-120"/>
              </a:rPr>
              <a:t>Poor–fair</a:t>
            </a:r>
            <a:endParaRPr lang="en-US" sz="1000" dirty="0"/>
          </a:p>
        </p:txBody>
      </p:sp>
      <p:sp>
        <p:nvSpPr>
          <p:cNvPr id="39" name="Shape 36"/>
          <p:cNvSpPr/>
          <p:nvPr/>
        </p:nvSpPr>
        <p:spPr>
          <a:xfrm>
            <a:off x="7772400" y="4892040"/>
            <a:ext cx="1143000" cy="256032"/>
          </a:xfrm>
          <a:prstGeom prst="roundRect">
            <a:avLst>
              <a:gd name="adj" fmla="val 21429"/>
            </a:avLst>
          </a:prstGeom>
          <a:solidFill>
            <a:srgbClr val="D9730D"/>
          </a:solidFill>
          <a:ln w="12700">
            <a:solidFill>
              <a:srgbClr val="D9730D"/>
            </a:solidFill>
            <a:prstDash val="solid"/>
          </a:ln>
        </p:spPr>
      </p:sp>
      <p:sp>
        <p:nvSpPr>
          <p:cNvPr id="40" name="Text 37"/>
          <p:cNvSpPr txBox="1"/>
          <p:nvPr/>
        </p:nvSpPr>
        <p:spPr>
          <a:xfrm>
            <a:off x="7772400" y="4892040"/>
            <a:ext cx="114300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0.41–0.60</a:t>
            </a:r>
            <a:endParaRPr lang="en-US" sz="900" dirty="0"/>
          </a:p>
        </p:txBody>
      </p:sp>
      <p:sp>
        <p:nvSpPr>
          <p:cNvPr id="41" name="Text 38"/>
          <p:cNvSpPr txBox="1"/>
          <p:nvPr/>
        </p:nvSpPr>
        <p:spPr>
          <a:xfrm>
            <a:off x="7772400" y="5257800"/>
            <a:ext cx="1143000" cy="274320"/>
          </a:xfrm>
          <a:prstGeom prst="rect">
            <a:avLst/>
          </a:prstGeom>
          <a:noFill/>
          <a:ln/>
        </p:spPr>
        <p:txBody>
          <a:bodyPr wrap="square" lIns="0" tIns="0" rIns="0" bIns="0" rtlCol="0" anchor="t"/>
          <a:lstStyle/>
          <a:p>
            <a:pPr algn="ctr" indent="0" marL="0">
              <a:buNone/>
            </a:pPr>
            <a:r>
              <a:rPr lang="en-US" sz="1000" dirty="0">
                <a:solidFill>
                  <a:srgbClr val="525866"/>
                </a:solidFill>
                <a:latin typeface="Calibri" pitchFamily="34" charset="0"/>
                <a:ea typeface="Calibri" pitchFamily="34" charset="-122"/>
                <a:cs typeface="Calibri" pitchFamily="34" charset="-120"/>
              </a:rPr>
              <a:t>Moderate</a:t>
            </a:r>
            <a:endParaRPr lang="en-US" sz="1000" dirty="0"/>
          </a:p>
        </p:txBody>
      </p:sp>
      <p:sp>
        <p:nvSpPr>
          <p:cNvPr id="42" name="Shape 39"/>
          <p:cNvSpPr/>
          <p:nvPr/>
        </p:nvSpPr>
        <p:spPr>
          <a:xfrm>
            <a:off x="9052560" y="4892040"/>
            <a:ext cx="1143000" cy="256032"/>
          </a:xfrm>
          <a:prstGeom prst="roundRect">
            <a:avLst>
              <a:gd name="adj" fmla="val 21429"/>
            </a:avLst>
          </a:prstGeom>
          <a:solidFill>
            <a:srgbClr val="2B8A3E"/>
          </a:solidFill>
          <a:ln w="12700">
            <a:solidFill>
              <a:srgbClr val="2B8A3E"/>
            </a:solidFill>
            <a:prstDash val="solid"/>
          </a:ln>
        </p:spPr>
      </p:sp>
      <p:sp>
        <p:nvSpPr>
          <p:cNvPr id="43" name="Text 40"/>
          <p:cNvSpPr txBox="1"/>
          <p:nvPr/>
        </p:nvSpPr>
        <p:spPr>
          <a:xfrm>
            <a:off x="9052560" y="4892040"/>
            <a:ext cx="114300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0.61–0.80</a:t>
            </a:r>
            <a:endParaRPr lang="en-US" sz="900" dirty="0"/>
          </a:p>
        </p:txBody>
      </p:sp>
      <p:sp>
        <p:nvSpPr>
          <p:cNvPr id="44" name="Text 41"/>
          <p:cNvSpPr txBox="1"/>
          <p:nvPr/>
        </p:nvSpPr>
        <p:spPr>
          <a:xfrm>
            <a:off x="9052560" y="5257800"/>
            <a:ext cx="1143000" cy="274320"/>
          </a:xfrm>
          <a:prstGeom prst="rect">
            <a:avLst/>
          </a:prstGeom>
          <a:noFill/>
          <a:ln/>
        </p:spPr>
        <p:txBody>
          <a:bodyPr wrap="square" lIns="0" tIns="0" rIns="0" bIns="0" rtlCol="0" anchor="t"/>
          <a:lstStyle/>
          <a:p>
            <a:pPr algn="ctr" indent="0" marL="0">
              <a:buNone/>
            </a:pPr>
            <a:r>
              <a:rPr lang="en-US" sz="1000" dirty="0">
                <a:solidFill>
                  <a:srgbClr val="525866"/>
                </a:solidFill>
                <a:latin typeface="Calibri" pitchFamily="34" charset="0"/>
                <a:ea typeface="Calibri" pitchFamily="34" charset="-122"/>
                <a:cs typeface="Calibri" pitchFamily="34" charset="-120"/>
              </a:rPr>
              <a:t>Substantial</a:t>
            </a:r>
            <a:endParaRPr lang="en-US" sz="1000" dirty="0"/>
          </a:p>
        </p:txBody>
      </p:sp>
      <p:sp>
        <p:nvSpPr>
          <p:cNvPr id="45" name="Shape 42"/>
          <p:cNvSpPr/>
          <p:nvPr/>
        </p:nvSpPr>
        <p:spPr>
          <a:xfrm>
            <a:off x="10332720" y="4892040"/>
            <a:ext cx="1143000" cy="256032"/>
          </a:xfrm>
          <a:prstGeom prst="roundRect">
            <a:avLst>
              <a:gd name="adj" fmla="val 21429"/>
            </a:avLst>
          </a:prstGeom>
          <a:solidFill>
            <a:srgbClr val="2B8A3E"/>
          </a:solidFill>
          <a:ln w="12700">
            <a:solidFill>
              <a:srgbClr val="2B8A3E"/>
            </a:solidFill>
            <a:prstDash val="solid"/>
          </a:ln>
        </p:spPr>
      </p:sp>
      <p:sp>
        <p:nvSpPr>
          <p:cNvPr id="46" name="Text 43"/>
          <p:cNvSpPr txBox="1"/>
          <p:nvPr/>
        </p:nvSpPr>
        <p:spPr>
          <a:xfrm>
            <a:off x="10332720" y="4892040"/>
            <a:ext cx="114300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&gt; 0.80</a:t>
            </a:r>
            <a:endParaRPr lang="en-US" sz="900" dirty="0"/>
          </a:p>
        </p:txBody>
      </p:sp>
      <p:sp>
        <p:nvSpPr>
          <p:cNvPr id="47" name="Text 44"/>
          <p:cNvSpPr txBox="1"/>
          <p:nvPr/>
        </p:nvSpPr>
        <p:spPr>
          <a:xfrm>
            <a:off x="10332720" y="5257800"/>
            <a:ext cx="1143000" cy="274320"/>
          </a:xfrm>
          <a:prstGeom prst="rect">
            <a:avLst/>
          </a:prstGeom>
          <a:noFill/>
          <a:ln/>
        </p:spPr>
        <p:txBody>
          <a:bodyPr wrap="square" lIns="0" tIns="0" rIns="0" bIns="0" rtlCol="0" anchor="t"/>
          <a:lstStyle/>
          <a:p>
            <a:pPr algn="ctr" indent="0" marL="0">
              <a:buNone/>
            </a:pPr>
            <a:r>
              <a:rPr lang="en-US" sz="1000" dirty="0">
                <a:solidFill>
                  <a:srgbClr val="525866"/>
                </a:solidFill>
                <a:latin typeface="Calibri" pitchFamily="34" charset="0"/>
                <a:ea typeface="Calibri" pitchFamily="34" charset="-122"/>
                <a:cs typeface="Calibri" pitchFamily="34" charset="-120"/>
              </a:rPr>
              <a:t>Near-perfect</a:t>
            </a:r>
            <a:endParaRPr lang="en-US" sz="10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IV · ABLATION STUDY</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Proving Component Value: Three Configurations</a:t>
            </a:r>
            <a:endParaRPr lang="en-US" sz="2600" dirty="0"/>
          </a:p>
        </p:txBody>
      </p:sp>
      <p:sp>
        <p:nvSpPr>
          <p:cNvPr id="5" name="Shape 2"/>
          <p:cNvSpPr/>
          <p:nvPr/>
        </p:nvSpPr>
        <p:spPr>
          <a:xfrm>
            <a:off x="548640" y="1508760"/>
            <a:ext cx="3566160" cy="4251960"/>
          </a:xfrm>
          <a:prstGeom prst="rect">
            <a:avLst/>
          </a:prstGeom>
          <a:solidFill>
            <a:srgbClr val="F1F3F5"/>
          </a:solidFill>
          <a:ln w="9525">
            <a:solidFill>
              <a:srgbClr val="E1E4E8"/>
            </a:solidFill>
            <a:prstDash val="solid"/>
          </a:ln>
        </p:spPr>
      </p:sp>
      <p:sp>
        <p:nvSpPr>
          <p:cNvPr id="6" name="Shape 3"/>
          <p:cNvSpPr/>
          <p:nvPr/>
        </p:nvSpPr>
        <p:spPr>
          <a:xfrm>
            <a:off x="548640" y="1508760"/>
            <a:ext cx="54864" cy="4251960"/>
          </a:xfrm>
          <a:prstGeom prst="rect">
            <a:avLst/>
          </a:prstGeom>
          <a:solidFill>
            <a:srgbClr val="C92A2A"/>
          </a:solidFill>
          <a:ln w="12700">
            <a:solidFill>
              <a:srgbClr val="C92A2A"/>
            </a:solidFill>
            <a:prstDash val="solid"/>
          </a:ln>
        </p:spPr>
      </p:sp>
      <p:sp>
        <p:nvSpPr>
          <p:cNvPr id="7" name="Text 4"/>
          <p:cNvSpPr txBox="1"/>
          <p:nvPr/>
        </p:nvSpPr>
        <p:spPr>
          <a:xfrm>
            <a:off x="822960" y="1691640"/>
            <a:ext cx="3108960" cy="182880"/>
          </a:xfrm>
          <a:prstGeom prst="rect">
            <a:avLst/>
          </a:prstGeom>
          <a:noFill/>
          <a:ln/>
        </p:spPr>
        <p:txBody>
          <a:bodyPr wrap="square" lIns="0" tIns="0" rIns="0" bIns="0" rtlCol="0" anchor="t"/>
          <a:lstStyle/>
          <a:p>
            <a:pPr indent="0" marL="0">
              <a:buNone/>
            </a:pPr>
            <a:r>
              <a:rPr lang="en-US" sz="900" b="1" spc="250" kern="0" dirty="0">
                <a:solidFill>
                  <a:srgbClr val="C92A2A"/>
                </a:solidFill>
                <a:latin typeface="Calibri" pitchFamily="34" charset="0"/>
                <a:ea typeface="Calibri" pitchFamily="34" charset="-122"/>
                <a:cs typeface="Calibri" pitchFamily="34" charset="-120"/>
              </a:rPr>
              <a:t>CONFIGURATION A</a:t>
            </a:r>
            <a:endParaRPr lang="en-US" sz="900" dirty="0"/>
          </a:p>
        </p:txBody>
      </p:sp>
      <p:sp>
        <p:nvSpPr>
          <p:cNvPr id="8" name="Text 5"/>
          <p:cNvSpPr txBox="1"/>
          <p:nvPr/>
        </p:nvSpPr>
        <p:spPr>
          <a:xfrm>
            <a:off x="822960" y="1965960"/>
            <a:ext cx="3108960" cy="640080"/>
          </a:xfrm>
          <a:prstGeom prst="rect">
            <a:avLst/>
          </a:prstGeom>
          <a:noFill/>
          <a:ln/>
        </p:spPr>
        <p:txBody>
          <a:bodyPr wrap="square" lIns="0" tIns="0" rIns="0" bIns="0" rtlCol="0" anchor="t"/>
          <a:lstStyle/>
          <a:p>
            <a:pPr indent="0" marL="0">
              <a:buNone/>
            </a:pPr>
            <a:r>
              <a:rPr lang="en-US" sz="1700" b="1" dirty="0">
                <a:solidFill>
                  <a:srgbClr val="1C1E21"/>
                </a:solidFill>
                <a:latin typeface="Georgia" pitchFamily="34" charset="0"/>
                <a:ea typeface="Georgia" pitchFamily="34" charset="-122"/>
                <a:cs typeface="Georgia" pitchFamily="34" charset="-120"/>
              </a:rPr>
              <a:t>Zero-shot baseline</a:t>
            </a:r>
            <a:endParaRPr lang="en-US" sz="1700" dirty="0"/>
          </a:p>
        </p:txBody>
      </p:sp>
      <p:sp>
        <p:nvSpPr>
          <p:cNvPr id="9" name="Text 6"/>
          <p:cNvSpPr txBox="1"/>
          <p:nvPr/>
        </p:nvSpPr>
        <p:spPr>
          <a:xfrm>
            <a:off x="822960" y="2651760"/>
            <a:ext cx="3063240" cy="109728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High recall, high false positives. Flags lawful visual hierarchy and honest inventory counters as violations.</a:t>
            </a:r>
            <a:endParaRPr lang="en-US" sz="1100" dirty="0"/>
          </a:p>
        </p:txBody>
      </p:sp>
      <p:sp>
        <p:nvSpPr>
          <p:cNvPr id="10" name="Text 7"/>
          <p:cNvSpPr txBox="1"/>
          <p:nvPr/>
        </p:nvSpPr>
        <p:spPr>
          <a:xfrm>
            <a:off x="822960" y="3931920"/>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Recall</a:t>
            </a:r>
            <a:endParaRPr lang="en-US" sz="1000" dirty="0"/>
          </a:p>
        </p:txBody>
      </p:sp>
      <p:sp>
        <p:nvSpPr>
          <p:cNvPr id="11" name="Shape 8"/>
          <p:cNvSpPr/>
          <p:nvPr/>
        </p:nvSpPr>
        <p:spPr>
          <a:xfrm>
            <a:off x="822960" y="4178808"/>
            <a:ext cx="548640" cy="164592"/>
          </a:xfrm>
          <a:prstGeom prst="rect">
            <a:avLst/>
          </a:prstGeom>
          <a:solidFill>
            <a:srgbClr val="2B8A3E"/>
          </a:solidFill>
          <a:ln w="12700">
            <a:solidFill>
              <a:srgbClr val="2B8A3E"/>
            </a:solidFill>
            <a:prstDash val="solid"/>
          </a:ln>
        </p:spPr>
      </p:sp>
      <p:sp>
        <p:nvSpPr>
          <p:cNvPr id="12" name="Shape 9"/>
          <p:cNvSpPr/>
          <p:nvPr/>
        </p:nvSpPr>
        <p:spPr>
          <a:xfrm>
            <a:off x="1444752" y="4178808"/>
            <a:ext cx="548640" cy="164592"/>
          </a:xfrm>
          <a:prstGeom prst="rect">
            <a:avLst/>
          </a:prstGeom>
          <a:solidFill>
            <a:srgbClr val="2B8A3E"/>
          </a:solidFill>
          <a:ln w="12700">
            <a:solidFill>
              <a:srgbClr val="2B8A3E"/>
            </a:solidFill>
            <a:prstDash val="solid"/>
          </a:ln>
        </p:spPr>
      </p:sp>
      <p:sp>
        <p:nvSpPr>
          <p:cNvPr id="13" name="Shape 10"/>
          <p:cNvSpPr/>
          <p:nvPr/>
        </p:nvSpPr>
        <p:spPr>
          <a:xfrm>
            <a:off x="2066544" y="4178808"/>
            <a:ext cx="548640" cy="164592"/>
          </a:xfrm>
          <a:prstGeom prst="rect">
            <a:avLst/>
          </a:prstGeom>
          <a:solidFill>
            <a:srgbClr val="2B8A3E"/>
          </a:solidFill>
          <a:ln w="12700">
            <a:solidFill>
              <a:srgbClr val="2B8A3E"/>
            </a:solidFill>
            <a:prstDash val="solid"/>
          </a:ln>
        </p:spPr>
      </p:sp>
      <p:sp>
        <p:nvSpPr>
          <p:cNvPr id="14" name="Shape 11"/>
          <p:cNvSpPr/>
          <p:nvPr/>
        </p:nvSpPr>
        <p:spPr>
          <a:xfrm>
            <a:off x="2688336" y="4178808"/>
            <a:ext cx="548640" cy="164592"/>
          </a:xfrm>
          <a:prstGeom prst="rect">
            <a:avLst/>
          </a:prstGeom>
          <a:solidFill>
            <a:srgbClr val="2B8A3E"/>
          </a:solidFill>
          <a:ln w="12700">
            <a:solidFill>
              <a:srgbClr val="2B8A3E"/>
            </a:solidFill>
            <a:prstDash val="solid"/>
          </a:ln>
        </p:spPr>
      </p:sp>
      <p:sp>
        <p:nvSpPr>
          <p:cNvPr id="15" name="Shape 12"/>
          <p:cNvSpPr/>
          <p:nvPr/>
        </p:nvSpPr>
        <p:spPr>
          <a:xfrm>
            <a:off x="3310128" y="4178808"/>
            <a:ext cx="548640" cy="164592"/>
          </a:xfrm>
          <a:prstGeom prst="rect">
            <a:avLst/>
          </a:prstGeom>
          <a:solidFill>
            <a:srgbClr val="2B8A3E"/>
          </a:solidFill>
          <a:ln w="12700">
            <a:solidFill>
              <a:srgbClr val="2B8A3E"/>
            </a:solidFill>
            <a:prstDash val="solid"/>
          </a:ln>
        </p:spPr>
      </p:sp>
      <p:sp>
        <p:nvSpPr>
          <p:cNvPr id="16" name="Text 13"/>
          <p:cNvSpPr txBox="1"/>
          <p:nvPr/>
        </p:nvSpPr>
        <p:spPr>
          <a:xfrm>
            <a:off x="822960" y="4498848"/>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Precision</a:t>
            </a:r>
            <a:endParaRPr lang="en-US" sz="1000" dirty="0"/>
          </a:p>
        </p:txBody>
      </p:sp>
      <p:sp>
        <p:nvSpPr>
          <p:cNvPr id="17" name="Shape 14"/>
          <p:cNvSpPr/>
          <p:nvPr/>
        </p:nvSpPr>
        <p:spPr>
          <a:xfrm>
            <a:off x="822960" y="4745736"/>
            <a:ext cx="548640" cy="164592"/>
          </a:xfrm>
          <a:prstGeom prst="rect">
            <a:avLst/>
          </a:prstGeom>
          <a:solidFill>
            <a:srgbClr val="2B8A3E"/>
          </a:solidFill>
          <a:ln w="12700">
            <a:solidFill>
              <a:srgbClr val="2B8A3E"/>
            </a:solidFill>
            <a:prstDash val="solid"/>
          </a:ln>
        </p:spPr>
      </p:sp>
      <p:sp>
        <p:nvSpPr>
          <p:cNvPr id="18" name="Shape 15"/>
          <p:cNvSpPr/>
          <p:nvPr/>
        </p:nvSpPr>
        <p:spPr>
          <a:xfrm>
            <a:off x="1444752" y="4745736"/>
            <a:ext cx="548640" cy="164592"/>
          </a:xfrm>
          <a:prstGeom prst="rect">
            <a:avLst/>
          </a:prstGeom>
          <a:solidFill>
            <a:srgbClr val="2B8A3E"/>
          </a:solidFill>
          <a:ln w="12700">
            <a:solidFill>
              <a:srgbClr val="2B8A3E"/>
            </a:solidFill>
            <a:prstDash val="solid"/>
          </a:ln>
        </p:spPr>
      </p:sp>
      <p:sp>
        <p:nvSpPr>
          <p:cNvPr id="19" name="Shape 16"/>
          <p:cNvSpPr/>
          <p:nvPr/>
        </p:nvSpPr>
        <p:spPr>
          <a:xfrm>
            <a:off x="2066544" y="4745736"/>
            <a:ext cx="548640" cy="164592"/>
          </a:xfrm>
          <a:prstGeom prst="rect">
            <a:avLst/>
          </a:prstGeom>
          <a:solidFill>
            <a:srgbClr val="E1E4E8"/>
          </a:solidFill>
          <a:ln w="12700">
            <a:solidFill>
              <a:srgbClr val="E1E4E8"/>
            </a:solidFill>
            <a:prstDash val="solid"/>
          </a:ln>
        </p:spPr>
      </p:sp>
      <p:sp>
        <p:nvSpPr>
          <p:cNvPr id="20" name="Shape 17"/>
          <p:cNvSpPr/>
          <p:nvPr/>
        </p:nvSpPr>
        <p:spPr>
          <a:xfrm>
            <a:off x="2688336" y="4745736"/>
            <a:ext cx="548640" cy="164592"/>
          </a:xfrm>
          <a:prstGeom prst="rect">
            <a:avLst/>
          </a:prstGeom>
          <a:solidFill>
            <a:srgbClr val="E1E4E8"/>
          </a:solidFill>
          <a:ln w="12700">
            <a:solidFill>
              <a:srgbClr val="E1E4E8"/>
            </a:solidFill>
            <a:prstDash val="solid"/>
          </a:ln>
        </p:spPr>
      </p:sp>
      <p:sp>
        <p:nvSpPr>
          <p:cNvPr id="21" name="Shape 18"/>
          <p:cNvSpPr/>
          <p:nvPr/>
        </p:nvSpPr>
        <p:spPr>
          <a:xfrm>
            <a:off x="3310128" y="4745736"/>
            <a:ext cx="548640" cy="164592"/>
          </a:xfrm>
          <a:prstGeom prst="rect">
            <a:avLst/>
          </a:prstGeom>
          <a:solidFill>
            <a:srgbClr val="E1E4E8"/>
          </a:solidFill>
          <a:ln w="12700">
            <a:solidFill>
              <a:srgbClr val="E1E4E8"/>
            </a:solidFill>
            <a:prstDash val="solid"/>
          </a:ln>
        </p:spPr>
      </p:sp>
      <p:sp>
        <p:nvSpPr>
          <p:cNvPr id="22" name="Text 19"/>
          <p:cNvSpPr txBox="1"/>
          <p:nvPr/>
        </p:nvSpPr>
        <p:spPr>
          <a:xfrm>
            <a:off x="822960" y="5065776"/>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False alarms (clean sites)</a:t>
            </a:r>
            <a:endParaRPr lang="en-US" sz="1000" dirty="0"/>
          </a:p>
        </p:txBody>
      </p:sp>
      <p:sp>
        <p:nvSpPr>
          <p:cNvPr id="23" name="Shape 20"/>
          <p:cNvSpPr/>
          <p:nvPr/>
        </p:nvSpPr>
        <p:spPr>
          <a:xfrm>
            <a:off x="822960" y="5312664"/>
            <a:ext cx="548640" cy="164592"/>
          </a:xfrm>
          <a:prstGeom prst="rect">
            <a:avLst/>
          </a:prstGeom>
          <a:solidFill>
            <a:srgbClr val="C92A2A"/>
          </a:solidFill>
          <a:ln w="12700">
            <a:solidFill>
              <a:srgbClr val="C92A2A"/>
            </a:solidFill>
            <a:prstDash val="solid"/>
          </a:ln>
        </p:spPr>
      </p:sp>
      <p:sp>
        <p:nvSpPr>
          <p:cNvPr id="24" name="Shape 21"/>
          <p:cNvSpPr/>
          <p:nvPr/>
        </p:nvSpPr>
        <p:spPr>
          <a:xfrm>
            <a:off x="1444752" y="5312664"/>
            <a:ext cx="548640" cy="164592"/>
          </a:xfrm>
          <a:prstGeom prst="rect">
            <a:avLst/>
          </a:prstGeom>
          <a:solidFill>
            <a:srgbClr val="C92A2A"/>
          </a:solidFill>
          <a:ln w="12700">
            <a:solidFill>
              <a:srgbClr val="C92A2A"/>
            </a:solidFill>
            <a:prstDash val="solid"/>
          </a:ln>
        </p:spPr>
      </p:sp>
      <p:sp>
        <p:nvSpPr>
          <p:cNvPr id="25" name="Shape 22"/>
          <p:cNvSpPr/>
          <p:nvPr/>
        </p:nvSpPr>
        <p:spPr>
          <a:xfrm>
            <a:off x="2066544" y="5312664"/>
            <a:ext cx="548640" cy="164592"/>
          </a:xfrm>
          <a:prstGeom prst="rect">
            <a:avLst/>
          </a:prstGeom>
          <a:solidFill>
            <a:srgbClr val="C92A2A"/>
          </a:solidFill>
          <a:ln w="12700">
            <a:solidFill>
              <a:srgbClr val="C92A2A"/>
            </a:solidFill>
            <a:prstDash val="solid"/>
          </a:ln>
        </p:spPr>
      </p:sp>
      <p:sp>
        <p:nvSpPr>
          <p:cNvPr id="26" name="Shape 23"/>
          <p:cNvSpPr/>
          <p:nvPr/>
        </p:nvSpPr>
        <p:spPr>
          <a:xfrm>
            <a:off x="2688336" y="5312664"/>
            <a:ext cx="548640" cy="164592"/>
          </a:xfrm>
          <a:prstGeom prst="rect">
            <a:avLst/>
          </a:prstGeom>
          <a:solidFill>
            <a:srgbClr val="C92A2A"/>
          </a:solidFill>
          <a:ln w="12700">
            <a:solidFill>
              <a:srgbClr val="C92A2A"/>
            </a:solidFill>
            <a:prstDash val="solid"/>
          </a:ln>
        </p:spPr>
      </p:sp>
      <p:sp>
        <p:nvSpPr>
          <p:cNvPr id="27" name="Shape 24"/>
          <p:cNvSpPr/>
          <p:nvPr/>
        </p:nvSpPr>
        <p:spPr>
          <a:xfrm>
            <a:off x="3310128" y="5312664"/>
            <a:ext cx="548640" cy="164592"/>
          </a:xfrm>
          <a:prstGeom prst="rect">
            <a:avLst/>
          </a:prstGeom>
          <a:solidFill>
            <a:srgbClr val="E1E4E8"/>
          </a:solidFill>
          <a:ln w="12700">
            <a:solidFill>
              <a:srgbClr val="E1E4E8"/>
            </a:solidFill>
            <a:prstDash val="solid"/>
          </a:ln>
        </p:spPr>
      </p:sp>
      <p:sp>
        <p:nvSpPr>
          <p:cNvPr id="28" name="Shape 25"/>
          <p:cNvSpPr/>
          <p:nvPr/>
        </p:nvSpPr>
        <p:spPr>
          <a:xfrm>
            <a:off x="4315968" y="1508760"/>
            <a:ext cx="3566160" cy="4251960"/>
          </a:xfrm>
          <a:prstGeom prst="rect">
            <a:avLst/>
          </a:prstGeom>
          <a:solidFill>
            <a:srgbClr val="F1F3F5"/>
          </a:solidFill>
          <a:ln w="9525">
            <a:solidFill>
              <a:srgbClr val="E1E4E8"/>
            </a:solidFill>
            <a:prstDash val="solid"/>
          </a:ln>
        </p:spPr>
      </p:sp>
      <p:sp>
        <p:nvSpPr>
          <p:cNvPr id="29" name="Shape 26"/>
          <p:cNvSpPr/>
          <p:nvPr/>
        </p:nvSpPr>
        <p:spPr>
          <a:xfrm>
            <a:off x="4315968" y="1508760"/>
            <a:ext cx="54864" cy="4251960"/>
          </a:xfrm>
          <a:prstGeom prst="rect">
            <a:avLst/>
          </a:prstGeom>
          <a:solidFill>
            <a:srgbClr val="D9730D"/>
          </a:solidFill>
          <a:ln w="12700">
            <a:solidFill>
              <a:srgbClr val="D9730D"/>
            </a:solidFill>
            <a:prstDash val="solid"/>
          </a:ln>
        </p:spPr>
      </p:sp>
      <p:sp>
        <p:nvSpPr>
          <p:cNvPr id="30" name="Text 27"/>
          <p:cNvSpPr txBox="1"/>
          <p:nvPr/>
        </p:nvSpPr>
        <p:spPr>
          <a:xfrm>
            <a:off x="4590288" y="1691640"/>
            <a:ext cx="3108960" cy="182880"/>
          </a:xfrm>
          <a:prstGeom prst="rect">
            <a:avLst/>
          </a:prstGeom>
          <a:noFill/>
          <a:ln/>
        </p:spPr>
        <p:txBody>
          <a:bodyPr wrap="square" lIns="0" tIns="0" rIns="0" bIns="0" rtlCol="0" anchor="t"/>
          <a:lstStyle/>
          <a:p>
            <a:pPr indent="0" marL="0">
              <a:buNone/>
            </a:pPr>
            <a:r>
              <a:rPr lang="en-US" sz="900" b="1" spc="250" kern="0" dirty="0">
                <a:solidFill>
                  <a:srgbClr val="D9730D"/>
                </a:solidFill>
                <a:latin typeface="Calibri" pitchFamily="34" charset="0"/>
                <a:ea typeface="Calibri" pitchFamily="34" charset="-122"/>
                <a:cs typeface="Calibri" pitchFamily="34" charset="-120"/>
              </a:rPr>
              <a:t>CONFIGURATION B</a:t>
            </a:r>
            <a:endParaRPr lang="en-US" sz="900" dirty="0"/>
          </a:p>
        </p:txBody>
      </p:sp>
      <p:sp>
        <p:nvSpPr>
          <p:cNvPr id="31" name="Text 28"/>
          <p:cNvSpPr txBox="1"/>
          <p:nvPr/>
        </p:nvSpPr>
        <p:spPr>
          <a:xfrm>
            <a:off x="4590288" y="1965960"/>
            <a:ext cx="3108960" cy="640080"/>
          </a:xfrm>
          <a:prstGeom prst="rect">
            <a:avLst/>
          </a:prstGeom>
          <a:noFill/>
          <a:ln/>
        </p:spPr>
        <p:txBody>
          <a:bodyPr wrap="square" lIns="0" tIns="0" rIns="0" bIns="0" rtlCol="0" anchor="t"/>
          <a:lstStyle/>
          <a:p>
            <a:pPr indent="0" marL="0">
              <a:buNone/>
            </a:pPr>
            <a:r>
              <a:rPr lang="en-US" sz="1700" b="1" dirty="0">
                <a:solidFill>
                  <a:srgbClr val="1C1E21"/>
                </a:solidFill>
                <a:latin typeface="Georgia" pitchFamily="34" charset="0"/>
                <a:ea typeface="Georgia" pitchFamily="34" charset="-122"/>
                <a:cs typeface="Georgia" pitchFamily="34" charset="-120"/>
              </a:rPr>
              <a:t>Rubric-guided prompt</a:t>
            </a:r>
            <a:endParaRPr lang="en-US" sz="1700" dirty="0"/>
          </a:p>
        </p:txBody>
      </p:sp>
      <p:sp>
        <p:nvSpPr>
          <p:cNvPr id="32" name="Text 29"/>
          <p:cNvSpPr txBox="1"/>
          <p:nvPr/>
        </p:nvSpPr>
        <p:spPr>
          <a:xfrm>
            <a:off x="4590288" y="2651760"/>
            <a:ext cx="3063240" cy="109728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Inclusion/exclusion rubrics deliver about a +30% precision boost over the baseline, with modest recall cost.</a:t>
            </a:r>
            <a:endParaRPr lang="en-US" sz="1100" dirty="0"/>
          </a:p>
        </p:txBody>
      </p:sp>
      <p:sp>
        <p:nvSpPr>
          <p:cNvPr id="33" name="Text 30"/>
          <p:cNvSpPr txBox="1"/>
          <p:nvPr/>
        </p:nvSpPr>
        <p:spPr>
          <a:xfrm>
            <a:off x="4590288" y="3931920"/>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Recall</a:t>
            </a:r>
            <a:endParaRPr lang="en-US" sz="1000" dirty="0"/>
          </a:p>
        </p:txBody>
      </p:sp>
      <p:sp>
        <p:nvSpPr>
          <p:cNvPr id="34" name="Shape 31"/>
          <p:cNvSpPr/>
          <p:nvPr/>
        </p:nvSpPr>
        <p:spPr>
          <a:xfrm>
            <a:off x="4590288" y="4178808"/>
            <a:ext cx="548640" cy="164592"/>
          </a:xfrm>
          <a:prstGeom prst="rect">
            <a:avLst/>
          </a:prstGeom>
          <a:solidFill>
            <a:srgbClr val="2B8A3E"/>
          </a:solidFill>
          <a:ln w="12700">
            <a:solidFill>
              <a:srgbClr val="2B8A3E"/>
            </a:solidFill>
            <a:prstDash val="solid"/>
          </a:ln>
        </p:spPr>
      </p:sp>
      <p:sp>
        <p:nvSpPr>
          <p:cNvPr id="35" name="Shape 32"/>
          <p:cNvSpPr/>
          <p:nvPr/>
        </p:nvSpPr>
        <p:spPr>
          <a:xfrm>
            <a:off x="5212080" y="4178808"/>
            <a:ext cx="548640" cy="164592"/>
          </a:xfrm>
          <a:prstGeom prst="rect">
            <a:avLst/>
          </a:prstGeom>
          <a:solidFill>
            <a:srgbClr val="2B8A3E"/>
          </a:solidFill>
          <a:ln w="12700">
            <a:solidFill>
              <a:srgbClr val="2B8A3E"/>
            </a:solidFill>
            <a:prstDash val="solid"/>
          </a:ln>
        </p:spPr>
      </p:sp>
      <p:sp>
        <p:nvSpPr>
          <p:cNvPr id="36" name="Shape 33"/>
          <p:cNvSpPr/>
          <p:nvPr/>
        </p:nvSpPr>
        <p:spPr>
          <a:xfrm>
            <a:off x="5833872" y="4178808"/>
            <a:ext cx="548640" cy="164592"/>
          </a:xfrm>
          <a:prstGeom prst="rect">
            <a:avLst/>
          </a:prstGeom>
          <a:solidFill>
            <a:srgbClr val="2B8A3E"/>
          </a:solidFill>
          <a:ln w="12700">
            <a:solidFill>
              <a:srgbClr val="2B8A3E"/>
            </a:solidFill>
            <a:prstDash val="solid"/>
          </a:ln>
        </p:spPr>
      </p:sp>
      <p:sp>
        <p:nvSpPr>
          <p:cNvPr id="37" name="Shape 34"/>
          <p:cNvSpPr/>
          <p:nvPr/>
        </p:nvSpPr>
        <p:spPr>
          <a:xfrm>
            <a:off x="6455664" y="4178808"/>
            <a:ext cx="548640" cy="164592"/>
          </a:xfrm>
          <a:prstGeom prst="rect">
            <a:avLst/>
          </a:prstGeom>
          <a:solidFill>
            <a:srgbClr val="2B8A3E"/>
          </a:solidFill>
          <a:ln w="12700">
            <a:solidFill>
              <a:srgbClr val="2B8A3E"/>
            </a:solidFill>
            <a:prstDash val="solid"/>
          </a:ln>
        </p:spPr>
      </p:sp>
      <p:sp>
        <p:nvSpPr>
          <p:cNvPr id="38" name="Shape 35"/>
          <p:cNvSpPr/>
          <p:nvPr/>
        </p:nvSpPr>
        <p:spPr>
          <a:xfrm>
            <a:off x="7077456" y="4178808"/>
            <a:ext cx="548640" cy="164592"/>
          </a:xfrm>
          <a:prstGeom prst="rect">
            <a:avLst/>
          </a:prstGeom>
          <a:solidFill>
            <a:srgbClr val="E1E4E8"/>
          </a:solidFill>
          <a:ln w="12700">
            <a:solidFill>
              <a:srgbClr val="E1E4E8"/>
            </a:solidFill>
            <a:prstDash val="solid"/>
          </a:ln>
        </p:spPr>
      </p:sp>
      <p:sp>
        <p:nvSpPr>
          <p:cNvPr id="39" name="Text 36"/>
          <p:cNvSpPr txBox="1"/>
          <p:nvPr/>
        </p:nvSpPr>
        <p:spPr>
          <a:xfrm>
            <a:off x="4590288" y="4498848"/>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Precision</a:t>
            </a:r>
            <a:endParaRPr lang="en-US" sz="1000" dirty="0"/>
          </a:p>
        </p:txBody>
      </p:sp>
      <p:sp>
        <p:nvSpPr>
          <p:cNvPr id="40" name="Shape 37"/>
          <p:cNvSpPr/>
          <p:nvPr/>
        </p:nvSpPr>
        <p:spPr>
          <a:xfrm>
            <a:off x="4590288" y="4745736"/>
            <a:ext cx="548640" cy="164592"/>
          </a:xfrm>
          <a:prstGeom prst="rect">
            <a:avLst/>
          </a:prstGeom>
          <a:solidFill>
            <a:srgbClr val="2B8A3E"/>
          </a:solidFill>
          <a:ln w="12700">
            <a:solidFill>
              <a:srgbClr val="2B8A3E"/>
            </a:solidFill>
            <a:prstDash val="solid"/>
          </a:ln>
        </p:spPr>
      </p:sp>
      <p:sp>
        <p:nvSpPr>
          <p:cNvPr id="41" name="Shape 38"/>
          <p:cNvSpPr/>
          <p:nvPr/>
        </p:nvSpPr>
        <p:spPr>
          <a:xfrm>
            <a:off x="5212080" y="4745736"/>
            <a:ext cx="548640" cy="164592"/>
          </a:xfrm>
          <a:prstGeom prst="rect">
            <a:avLst/>
          </a:prstGeom>
          <a:solidFill>
            <a:srgbClr val="2B8A3E"/>
          </a:solidFill>
          <a:ln w="12700">
            <a:solidFill>
              <a:srgbClr val="2B8A3E"/>
            </a:solidFill>
            <a:prstDash val="solid"/>
          </a:ln>
        </p:spPr>
      </p:sp>
      <p:sp>
        <p:nvSpPr>
          <p:cNvPr id="42" name="Shape 39"/>
          <p:cNvSpPr/>
          <p:nvPr/>
        </p:nvSpPr>
        <p:spPr>
          <a:xfrm>
            <a:off x="5833872" y="4745736"/>
            <a:ext cx="548640" cy="164592"/>
          </a:xfrm>
          <a:prstGeom prst="rect">
            <a:avLst/>
          </a:prstGeom>
          <a:solidFill>
            <a:srgbClr val="2B8A3E"/>
          </a:solidFill>
          <a:ln w="12700">
            <a:solidFill>
              <a:srgbClr val="2B8A3E"/>
            </a:solidFill>
            <a:prstDash val="solid"/>
          </a:ln>
        </p:spPr>
      </p:sp>
      <p:sp>
        <p:nvSpPr>
          <p:cNvPr id="43" name="Shape 40"/>
          <p:cNvSpPr/>
          <p:nvPr/>
        </p:nvSpPr>
        <p:spPr>
          <a:xfrm>
            <a:off x="6455664" y="4745736"/>
            <a:ext cx="548640" cy="164592"/>
          </a:xfrm>
          <a:prstGeom prst="rect">
            <a:avLst/>
          </a:prstGeom>
          <a:solidFill>
            <a:srgbClr val="2B8A3E"/>
          </a:solidFill>
          <a:ln w="12700">
            <a:solidFill>
              <a:srgbClr val="2B8A3E"/>
            </a:solidFill>
            <a:prstDash val="solid"/>
          </a:ln>
        </p:spPr>
      </p:sp>
      <p:sp>
        <p:nvSpPr>
          <p:cNvPr id="44" name="Shape 41"/>
          <p:cNvSpPr/>
          <p:nvPr/>
        </p:nvSpPr>
        <p:spPr>
          <a:xfrm>
            <a:off x="7077456" y="4745736"/>
            <a:ext cx="548640" cy="164592"/>
          </a:xfrm>
          <a:prstGeom prst="rect">
            <a:avLst/>
          </a:prstGeom>
          <a:solidFill>
            <a:srgbClr val="E1E4E8"/>
          </a:solidFill>
          <a:ln w="12700">
            <a:solidFill>
              <a:srgbClr val="E1E4E8"/>
            </a:solidFill>
            <a:prstDash val="solid"/>
          </a:ln>
        </p:spPr>
      </p:sp>
      <p:sp>
        <p:nvSpPr>
          <p:cNvPr id="45" name="Text 42"/>
          <p:cNvSpPr txBox="1"/>
          <p:nvPr/>
        </p:nvSpPr>
        <p:spPr>
          <a:xfrm>
            <a:off x="4590288" y="5065776"/>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False alarms (clean sites)</a:t>
            </a:r>
            <a:endParaRPr lang="en-US" sz="1000" dirty="0"/>
          </a:p>
        </p:txBody>
      </p:sp>
      <p:sp>
        <p:nvSpPr>
          <p:cNvPr id="46" name="Shape 43"/>
          <p:cNvSpPr/>
          <p:nvPr/>
        </p:nvSpPr>
        <p:spPr>
          <a:xfrm>
            <a:off x="4590288" y="5312664"/>
            <a:ext cx="548640" cy="164592"/>
          </a:xfrm>
          <a:prstGeom prst="rect">
            <a:avLst/>
          </a:prstGeom>
          <a:solidFill>
            <a:srgbClr val="C92A2A"/>
          </a:solidFill>
          <a:ln w="12700">
            <a:solidFill>
              <a:srgbClr val="C92A2A"/>
            </a:solidFill>
            <a:prstDash val="solid"/>
          </a:ln>
        </p:spPr>
      </p:sp>
      <p:sp>
        <p:nvSpPr>
          <p:cNvPr id="47" name="Shape 44"/>
          <p:cNvSpPr/>
          <p:nvPr/>
        </p:nvSpPr>
        <p:spPr>
          <a:xfrm>
            <a:off x="5212080" y="5312664"/>
            <a:ext cx="548640" cy="164592"/>
          </a:xfrm>
          <a:prstGeom prst="rect">
            <a:avLst/>
          </a:prstGeom>
          <a:solidFill>
            <a:srgbClr val="C92A2A"/>
          </a:solidFill>
          <a:ln w="12700">
            <a:solidFill>
              <a:srgbClr val="C92A2A"/>
            </a:solidFill>
            <a:prstDash val="solid"/>
          </a:ln>
        </p:spPr>
      </p:sp>
      <p:sp>
        <p:nvSpPr>
          <p:cNvPr id="48" name="Shape 45"/>
          <p:cNvSpPr/>
          <p:nvPr/>
        </p:nvSpPr>
        <p:spPr>
          <a:xfrm>
            <a:off x="5833872" y="5312664"/>
            <a:ext cx="548640" cy="164592"/>
          </a:xfrm>
          <a:prstGeom prst="rect">
            <a:avLst/>
          </a:prstGeom>
          <a:solidFill>
            <a:srgbClr val="C92A2A"/>
          </a:solidFill>
          <a:ln w="12700">
            <a:solidFill>
              <a:srgbClr val="C92A2A"/>
            </a:solidFill>
            <a:prstDash val="solid"/>
          </a:ln>
        </p:spPr>
      </p:sp>
      <p:sp>
        <p:nvSpPr>
          <p:cNvPr id="49" name="Shape 46"/>
          <p:cNvSpPr/>
          <p:nvPr/>
        </p:nvSpPr>
        <p:spPr>
          <a:xfrm>
            <a:off x="6455664" y="5312664"/>
            <a:ext cx="548640" cy="164592"/>
          </a:xfrm>
          <a:prstGeom prst="rect">
            <a:avLst/>
          </a:prstGeom>
          <a:solidFill>
            <a:srgbClr val="E1E4E8"/>
          </a:solidFill>
          <a:ln w="12700">
            <a:solidFill>
              <a:srgbClr val="E1E4E8"/>
            </a:solidFill>
            <a:prstDash val="solid"/>
          </a:ln>
        </p:spPr>
      </p:sp>
      <p:sp>
        <p:nvSpPr>
          <p:cNvPr id="50" name="Shape 47"/>
          <p:cNvSpPr/>
          <p:nvPr/>
        </p:nvSpPr>
        <p:spPr>
          <a:xfrm>
            <a:off x="7077456" y="5312664"/>
            <a:ext cx="548640" cy="164592"/>
          </a:xfrm>
          <a:prstGeom prst="rect">
            <a:avLst/>
          </a:prstGeom>
          <a:solidFill>
            <a:srgbClr val="E1E4E8"/>
          </a:solidFill>
          <a:ln w="12700">
            <a:solidFill>
              <a:srgbClr val="E1E4E8"/>
            </a:solidFill>
            <a:prstDash val="solid"/>
          </a:ln>
        </p:spPr>
      </p:sp>
      <p:sp>
        <p:nvSpPr>
          <p:cNvPr id="51" name="Shape 48"/>
          <p:cNvSpPr/>
          <p:nvPr/>
        </p:nvSpPr>
        <p:spPr>
          <a:xfrm>
            <a:off x="8083296" y="1508760"/>
            <a:ext cx="3566160" cy="4251960"/>
          </a:xfrm>
          <a:prstGeom prst="rect">
            <a:avLst/>
          </a:prstGeom>
          <a:solidFill>
            <a:srgbClr val="F1F3F5"/>
          </a:solidFill>
          <a:ln w="9525">
            <a:solidFill>
              <a:srgbClr val="E1E4E8"/>
            </a:solidFill>
            <a:prstDash val="solid"/>
          </a:ln>
        </p:spPr>
      </p:sp>
      <p:sp>
        <p:nvSpPr>
          <p:cNvPr id="52" name="Shape 49"/>
          <p:cNvSpPr/>
          <p:nvPr/>
        </p:nvSpPr>
        <p:spPr>
          <a:xfrm>
            <a:off x="8083296" y="1508760"/>
            <a:ext cx="54864" cy="4251960"/>
          </a:xfrm>
          <a:prstGeom prst="rect">
            <a:avLst/>
          </a:prstGeom>
          <a:solidFill>
            <a:srgbClr val="2B8A3E"/>
          </a:solidFill>
          <a:ln w="12700">
            <a:solidFill>
              <a:srgbClr val="2B8A3E"/>
            </a:solidFill>
            <a:prstDash val="solid"/>
          </a:ln>
        </p:spPr>
      </p:sp>
      <p:sp>
        <p:nvSpPr>
          <p:cNvPr id="53" name="Text 50"/>
          <p:cNvSpPr txBox="1"/>
          <p:nvPr/>
        </p:nvSpPr>
        <p:spPr>
          <a:xfrm>
            <a:off x="8357616" y="1691640"/>
            <a:ext cx="3108960" cy="182880"/>
          </a:xfrm>
          <a:prstGeom prst="rect">
            <a:avLst/>
          </a:prstGeom>
          <a:noFill/>
          <a:ln/>
        </p:spPr>
        <p:txBody>
          <a:bodyPr wrap="square" lIns="0" tIns="0" rIns="0" bIns="0" rtlCol="0" anchor="t"/>
          <a:lstStyle/>
          <a:p>
            <a:pPr indent="0" marL="0">
              <a:buNone/>
            </a:pPr>
            <a:r>
              <a:rPr lang="en-US" sz="900" b="1" spc="250" kern="0" dirty="0">
                <a:solidFill>
                  <a:srgbClr val="2B8A3E"/>
                </a:solidFill>
                <a:latin typeface="Calibri" pitchFamily="34" charset="0"/>
                <a:ea typeface="Calibri" pitchFamily="34" charset="-122"/>
                <a:cs typeface="Calibri" pitchFamily="34" charset="-120"/>
              </a:rPr>
              <a:t>CONFIGURATION C</a:t>
            </a:r>
            <a:endParaRPr lang="en-US" sz="900" dirty="0"/>
          </a:p>
        </p:txBody>
      </p:sp>
      <p:sp>
        <p:nvSpPr>
          <p:cNvPr id="54" name="Text 51"/>
          <p:cNvSpPr txBox="1"/>
          <p:nvPr/>
        </p:nvSpPr>
        <p:spPr>
          <a:xfrm>
            <a:off x="8357616" y="1965960"/>
            <a:ext cx="3108960" cy="640080"/>
          </a:xfrm>
          <a:prstGeom prst="rect">
            <a:avLst/>
          </a:prstGeom>
          <a:noFill/>
          <a:ln/>
        </p:spPr>
        <p:txBody>
          <a:bodyPr wrap="square" lIns="0" tIns="0" rIns="0" bIns="0" rtlCol="0" anchor="t"/>
          <a:lstStyle/>
          <a:p>
            <a:pPr indent="0" marL="0">
              <a:buNone/>
            </a:pPr>
            <a:r>
              <a:rPr lang="en-US" sz="1700" b="1" dirty="0">
                <a:solidFill>
                  <a:srgbClr val="1C1E21"/>
                </a:solidFill>
                <a:latin typeface="Georgia" pitchFamily="34" charset="0"/>
                <a:ea typeface="Georgia" pitchFamily="34" charset="-122"/>
                <a:cs typeface="Georgia" pitchFamily="34" charset="-120"/>
              </a:rPr>
              <a:t>Rubric + adversarial verifier</a:t>
            </a:r>
            <a:endParaRPr lang="en-US" sz="1700" dirty="0"/>
          </a:p>
        </p:txBody>
      </p:sp>
      <p:sp>
        <p:nvSpPr>
          <p:cNvPr id="55" name="Text 52"/>
          <p:cNvSpPr txBox="1"/>
          <p:nvPr/>
        </p:nvSpPr>
        <p:spPr>
          <a:xfrm>
            <a:off x="8357616" y="2651760"/>
            <a:ext cx="3063240" cy="1097280"/>
          </a:xfrm>
          <a:prstGeom prst="rect">
            <a:avLst/>
          </a:prstGeom>
          <a:noFill/>
          <a:ln/>
        </p:spPr>
        <p:txBody>
          <a:bodyPr wrap="square" lIns="0" tIns="0" rIns="0" bIns="0" rtlCol="0" anchor="t"/>
          <a:lstStyle/>
          <a:p>
            <a:pPr indent="0" marL="0">
              <a:buNone/>
            </a:pPr>
            <a:r>
              <a:rPr lang="en-US" sz="1100" dirty="0">
                <a:solidFill>
                  <a:srgbClr val="525866"/>
                </a:solidFill>
                <a:latin typeface="Calibri" pitchFamily="34" charset="0"/>
                <a:ea typeface="Calibri" pitchFamily="34" charset="-122"/>
                <a:cs typeface="Calibri" pitchFamily="34" charset="-120"/>
              </a:rPr>
              <a:t>Optimal balance. Sharply lower false-alarm rate on clean government and utility sites.</a:t>
            </a:r>
            <a:endParaRPr lang="en-US" sz="1100" dirty="0"/>
          </a:p>
        </p:txBody>
      </p:sp>
      <p:sp>
        <p:nvSpPr>
          <p:cNvPr id="56" name="Text 53"/>
          <p:cNvSpPr txBox="1"/>
          <p:nvPr/>
        </p:nvSpPr>
        <p:spPr>
          <a:xfrm>
            <a:off x="8357616" y="3931920"/>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Recall</a:t>
            </a:r>
            <a:endParaRPr lang="en-US" sz="1000" dirty="0"/>
          </a:p>
        </p:txBody>
      </p:sp>
      <p:sp>
        <p:nvSpPr>
          <p:cNvPr id="57" name="Shape 54"/>
          <p:cNvSpPr/>
          <p:nvPr/>
        </p:nvSpPr>
        <p:spPr>
          <a:xfrm>
            <a:off x="8357616" y="4178808"/>
            <a:ext cx="548640" cy="164592"/>
          </a:xfrm>
          <a:prstGeom prst="rect">
            <a:avLst/>
          </a:prstGeom>
          <a:solidFill>
            <a:srgbClr val="2B8A3E"/>
          </a:solidFill>
          <a:ln w="12700">
            <a:solidFill>
              <a:srgbClr val="2B8A3E"/>
            </a:solidFill>
            <a:prstDash val="solid"/>
          </a:ln>
        </p:spPr>
      </p:sp>
      <p:sp>
        <p:nvSpPr>
          <p:cNvPr id="58" name="Shape 55"/>
          <p:cNvSpPr/>
          <p:nvPr/>
        </p:nvSpPr>
        <p:spPr>
          <a:xfrm>
            <a:off x="8979408" y="4178808"/>
            <a:ext cx="548640" cy="164592"/>
          </a:xfrm>
          <a:prstGeom prst="rect">
            <a:avLst/>
          </a:prstGeom>
          <a:solidFill>
            <a:srgbClr val="2B8A3E"/>
          </a:solidFill>
          <a:ln w="12700">
            <a:solidFill>
              <a:srgbClr val="2B8A3E"/>
            </a:solidFill>
            <a:prstDash val="solid"/>
          </a:ln>
        </p:spPr>
      </p:sp>
      <p:sp>
        <p:nvSpPr>
          <p:cNvPr id="59" name="Shape 56"/>
          <p:cNvSpPr/>
          <p:nvPr/>
        </p:nvSpPr>
        <p:spPr>
          <a:xfrm>
            <a:off x="9601200" y="4178808"/>
            <a:ext cx="548640" cy="164592"/>
          </a:xfrm>
          <a:prstGeom prst="rect">
            <a:avLst/>
          </a:prstGeom>
          <a:solidFill>
            <a:srgbClr val="2B8A3E"/>
          </a:solidFill>
          <a:ln w="12700">
            <a:solidFill>
              <a:srgbClr val="2B8A3E"/>
            </a:solidFill>
            <a:prstDash val="solid"/>
          </a:ln>
        </p:spPr>
      </p:sp>
      <p:sp>
        <p:nvSpPr>
          <p:cNvPr id="60" name="Shape 57"/>
          <p:cNvSpPr/>
          <p:nvPr/>
        </p:nvSpPr>
        <p:spPr>
          <a:xfrm>
            <a:off x="10222992" y="4178808"/>
            <a:ext cx="548640" cy="164592"/>
          </a:xfrm>
          <a:prstGeom prst="rect">
            <a:avLst/>
          </a:prstGeom>
          <a:solidFill>
            <a:srgbClr val="2B8A3E"/>
          </a:solidFill>
          <a:ln w="12700">
            <a:solidFill>
              <a:srgbClr val="2B8A3E"/>
            </a:solidFill>
            <a:prstDash val="solid"/>
          </a:ln>
        </p:spPr>
      </p:sp>
      <p:sp>
        <p:nvSpPr>
          <p:cNvPr id="61" name="Shape 58"/>
          <p:cNvSpPr/>
          <p:nvPr/>
        </p:nvSpPr>
        <p:spPr>
          <a:xfrm>
            <a:off x="10844784" y="4178808"/>
            <a:ext cx="548640" cy="164592"/>
          </a:xfrm>
          <a:prstGeom prst="rect">
            <a:avLst/>
          </a:prstGeom>
          <a:solidFill>
            <a:srgbClr val="E1E4E8"/>
          </a:solidFill>
          <a:ln w="12700">
            <a:solidFill>
              <a:srgbClr val="E1E4E8"/>
            </a:solidFill>
            <a:prstDash val="solid"/>
          </a:ln>
        </p:spPr>
      </p:sp>
      <p:sp>
        <p:nvSpPr>
          <p:cNvPr id="62" name="Text 59"/>
          <p:cNvSpPr txBox="1"/>
          <p:nvPr/>
        </p:nvSpPr>
        <p:spPr>
          <a:xfrm>
            <a:off x="8357616" y="4498848"/>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Precision</a:t>
            </a:r>
            <a:endParaRPr lang="en-US" sz="1000" dirty="0"/>
          </a:p>
        </p:txBody>
      </p:sp>
      <p:sp>
        <p:nvSpPr>
          <p:cNvPr id="63" name="Shape 60"/>
          <p:cNvSpPr/>
          <p:nvPr/>
        </p:nvSpPr>
        <p:spPr>
          <a:xfrm>
            <a:off x="8357616" y="4745736"/>
            <a:ext cx="548640" cy="164592"/>
          </a:xfrm>
          <a:prstGeom prst="rect">
            <a:avLst/>
          </a:prstGeom>
          <a:solidFill>
            <a:srgbClr val="2B8A3E"/>
          </a:solidFill>
          <a:ln w="12700">
            <a:solidFill>
              <a:srgbClr val="2B8A3E"/>
            </a:solidFill>
            <a:prstDash val="solid"/>
          </a:ln>
        </p:spPr>
      </p:sp>
      <p:sp>
        <p:nvSpPr>
          <p:cNvPr id="64" name="Shape 61"/>
          <p:cNvSpPr/>
          <p:nvPr/>
        </p:nvSpPr>
        <p:spPr>
          <a:xfrm>
            <a:off x="8979408" y="4745736"/>
            <a:ext cx="548640" cy="164592"/>
          </a:xfrm>
          <a:prstGeom prst="rect">
            <a:avLst/>
          </a:prstGeom>
          <a:solidFill>
            <a:srgbClr val="2B8A3E"/>
          </a:solidFill>
          <a:ln w="12700">
            <a:solidFill>
              <a:srgbClr val="2B8A3E"/>
            </a:solidFill>
            <a:prstDash val="solid"/>
          </a:ln>
        </p:spPr>
      </p:sp>
      <p:sp>
        <p:nvSpPr>
          <p:cNvPr id="65" name="Shape 62"/>
          <p:cNvSpPr/>
          <p:nvPr/>
        </p:nvSpPr>
        <p:spPr>
          <a:xfrm>
            <a:off x="9601200" y="4745736"/>
            <a:ext cx="548640" cy="164592"/>
          </a:xfrm>
          <a:prstGeom prst="rect">
            <a:avLst/>
          </a:prstGeom>
          <a:solidFill>
            <a:srgbClr val="2B8A3E"/>
          </a:solidFill>
          <a:ln w="12700">
            <a:solidFill>
              <a:srgbClr val="2B8A3E"/>
            </a:solidFill>
            <a:prstDash val="solid"/>
          </a:ln>
        </p:spPr>
      </p:sp>
      <p:sp>
        <p:nvSpPr>
          <p:cNvPr id="66" name="Shape 63"/>
          <p:cNvSpPr/>
          <p:nvPr/>
        </p:nvSpPr>
        <p:spPr>
          <a:xfrm>
            <a:off x="10222992" y="4745736"/>
            <a:ext cx="548640" cy="164592"/>
          </a:xfrm>
          <a:prstGeom prst="rect">
            <a:avLst/>
          </a:prstGeom>
          <a:solidFill>
            <a:srgbClr val="2B8A3E"/>
          </a:solidFill>
          <a:ln w="12700">
            <a:solidFill>
              <a:srgbClr val="2B8A3E"/>
            </a:solidFill>
            <a:prstDash val="solid"/>
          </a:ln>
        </p:spPr>
      </p:sp>
      <p:sp>
        <p:nvSpPr>
          <p:cNvPr id="67" name="Shape 64"/>
          <p:cNvSpPr/>
          <p:nvPr/>
        </p:nvSpPr>
        <p:spPr>
          <a:xfrm>
            <a:off x="10844784" y="4745736"/>
            <a:ext cx="548640" cy="164592"/>
          </a:xfrm>
          <a:prstGeom prst="rect">
            <a:avLst/>
          </a:prstGeom>
          <a:solidFill>
            <a:srgbClr val="2B8A3E"/>
          </a:solidFill>
          <a:ln w="12700">
            <a:solidFill>
              <a:srgbClr val="2B8A3E"/>
            </a:solidFill>
            <a:prstDash val="solid"/>
          </a:ln>
        </p:spPr>
      </p:sp>
      <p:sp>
        <p:nvSpPr>
          <p:cNvPr id="68" name="Text 65"/>
          <p:cNvSpPr txBox="1"/>
          <p:nvPr/>
        </p:nvSpPr>
        <p:spPr>
          <a:xfrm>
            <a:off x="8357616" y="5065776"/>
            <a:ext cx="3108960" cy="201168"/>
          </a:xfrm>
          <a:prstGeom prst="rect">
            <a:avLst/>
          </a:prstGeom>
          <a:noFill/>
          <a:ln/>
        </p:spPr>
        <p:txBody>
          <a:bodyPr wrap="square" lIns="0" tIns="0" rIns="0" bIns="0" rtlCol="0" anchor="t"/>
          <a:lstStyle/>
          <a:p>
            <a:pPr indent="0" marL="0">
              <a:buNone/>
            </a:pPr>
            <a:r>
              <a:rPr lang="en-US" sz="1000" b="1" dirty="0">
                <a:solidFill>
                  <a:srgbClr val="1C1E21"/>
                </a:solidFill>
                <a:latin typeface="Calibri" pitchFamily="34" charset="0"/>
                <a:ea typeface="Calibri" pitchFamily="34" charset="-122"/>
                <a:cs typeface="Calibri" pitchFamily="34" charset="-120"/>
              </a:rPr>
              <a:t>False alarms (clean sites)</a:t>
            </a:r>
            <a:endParaRPr lang="en-US" sz="1000" dirty="0"/>
          </a:p>
        </p:txBody>
      </p:sp>
      <p:sp>
        <p:nvSpPr>
          <p:cNvPr id="69" name="Shape 66"/>
          <p:cNvSpPr/>
          <p:nvPr/>
        </p:nvSpPr>
        <p:spPr>
          <a:xfrm>
            <a:off x="8357616" y="5312664"/>
            <a:ext cx="548640" cy="164592"/>
          </a:xfrm>
          <a:prstGeom prst="rect">
            <a:avLst/>
          </a:prstGeom>
          <a:solidFill>
            <a:srgbClr val="C92A2A"/>
          </a:solidFill>
          <a:ln w="12700">
            <a:solidFill>
              <a:srgbClr val="C92A2A"/>
            </a:solidFill>
            <a:prstDash val="solid"/>
          </a:ln>
        </p:spPr>
      </p:sp>
      <p:sp>
        <p:nvSpPr>
          <p:cNvPr id="70" name="Shape 67"/>
          <p:cNvSpPr/>
          <p:nvPr/>
        </p:nvSpPr>
        <p:spPr>
          <a:xfrm>
            <a:off x="8979408" y="5312664"/>
            <a:ext cx="548640" cy="164592"/>
          </a:xfrm>
          <a:prstGeom prst="rect">
            <a:avLst/>
          </a:prstGeom>
          <a:solidFill>
            <a:srgbClr val="E1E4E8"/>
          </a:solidFill>
          <a:ln w="12700">
            <a:solidFill>
              <a:srgbClr val="E1E4E8"/>
            </a:solidFill>
            <a:prstDash val="solid"/>
          </a:ln>
        </p:spPr>
      </p:sp>
      <p:sp>
        <p:nvSpPr>
          <p:cNvPr id="71" name="Shape 68"/>
          <p:cNvSpPr/>
          <p:nvPr/>
        </p:nvSpPr>
        <p:spPr>
          <a:xfrm>
            <a:off x="9601200" y="5312664"/>
            <a:ext cx="548640" cy="164592"/>
          </a:xfrm>
          <a:prstGeom prst="rect">
            <a:avLst/>
          </a:prstGeom>
          <a:solidFill>
            <a:srgbClr val="E1E4E8"/>
          </a:solidFill>
          <a:ln w="12700">
            <a:solidFill>
              <a:srgbClr val="E1E4E8"/>
            </a:solidFill>
            <a:prstDash val="solid"/>
          </a:ln>
        </p:spPr>
      </p:sp>
      <p:sp>
        <p:nvSpPr>
          <p:cNvPr id="72" name="Shape 69"/>
          <p:cNvSpPr/>
          <p:nvPr/>
        </p:nvSpPr>
        <p:spPr>
          <a:xfrm>
            <a:off x="10222992" y="5312664"/>
            <a:ext cx="548640" cy="164592"/>
          </a:xfrm>
          <a:prstGeom prst="rect">
            <a:avLst/>
          </a:prstGeom>
          <a:solidFill>
            <a:srgbClr val="E1E4E8"/>
          </a:solidFill>
          <a:ln w="12700">
            <a:solidFill>
              <a:srgbClr val="E1E4E8"/>
            </a:solidFill>
            <a:prstDash val="solid"/>
          </a:ln>
        </p:spPr>
      </p:sp>
      <p:sp>
        <p:nvSpPr>
          <p:cNvPr id="73" name="Shape 70"/>
          <p:cNvSpPr/>
          <p:nvPr/>
        </p:nvSpPr>
        <p:spPr>
          <a:xfrm>
            <a:off x="10844784" y="5312664"/>
            <a:ext cx="548640" cy="164592"/>
          </a:xfrm>
          <a:prstGeom prst="rect">
            <a:avLst/>
          </a:prstGeom>
          <a:solidFill>
            <a:srgbClr val="E1E4E8"/>
          </a:solidFill>
          <a:ln w="12700">
            <a:solidFill>
              <a:srgbClr val="E1E4E8"/>
            </a:solidFill>
            <a:prstDash val="solid"/>
          </a:ln>
        </p:spPr>
      </p:sp>
      <p:sp>
        <p:nvSpPr>
          <p:cNvPr id="74" name="Text 71"/>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950" i="1" dirty="0">
                <a:solidFill>
                  <a:srgbClr val="525866"/>
                </a:solidFill>
                <a:latin typeface="Calibri" pitchFamily="34" charset="0"/>
                <a:ea typeface="Calibri" pitchFamily="34" charset="-122"/>
                <a:cs typeface="Calibri" pitchFamily="34" charset="-120"/>
              </a:rPr>
              <a:t>Meters show relative profile (more green = better on recall/precision; fewer red = fewer false alarms). Replace with measured gold-split values.</a:t>
            </a:r>
            <a:endParaRPr lang="en-US" sz="9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IV · ENGINEERING HONESTY</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Limitations &amp; Boundary Conditions</a:t>
            </a:r>
            <a:endParaRPr lang="en-US" sz="2600" dirty="0"/>
          </a:p>
        </p:txBody>
      </p:sp>
      <p:sp>
        <p:nvSpPr>
          <p:cNvPr id="5" name="Shape 2"/>
          <p:cNvSpPr/>
          <p:nvPr/>
        </p:nvSpPr>
        <p:spPr>
          <a:xfrm>
            <a:off x="548640" y="1508760"/>
            <a:ext cx="3566160" cy="4526280"/>
          </a:xfrm>
          <a:prstGeom prst="rect">
            <a:avLst/>
          </a:prstGeom>
          <a:solidFill>
            <a:srgbClr val="F1F3F5"/>
          </a:solidFill>
          <a:ln w="9525">
            <a:solidFill>
              <a:srgbClr val="E1E4E8"/>
            </a:solidFill>
            <a:prstDash val="solid"/>
          </a:ln>
        </p:spPr>
      </p:sp>
      <p:sp>
        <p:nvSpPr>
          <p:cNvPr id="6" name="Shape 3"/>
          <p:cNvSpPr/>
          <p:nvPr/>
        </p:nvSpPr>
        <p:spPr>
          <a:xfrm>
            <a:off x="548640" y="1508760"/>
            <a:ext cx="54864" cy="4526280"/>
          </a:xfrm>
          <a:prstGeom prst="rect">
            <a:avLst/>
          </a:prstGeom>
          <a:solidFill>
            <a:srgbClr val="D9730D"/>
          </a:solidFill>
          <a:ln w="12700">
            <a:solidFill>
              <a:srgbClr val="D9730D"/>
            </a:solidFill>
            <a:prstDash val="solid"/>
          </a:ln>
        </p:spPr>
      </p:sp>
      <p:sp>
        <p:nvSpPr>
          <p:cNvPr id="7" name="Text 4"/>
          <p:cNvSpPr txBox="1"/>
          <p:nvPr/>
        </p:nvSpPr>
        <p:spPr>
          <a:xfrm>
            <a:off x="822960" y="1691640"/>
            <a:ext cx="3108960" cy="182880"/>
          </a:xfrm>
          <a:prstGeom prst="rect">
            <a:avLst/>
          </a:prstGeom>
          <a:noFill/>
          <a:ln/>
        </p:spPr>
        <p:txBody>
          <a:bodyPr wrap="square" lIns="0" tIns="0" rIns="0" bIns="0" rtlCol="0" anchor="t"/>
          <a:lstStyle/>
          <a:p>
            <a:pPr indent="0" marL="0">
              <a:buNone/>
            </a:pPr>
            <a:r>
              <a:rPr lang="en-US" sz="900" b="1" spc="200" kern="0" dirty="0">
                <a:solidFill>
                  <a:srgbClr val="D9730D"/>
                </a:solidFill>
                <a:latin typeface="Calibri" pitchFamily="34" charset="0"/>
                <a:ea typeface="Calibri" pitchFamily="34" charset="-122"/>
                <a:cs typeface="Calibri" pitchFamily="34" charset="-120"/>
              </a:rPr>
              <a:t>SINGLE-FRAME BLINDNESS</a:t>
            </a:r>
            <a:endParaRPr lang="en-US" sz="900" dirty="0"/>
          </a:p>
        </p:txBody>
      </p:sp>
      <p:sp>
        <p:nvSpPr>
          <p:cNvPr id="8" name="Text 5"/>
          <p:cNvSpPr txBox="1"/>
          <p:nvPr/>
        </p:nvSpPr>
        <p:spPr>
          <a:xfrm>
            <a:off x="822960" y="2011680"/>
            <a:ext cx="3108960"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Cannot confirm that a timer resets</a:t>
            </a:r>
            <a:endParaRPr lang="en-US" sz="1600" dirty="0"/>
          </a:p>
        </p:txBody>
      </p:sp>
      <p:sp>
        <p:nvSpPr>
          <p:cNvPr id="9" name="Text 6"/>
          <p:cNvSpPr txBox="1"/>
          <p:nvPr/>
        </p:nvSpPr>
        <p:spPr>
          <a:xfrm>
            <a:off x="822960" y="2880360"/>
            <a:ext cx="3063240" cy="173736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A countdown looks identical in one frame whether it is real or fake. Without time-series screenshots or DOM inspection, False Urgency stays a candidate.</a:t>
            </a:r>
            <a:endParaRPr lang="en-US" sz="1150" dirty="0"/>
          </a:p>
        </p:txBody>
      </p:sp>
      <p:sp>
        <p:nvSpPr>
          <p:cNvPr id="10" name="Shape 7"/>
          <p:cNvSpPr/>
          <p:nvPr/>
        </p:nvSpPr>
        <p:spPr>
          <a:xfrm>
            <a:off x="822960" y="4800600"/>
            <a:ext cx="3017520" cy="0"/>
          </a:xfrm>
          <a:prstGeom prst="line">
            <a:avLst/>
          </a:prstGeom>
          <a:noFill/>
          <a:ln w="9525">
            <a:solidFill>
              <a:srgbClr val="E1E4E8"/>
            </a:solidFill>
            <a:prstDash val="solid"/>
          </a:ln>
        </p:spPr>
      </p:sp>
      <p:sp>
        <p:nvSpPr>
          <p:cNvPr id="11" name="Text 8"/>
          <p:cNvSpPr txBox="1"/>
          <p:nvPr/>
        </p:nvSpPr>
        <p:spPr>
          <a:xfrm>
            <a:off x="822960" y="4937760"/>
            <a:ext cx="3063240" cy="914400"/>
          </a:xfrm>
          <a:prstGeom prst="rect">
            <a:avLst/>
          </a:prstGeom>
          <a:noFill/>
          <a:ln/>
        </p:spPr>
        <p:txBody>
          <a:bodyPr wrap="square" lIns="0" tIns="0" rIns="0" bIns="0" rtlCol="0" anchor="t"/>
          <a:lstStyle/>
          <a:p>
            <a:pPr indent="0" marL="0">
              <a:buNone/>
            </a:pPr>
            <a:r>
              <a:rPr lang="en-US" sz="1050" i="1" dirty="0">
                <a:solidFill>
                  <a:srgbClr val="1C1E21"/>
                </a:solidFill>
                <a:latin typeface="Calibri" pitchFamily="34" charset="0"/>
                <a:ea typeface="Calibri" pitchFamily="34" charset="-122"/>
                <a:cs typeface="Calibri" pitchFamily="34" charset="-120"/>
              </a:rPr>
              <a:t>Mitigation: DOM probe for timer logic; roadmap: multi-frame capture.</a:t>
            </a:r>
            <a:endParaRPr lang="en-US" sz="1050" dirty="0"/>
          </a:p>
        </p:txBody>
      </p:sp>
      <p:sp>
        <p:nvSpPr>
          <p:cNvPr id="12" name="Shape 9"/>
          <p:cNvSpPr/>
          <p:nvPr/>
        </p:nvSpPr>
        <p:spPr>
          <a:xfrm>
            <a:off x="4315968" y="1508760"/>
            <a:ext cx="3566160" cy="4526280"/>
          </a:xfrm>
          <a:prstGeom prst="rect">
            <a:avLst/>
          </a:prstGeom>
          <a:solidFill>
            <a:srgbClr val="F1F3F5"/>
          </a:solidFill>
          <a:ln w="9525">
            <a:solidFill>
              <a:srgbClr val="E1E4E8"/>
            </a:solidFill>
            <a:prstDash val="solid"/>
          </a:ln>
        </p:spPr>
      </p:sp>
      <p:sp>
        <p:nvSpPr>
          <p:cNvPr id="13" name="Shape 10"/>
          <p:cNvSpPr/>
          <p:nvPr/>
        </p:nvSpPr>
        <p:spPr>
          <a:xfrm>
            <a:off x="4315968" y="1508760"/>
            <a:ext cx="54864" cy="4526280"/>
          </a:xfrm>
          <a:prstGeom prst="rect">
            <a:avLst/>
          </a:prstGeom>
          <a:solidFill>
            <a:srgbClr val="D9730D"/>
          </a:solidFill>
          <a:ln w="12700">
            <a:solidFill>
              <a:srgbClr val="D9730D"/>
            </a:solidFill>
            <a:prstDash val="solid"/>
          </a:ln>
        </p:spPr>
      </p:sp>
      <p:sp>
        <p:nvSpPr>
          <p:cNvPr id="14" name="Text 11"/>
          <p:cNvSpPr txBox="1"/>
          <p:nvPr/>
        </p:nvSpPr>
        <p:spPr>
          <a:xfrm>
            <a:off x="4590288" y="1691640"/>
            <a:ext cx="3108960" cy="182880"/>
          </a:xfrm>
          <a:prstGeom prst="rect">
            <a:avLst/>
          </a:prstGeom>
          <a:noFill/>
          <a:ln/>
        </p:spPr>
        <p:txBody>
          <a:bodyPr wrap="square" lIns="0" tIns="0" rIns="0" bIns="0" rtlCol="0" anchor="t"/>
          <a:lstStyle/>
          <a:p>
            <a:pPr indent="0" marL="0">
              <a:buNone/>
            </a:pPr>
            <a:r>
              <a:rPr lang="en-US" sz="900" b="1" spc="200" kern="0" dirty="0">
                <a:solidFill>
                  <a:srgbClr val="D9730D"/>
                </a:solidFill>
                <a:latin typeface="Calibri" pitchFamily="34" charset="0"/>
                <a:ea typeface="Calibri" pitchFamily="34" charset="-122"/>
                <a:cs typeface="Calibri" pitchFamily="34" charset="-120"/>
              </a:rPr>
              <a:t>LATE-EMERGING PRICING</a:t>
            </a:r>
            <a:endParaRPr lang="en-US" sz="900" dirty="0"/>
          </a:p>
        </p:txBody>
      </p:sp>
      <p:sp>
        <p:nvSpPr>
          <p:cNvPr id="15" name="Text 12"/>
          <p:cNvSpPr txBox="1"/>
          <p:nvPr/>
        </p:nvSpPr>
        <p:spPr>
          <a:xfrm>
            <a:off x="4590288" y="2011680"/>
            <a:ext cx="3108960"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Drip pricing hidden in later steps</a:t>
            </a:r>
            <a:endParaRPr lang="en-US" sz="1600" dirty="0"/>
          </a:p>
        </p:txBody>
      </p:sp>
      <p:sp>
        <p:nvSpPr>
          <p:cNvPr id="16" name="Text 13"/>
          <p:cNvSpPr txBox="1"/>
          <p:nvPr/>
        </p:nvSpPr>
        <p:spPr>
          <a:xfrm>
            <a:off x="4590288" y="2880360"/>
            <a:ext cx="3063240" cy="173736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Fees that appear only at payment are invisible to an audit of the product page.</a:t>
            </a:r>
            <a:endParaRPr lang="en-US" sz="1150" dirty="0"/>
          </a:p>
        </p:txBody>
      </p:sp>
      <p:sp>
        <p:nvSpPr>
          <p:cNvPr id="17" name="Shape 14"/>
          <p:cNvSpPr/>
          <p:nvPr/>
        </p:nvSpPr>
        <p:spPr>
          <a:xfrm>
            <a:off x="4590288" y="4800600"/>
            <a:ext cx="3017520" cy="0"/>
          </a:xfrm>
          <a:prstGeom prst="line">
            <a:avLst/>
          </a:prstGeom>
          <a:noFill/>
          <a:ln w="9525">
            <a:solidFill>
              <a:srgbClr val="E1E4E8"/>
            </a:solidFill>
            <a:prstDash val="solid"/>
          </a:ln>
        </p:spPr>
      </p:sp>
      <p:sp>
        <p:nvSpPr>
          <p:cNvPr id="18" name="Text 15"/>
          <p:cNvSpPr txBox="1"/>
          <p:nvPr/>
        </p:nvSpPr>
        <p:spPr>
          <a:xfrm>
            <a:off x="4590288" y="4937760"/>
            <a:ext cx="3063240" cy="914400"/>
          </a:xfrm>
          <a:prstGeom prst="rect">
            <a:avLst/>
          </a:prstGeom>
          <a:noFill/>
          <a:ln/>
        </p:spPr>
        <p:txBody>
          <a:bodyPr wrap="square" lIns="0" tIns="0" rIns="0" bIns="0" rtlCol="0" anchor="t"/>
          <a:lstStyle/>
          <a:p>
            <a:pPr indent="0" marL="0">
              <a:buNone/>
            </a:pPr>
            <a:r>
              <a:rPr lang="en-US" sz="1050" i="1" dirty="0">
                <a:solidFill>
                  <a:srgbClr val="1C1E21"/>
                </a:solidFill>
                <a:latin typeface="Calibri" pitchFamily="34" charset="0"/>
                <a:ea typeface="Calibri" pitchFamily="34" charset="-122"/>
                <a:cs typeface="Calibri" pitchFamily="34" charset="-120"/>
              </a:rPr>
              <a:t>Mitigation: audit each step of the checkout flow; roadmap: video audit.</a:t>
            </a:r>
            <a:endParaRPr lang="en-US" sz="1050" dirty="0"/>
          </a:p>
        </p:txBody>
      </p:sp>
      <p:sp>
        <p:nvSpPr>
          <p:cNvPr id="19" name="Shape 16"/>
          <p:cNvSpPr/>
          <p:nvPr/>
        </p:nvSpPr>
        <p:spPr>
          <a:xfrm>
            <a:off x="8083296" y="1508760"/>
            <a:ext cx="3566160" cy="4526280"/>
          </a:xfrm>
          <a:prstGeom prst="rect">
            <a:avLst/>
          </a:prstGeom>
          <a:solidFill>
            <a:srgbClr val="F1F3F5"/>
          </a:solidFill>
          <a:ln w="9525">
            <a:solidFill>
              <a:srgbClr val="E1E4E8"/>
            </a:solidFill>
            <a:prstDash val="solid"/>
          </a:ln>
        </p:spPr>
      </p:sp>
      <p:sp>
        <p:nvSpPr>
          <p:cNvPr id="20" name="Shape 17"/>
          <p:cNvSpPr/>
          <p:nvPr/>
        </p:nvSpPr>
        <p:spPr>
          <a:xfrm>
            <a:off x="8083296" y="1508760"/>
            <a:ext cx="54864" cy="4526280"/>
          </a:xfrm>
          <a:prstGeom prst="rect">
            <a:avLst/>
          </a:prstGeom>
          <a:solidFill>
            <a:srgbClr val="D9730D"/>
          </a:solidFill>
          <a:ln w="12700">
            <a:solidFill>
              <a:srgbClr val="D9730D"/>
            </a:solidFill>
            <a:prstDash val="solid"/>
          </a:ln>
        </p:spPr>
      </p:sp>
      <p:sp>
        <p:nvSpPr>
          <p:cNvPr id="21" name="Text 18"/>
          <p:cNvSpPr txBox="1"/>
          <p:nvPr/>
        </p:nvSpPr>
        <p:spPr>
          <a:xfrm>
            <a:off x="8357616" y="1691640"/>
            <a:ext cx="3108960" cy="182880"/>
          </a:xfrm>
          <a:prstGeom prst="rect">
            <a:avLst/>
          </a:prstGeom>
          <a:noFill/>
          <a:ln/>
        </p:spPr>
        <p:txBody>
          <a:bodyPr wrap="square" lIns="0" tIns="0" rIns="0" bIns="0" rtlCol="0" anchor="t"/>
          <a:lstStyle/>
          <a:p>
            <a:pPr indent="0" marL="0">
              <a:buNone/>
            </a:pPr>
            <a:r>
              <a:rPr lang="en-US" sz="900" b="1" spc="200" kern="0" dirty="0">
                <a:solidFill>
                  <a:srgbClr val="D9730D"/>
                </a:solidFill>
                <a:latin typeface="Calibri" pitchFamily="34" charset="0"/>
                <a:ea typeface="Calibri" pitchFamily="34" charset="-122"/>
                <a:cs typeface="Calibri" pitchFamily="34" charset="-120"/>
              </a:rPr>
              <a:t>MODEL &amp; LANGUAGE VARIANCE</a:t>
            </a:r>
            <a:endParaRPr lang="en-US" sz="900" dirty="0"/>
          </a:p>
        </p:txBody>
      </p:sp>
      <p:sp>
        <p:nvSpPr>
          <p:cNvPr id="22" name="Text 19"/>
          <p:cNvSpPr txBox="1"/>
          <p:nvPr/>
        </p:nvSpPr>
        <p:spPr>
          <a:xfrm>
            <a:off x="8357616" y="2011680"/>
            <a:ext cx="3108960" cy="731520"/>
          </a:xfrm>
          <a:prstGeom prst="rect">
            <a:avLst/>
          </a:prstGeom>
          <a:noFill/>
          <a:ln/>
        </p:spPr>
        <p:txBody>
          <a:bodyPr wrap="square" lIns="0" tIns="0" rIns="0" bIns="0" rtlCol="0" anchor="t"/>
          <a:lstStyle/>
          <a:p>
            <a:pPr indent="0" marL="0">
              <a:buNone/>
            </a:pPr>
            <a:r>
              <a:rPr lang="en-US" sz="1600" b="1" dirty="0">
                <a:solidFill>
                  <a:srgbClr val="1C1E21"/>
                </a:solidFill>
                <a:latin typeface="Georgia" pitchFamily="34" charset="0"/>
                <a:ea typeface="Georgia" pitchFamily="34" charset="-122"/>
                <a:cs typeface="Georgia" pitchFamily="34" charset="-120"/>
              </a:rPr>
              <a:t>Rubric depends on model perception</a:t>
            </a:r>
            <a:endParaRPr lang="en-US" sz="1600" dirty="0"/>
          </a:p>
        </p:txBody>
      </p:sp>
      <p:sp>
        <p:nvSpPr>
          <p:cNvPr id="23" name="Text 20"/>
          <p:cNvSpPr txBox="1"/>
          <p:nvPr/>
        </p:nvSpPr>
        <p:spPr>
          <a:xfrm>
            <a:off x="8357616" y="2880360"/>
            <a:ext cx="3063240" cy="1737360"/>
          </a:xfrm>
          <a:prstGeom prst="rect">
            <a:avLst/>
          </a:prstGeom>
          <a:noFill/>
          <a:ln/>
        </p:spPr>
        <p:txBody>
          <a:bodyPr wrap="square" lIns="0" tIns="0" rIns="0" bIns="0" rtlCol="0" anchor="t"/>
          <a:lstStyle/>
          <a:p>
            <a:pPr indent="0" marL="0">
              <a:buNone/>
            </a:pPr>
            <a:r>
              <a:rPr lang="en-US" sz="1150" dirty="0">
                <a:solidFill>
                  <a:srgbClr val="525866"/>
                </a:solidFill>
                <a:latin typeface="Calibri" pitchFamily="34" charset="0"/>
                <a:ea typeface="Calibri" pitchFamily="34" charset="-122"/>
                <a:cs typeface="Calibri" pitchFamily="34" charset="-120"/>
              </a:rPr>
              <a:t>Regional-script UI and unusual layouts may degrade perception; VLM outputs vary by provider.</a:t>
            </a:r>
            <a:endParaRPr lang="en-US" sz="1150" dirty="0"/>
          </a:p>
        </p:txBody>
      </p:sp>
      <p:sp>
        <p:nvSpPr>
          <p:cNvPr id="24" name="Shape 21"/>
          <p:cNvSpPr/>
          <p:nvPr/>
        </p:nvSpPr>
        <p:spPr>
          <a:xfrm>
            <a:off x="8357616" y="4800600"/>
            <a:ext cx="3017520" cy="0"/>
          </a:xfrm>
          <a:prstGeom prst="line">
            <a:avLst/>
          </a:prstGeom>
          <a:noFill/>
          <a:ln w="9525">
            <a:solidFill>
              <a:srgbClr val="E1E4E8"/>
            </a:solidFill>
            <a:prstDash val="solid"/>
          </a:ln>
        </p:spPr>
      </p:sp>
      <p:sp>
        <p:nvSpPr>
          <p:cNvPr id="25" name="Text 22"/>
          <p:cNvSpPr txBox="1"/>
          <p:nvPr/>
        </p:nvSpPr>
        <p:spPr>
          <a:xfrm>
            <a:off x="8357616" y="4937760"/>
            <a:ext cx="3063240" cy="914400"/>
          </a:xfrm>
          <a:prstGeom prst="rect">
            <a:avLst/>
          </a:prstGeom>
          <a:noFill/>
          <a:ln/>
        </p:spPr>
        <p:txBody>
          <a:bodyPr wrap="square" lIns="0" tIns="0" rIns="0" bIns="0" rtlCol="0" anchor="t"/>
          <a:lstStyle/>
          <a:p>
            <a:pPr indent="0" marL="0">
              <a:buNone/>
            </a:pPr>
            <a:r>
              <a:rPr lang="en-US" sz="1050" i="1" dirty="0">
                <a:solidFill>
                  <a:srgbClr val="1C1E21"/>
                </a:solidFill>
                <a:latin typeface="Calibri" pitchFamily="34" charset="0"/>
                <a:ea typeface="Calibri" pitchFamily="34" charset="-122"/>
                <a:cs typeface="Calibri" pitchFamily="34" charset="-120"/>
              </a:rPr>
              <a:t>Mitigation: provider comparison; expand multilingual test set.</a:t>
            </a:r>
            <a:endParaRPr lang="en-US" sz="10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V · ROADMAP</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Future Roadmap &amp; Production Scaling</a:t>
            </a:r>
            <a:endParaRPr lang="en-US" sz="2600" dirty="0"/>
          </a:p>
        </p:txBody>
      </p:sp>
      <p:sp>
        <p:nvSpPr>
          <p:cNvPr id="5" name="Shape 2"/>
          <p:cNvSpPr/>
          <p:nvPr/>
        </p:nvSpPr>
        <p:spPr>
          <a:xfrm>
            <a:off x="548640" y="1874520"/>
            <a:ext cx="11091672" cy="0"/>
          </a:xfrm>
          <a:prstGeom prst="line">
            <a:avLst/>
          </a:prstGeom>
          <a:noFill/>
          <a:ln w="19050">
            <a:solidFill>
              <a:srgbClr val="1C1E21"/>
            </a:solidFill>
            <a:prstDash val="solid"/>
          </a:ln>
        </p:spPr>
      </p:sp>
      <p:sp>
        <p:nvSpPr>
          <p:cNvPr id="6" name="Shape 3"/>
          <p:cNvSpPr/>
          <p:nvPr/>
        </p:nvSpPr>
        <p:spPr>
          <a:xfrm>
            <a:off x="548640" y="1691640"/>
            <a:ext cx="365760" cy="365760"/>
          </a:xfrm>
          <a:prstGeom prst="ellipse">
            <a:avLst/>
          </a:prstGeom>
          <a:solidFill>
            <a:srgbClr val="C92A2A"/>
          </a:solidFill>
          <a:ln w="25400">
            <a:solidFill>
              <a:srgbClr val="F8F9FA"/>
            </a:solidFill>
            <a:prstDash val="solid"/>
          </a:ln>
        </p:spPr>
      </p:sp>
      <p:sp>
        <p:nvSpPr>
          <p:cNvPr id="7" name="Shape 4"/>
          <p:cNvSpPr/>
          <p:nvPr/>
        </p:nvSpPr>
        <p:spPr>
          <a:xfrm>
            <a:off x="548640" y="2286000"/>
            <a:ext cx="3566160" cy="3657600"/>
          </a:xfrm>
          <a:prstGeom prst="rect">
            <a:avLst/>
          </a:prstGeom>
          <a:solidFill>
            <a:srgbClr val="F1F3F5"/>
          </a:solidFill>
          <a:ln w="9525">
            <a:solidFill>
              <a:srgbClr val="E1E4E8"/>
            </a:solidFill>
            <a:prstDash val="solid"/>
          </a:ln>
        </p:spPr>
      </p:sp>
      <p:sp>
        <p:nvSpPr>
          <p:cNvPr id="8" name="Shape 5"/>
          <p:cNvSpPr/>
          <p:nvPr/>
        </p:nvSpPr>
        <p:spPr>
          <a:xfrm>
            <a:off x="548640" y="2286000"/>
            <a:ext cx="54864" cy="3657600"/>
          </a:xfrm>
          <a:prstGeom prst="rect">
            <a:avLst/>
          </a:prstGeom>
          <a:solidFill>
            <a:srgbClr val="C92A2A"/>
          </a:solidFill>
          <a:ln w="12700">
            <a:solidFill>
              <a:srgbClr val="C92A2A"/>
            </a:solidFill>
            <a:prstDash val="solid"/>
          </a:ln>
        </p:spPr>
      </p:sp>
      <p:sp>
        <p:nvSpPr>
          <p:cNvPr id="9" name="Text 6"/>
          <p:cNvSpPr txBox="1"/>
          <p:nvPr/>
        </p:nvSpPr>
        <p:spPr>
          <a:xfrm>
            <a:off x="822960" y="2468880"/>
            <a:ext cx="3108960" cy="182880"/>
          </a:xfrm>
          <a:prstGeom prst="rect">
            <a:avLst/>
          </a:prstGeom>
          <a:noFill/>
          <a:ln/>
        </p:spPr>
        <p:txBody>
          <a:bodyPr wrap="square" lIns="0" tIns="0" rIns="0" bIns="0" rtlCol="0" anchor="t"/>
          <a:lstStyle/>
          <a:p>
            <a:pPr indent="0" marL="0">
              <a:buNone/>
            </a:pPr>
            <a:r>
              <a:rPr lang="en-US" sz="900" b="1" spc="250" kern="0" dirty="0">
                <a:solidFill>
                  <a:srgbClr val="C92A2A"/>
                </a:solidFill>
                <a:latin typeface="Calibri" pitchFamily="34" charset="0"/>
                <a:ea typeface="Calibri" pitchFamily="34" charset="-122"/>
                <a:cs typeface="Calibri" pitchFamily="34" charset="-120"/>
              </a:rPr>
              <a:t>PHASE 1</a:t>
            </a:r>
            <a:endParaRPr lang="en-US" sz="900" dirty="0"/>
          </a:p>
        </p:txBody>
      </p:sp>
      <p:sp>
        <p:nvSpPr>
          <p:cNvPr id="10" name="Text 7"/>
          <p:cNvSpPr txBox="1"/>
          <p:nvPr/>
        </p:nvSpPr>
        <p:spPr>
          <a:xfrm>
            <a:off x="822960" y="2788920"/>
            <a:ext cx="3108960" cy="822960"/>
          </a:xfrm>
          <a:prstGeom prst="rect">
            <a:avLst/>
          </a:prstGeom>
          <a:noFill/>
          <a:ln/>
        </p:spPr>
        <p:txBody>
          <a:bodyPr wrap="square" lIns="0" tIns="0" rIns="0" bIns="0" rtlCol="0" anchor="t"/>
          <a:lstStyle/>
          <a:p>
            <a:pPr indent="0" marL="0">
              <a:buNone/>
            </a:pPr>
            <a:r>
              <a:rPr lang="en-US" sz="1700" b="1" dirty="0">
                <a:solidFill>
                  <a:srgbClr val="1C1E21"/>
                </a:solidFill>
                <a:latin typeface="Georgia" pitchFamily="34" charset="0"/>
                <a:ea typeface="Georgia" pitchFamily="34" charset="-122"/>
                <a:cs typeface="Georgia" pitchFamily="34" charset="-120"/>
              </a:rPr>
              <a:t>Chrome extension overlay</a:t>
            </a:r>
            <a:endParaRPr lang="en-US" sz="1700" dirty="0"/>
          </a:p>
        </p:txBody>
      </p:sp>
      <p:sp>
        <p:nvSpPr>
          <p:cNvPr id="11" name="Text 8"/>
          <p:cNvSpPr txBox="1"/>
          <p:nvPr/>
        </p:nvSpPr>
        <p:spPr>
          <a:xfrm>
            <a:off x="822960" y="3703320"/>
            <a:ext cx="3063240" cy="2011680"/>
          </a:xfrm>
          <a:prstGeom prst="rect">
            <a:avLst/>
          </a:prstGeom>
          <a:noFill/>
          <a:ln/>
        </p:spPr>
        <p:txBody>
          <a:bodyPr wrap="square" lIns="0" tIns="0" rIns="0" bIns="0" rtlCol="0" anchor="t"/>
          <a:lstStyle/>
          <a:p>
            <a:pPr indent="0" marL="0">
              <a:buNone/>
            </a:pPr>
            <a:r>
              <a:rPr lang="en-US" sz="1200" dirty="0">
                <a:solidFill>
                  <a:srgbClr val="525866"/>
                </a:solidFill>
                <a:latin typeface="Calibri" pitchFamily="34" charset="0"/>
                <a:ea typeface="Calibri" pitchFamily="34" charset="-122"/>
                <a:cs typeface="Calibri" pitchFamily="34" charset="-120"/>
              </a:rPr>
              <a:t>Real-time checkout defence: highlight manipulative elements as the consumer shops, with a one-click honest-alternative explanation.</a:t>
            </a:r>
            <a:endParaRPr lang="en-US" sz="1200" dirty="0"/>
          </a:p>
        </p:txBody>
      </p:sp>
      <p:sp>
        <p:nvSpPr>
          <p:cNvPr id="12" name="Shape 9"/>
          <p:cNvSpPr/>
          <p:nvPr/>
        </p:nvSpPr>
        <p:spPr>
          <a:xfrm>
            <a:off x="4315968" y="1691640"/>
            <a:ext cx="365760" cy="365760"/>
          </a:xfrm>
          <a:prstGeom prst="ellipse">
            <a:avLst/>
          </a:prstGeom>
          <a:solidFill>
            <a:srgbClr val="D9730D"/>
          </a:solidFill>
          <a:ln w="25400">
            <a:solidFill>
              <a:srgbClr val="F8F9FA"/>
            </a:solidFill>
            <a:prstDash val="solid"/>
          </a:ln>
        </p:spPr>
      </p:sp>
      <p:sp>
        <p:nvSpPr>
          <p:cNvPr id="13" name="Shape 10"/>
          <p:cNvSpPr/>
          <p:nvPr/>
        </p:nvSpPr>
        <p:spPr>
          <a:xfrm>
            <a:off x="4315968" y="2286000"/>
            <a:ext cx="3566160" cy="3657600"/>
          </a:xfrm>
          <a:prstGeom prst="rect">
            <a:avLst/>
          </a:prstGeom>
          <a:solidFill>
            <a:srgbClr val="F1F3F5"/>
          </a:solidFill>
          <a:ln w="9525">
            <a:solidFill>
              <a:srgbClr val="E1E4E8"/>
            </a:solidFill>
            <a:prstDash val="solid"/>
          </a:ln>
        </p:spPr>
      </p:sp>
      <p:sp>
        <p:nvSpPr>
          <p:cNvPr id="14" name="Shape 11"/>
          <p:cNvSpPr/>
          <p:nvPr/>
        </p:nvSpPr>
        <p:spPr>
          <a:xfrm>
            <a:off x="4315968" y="2286000"/>
            <a:ext cx="54864" cy="3657600"/>
          </a:xfrm>
          <a:prstGeom prst="rect">
            <a:avLst/>
          </a:prstGeom>
          <a:solidFill>
            <a:srgbClr val="D9730D"/>
          </a:solidFill>
          <a:ln w="12700">
            <a:solidFill>
              <a:srgbClr val="D9730D"/>
            </a:solidFill>
            <a:prstDash val="solid"/>
          </a:ln>
        </p:spPr>
      </p:sp>
      <p:sp>
        <p:nvSpPr>
          <p:cNvPr id="15" name="Text 12"/>
          <p:cNvSpPr txBox="1"/>
          <p:nvPr/>
        </p:nvSpPr>
        <p:spPr>
          <a:xfrm>
            <a:off x="4590288" y="2468880"/>
            <a:ext cx="3108960" cy="182880"/>
          </a:xfrm>
          <a:prstGeom prst="rect">
            <a:avLst/>
          </a:prstGeom>
          <a:noFill/>
          <a:ln/>
        </p:spPr>
        <p:txBody>
          <a:bodyPr wrap="square" lIns="0" tIns="0" rIns="0" bIns="0" rtlCol="0" anchor="t"/>
          <a:lstStyle/>
          <a:p>
            <a:pPr indent="0" marL="0">
              <a:buNone/>
            </a:pPr>
            <a:r>
              <a:rPr lang="en-US" sz="900" b="1" spc="250" kern="0" dirty="0">
                <a:solidFill>
                  <a:srgbClr val="D9730D"/>
                </a:solidFill>
                <a:latin typeface="Calibri" pitchFamily="34" charset="0"/>
                <a:ea typeface="Calibri" pitchFamily="34" charset="-122"/>
                <a:cs typeface="Calibri" pitchFamily="34" charset="-120"/>
              </a:rPr>
              <a:t>PHASE 2</a:t>
            </a:r>
            <a:endParaRPr lang="en-US" sz="900" dirty="0"/>
          </a:p>
        </p:txBody>
      </p:sp>
      <p:sp>
        <p:nvSpPr>
          <p:cNvPr id="16" name="Text 13"/>
          <p:cNvSpPr txBox="1"/>
          <p:nvPr/>
        </p:nvSpPr>
        <p:spPr>
          <a:xfrm>
            <a:off x="4590288" y="2788920"/>
            <a:ext cx="3108960" cy="822960"/>
          </a:xfrm>
          <a:prstGeom prst="rect">
            <a:avLst/>
          </a:prstGeom>
          <a:noFill/>
          <a:ln/>
        </p:spPr>
        <p:txBody>
          <a:bodyPr wrap="square" lIns="0" tIns="0" rIns="0" bIns="0" rtlCol="0" anchor="t"/>
          <a:lstStyle/>
          <a:p>
            <a:pPr indent="0" marL="0">
              <a:buNone/>
            </a:pPr>
            <a:r>
              <a:rPr lang="en-US" sz="1700" b="1" dirty="0">
                <a:solidFill>
                  <a:srgbClr val="1C1E21"/>
                </a:solidFill>
                <a:latin typeface="Georgia" pitchFamily="34" charset="0"/>
                <a:ea typeface="Georgia" pitchFamily="34" charset="-122"/>
                <a:cs typeface="Georgia" pitchFamily="34" charset="-120"/>
              </a:rPr>
              <a:t>Multi-frame video auditing</a:t>
            </a:r>
            <a:endParaRPr lang="en-US" sz="1700" dirty="0"/>
          </a:p>
        </p:txBody>
      </p:sp>
      <p:sp>
        <p:nvSpPr>
          <p:cNvPr id="17" name="Text 14"/>
          <p:cNvSpPr txBox="1"/>
          <p:nvPr/>
        </p:nvSpPr>
        <p:spPr>
          <a:xfrm>
            <a:off x="4590288" y="3703320"/>
            <a:ext cx="3063240" cy="2011680"/>
          </a:xfrm>
          <a:prstGeom prst="rect">
            <a:avLst/>
          </a:prstGeom>
          <a:noFill/>
          <a:ln/>
        </p:spPr>
        <p:txBody>
          <a:bodyPr wrap="square" lIns="0" tIns="0" rIns="0" bIns="0" rtlCol="0" anchor="t"/>
          <a:lstStyle/>
          <a:p>
            <a:pPr indent="0" marL="0">
              <a:buNone/>
            </a:pPr>
            <a:r>
              <a:rPr lang="en-US" sz="1200" dirty="0">
                <a:solidFill>
                  <a:srgbClr val="525866"/>
                </a:solidFill>
                <a:latin typeface="Calibri" pitchFamily="34" charset="0"/>
                <a:ea typeface="Calibri" pitchFamily="34" charset="-122"/>
                <a:cs typeface="Calibri" pitchFamily="34" charset="-120"/>
              </a:rPr>
              <a:t>Capture sequences to verify timer resets, popups that nag, and fees emerging late in the flow.</a:t>
            </a:r>
            <a:endParaRPr lang="en-US" sz="1200" dirty="0"/>
          </a:p>
        </p:txBody>
      </p:sp>
      <p:sp>
        <p:nvSpPr>
          <p:cNvPr id="18" name="Shape 15"/>
          <p:cNvSpPr/>
          <p:nvPr/>
        </p:nvSpPr>
        <p:spPr>
          <a:xfrm>
            <a:off x="8083296" y="1691640"/>
            <a:ext cx="365760" cy="365760"/>
          </a:xfrm>
          <a:prstGeom prst="ellipse">
            <a:avLst/>
          </a:prstGeom>
          <a:solidFill>
            <a:srgbClr val="2B8A3E"/>
          </a:solidFill>
          <a:ln w="25400">
            <a:solidFill>
              <a:srgbClr val="F8F9FA"/>
            </a:solidFill>
            <a:prstDash val="solid"/>
          </a:ln>
        </p:spPr>
      </p:sp>
      <p:sp>
        <p:nvSpPr>
          <p:cNvPr id="19" name="Shape 16"/>
          <p:cNvSpPr/>
          <p:nvPr/>
        </p:nvSpPr>
        <p:spPr>
          <a:xfrm>
            <a:off x="8083296" y="2286000"/>
            <a:ext cx="3566160" cy="3657600"/>
          </a:xfrm>
          <a:prstGeom prst="rect">
            <a:avLst/>
          </a:prstGeom>
          <a:solidFill>
            <a:srgbClr val="F1F3F5"/>
          </a:solidFill>
          <a:ln w="9525">
            <a:solidFill>
              <a:srgbClr val="E1E4E8"/>
            </a:solidFill>
            <a:prstDash val="solid"/>
          </a:ln>
        </p:spPr>
      </p:sp>
      <p:sp>
        <p:nvSpPr>
          <p:cNvPr id="20" name="Shape 17"/>
          <p:cNvSpPr/>
          <p:nvPr/>
        </p:nvSpPr>
        <p:spPr>
          <a:xfrm>
            <a:off x="8083296" y="2286000"/>
            <a:ext cx="54864" cy="3657600"/>
          </a:xfrm>
          <a:prstGeom prst="rect">
            <a:avLst/>
          </a:prstGeom>
          <a:solidFill>
            <a:srgbClr val="2B8A3E"/>
          </a:solidFill>
          <a:ln w="12700">
            <a:solidFill>
              <a:srgbClr val="2B8A3E"/>
            </a:solidFill>
            <a:prstDash val="solid"/>
          </a:ln>
        </p:spPr>
      </p:sp>
      <p:sp>
        <p:nvSpPr>
          <p:cNvPr id="21" name="Text 18"/>
          <p:cNvSpPr txBox="1"/>
          <p:nvPr/>
        </p:nvSpPr>
        <p:spPr>
          <a:xfrm>
            <a:off x="8357616" y="2468880"/>
            <a:ext cx="3108960" cy="182880"/>
          </a:xfrm>
          <a:prstGeom prst="rect">
            <a:avLst/>
          </a:prstGeom>
          <a:noFill/>
          <a:ln/>
        </p:spPr>
        <p:txBody>
          <a:bodyPr wrap="square" lIns="0" tIns="0" rIns="0" bIns="0" rtlCol="0" anchor="t"/>
          <a:lstStyle/>
          <a:p>
            <a:pPr indent="0" marL="0">
              <a:buNone/>
            </a:pPr>
            <a:r>
              <a:rPr lang="en-US" sz="900" b="1" spc="250" kern="0" dirty="0">
                <a:solidFill>
                  <a:srgbClr val="2B8A3E"/>
                </a:solidFill>
                <a:latin typeface="Calibri" pitchFamily="34" charset="0"/>
                <a:ea typeface="Calibri" pitchFamily="34" charset="-122"/>
                <a:cs typeface="Calibri" pitchFamily="34" charset="-120"/>
              </a:rPr>
              <a:t>PHASE 3</a:t>
            </a:r>
            <a:endParaRPr lang="en-US" sz="900" dirty="0"/>
          </a:p>
        </p:txBody>
      </p:sp>
      <p:sp>
        <p:nvSpPr>
          <p:cNvPr id="22" name="Text 19"/>
          <p:cNvSpPr txBox="1"/>
          <p:nvPr/>
        </p:nvSpPr>
        <p:spPr>
          <a:xfrm>
            <a:off x="8357616" y="2788920"/>
            <a:ext cx="3108960" cy="822960"/>
          </a:xfrm>
          <a:prstGeom prst="rect">
            <a:avLst/>
          </a:prstGeom>
          <a:noFill/>
          <a:ln/>
        </p:spPr>
        <p:txBody>
          <a:bodyPr wrap="square" lIns="0" tIns="0" rIns="0" bIns="0" rtlCol="0" anchor="t"/>
          <a:lstStyle/>
          <a:p>
            <a:pPr indent="0" marL="0">
              <a:buNone/>
            </a:pPr>
            <a:r>
              <a:rPr lang="en-US" sz="1700" b="1" dirty="0">
                <a:solidFill>
                  <a:srgbClr val="1C1E21"/>
                </a:solidFill>
                <a:latin typeface="Georgia" pitchFamily="34" charset="0"/>
                <a:ea typeface="Georgia" pitchFamily="34" charset="-122"/>
                <a:cs typeface="Georgia" pitchFamily="34" charset="-120"/>
              </a:rPr>
              <a:t>Automated complaint generation</a:t>
            </a:r>
            <a:endParaRPr lang="en-US" sz="1700" dirty="0"/>
          </a:p>
        </p:txBody>
      </p:sp>
      <p:sp>
        <p:nvSpPr>
          <p:cNvPr id="23" name="Text 20"/>
          <p:cNvSpPr txBox="1"/>
          <p:nvPr/>
        </p:nvSpPr>
        <p:spPr>
          <a:xfrm>
            <a:off x="8357616" y="3703320"/>
            <a:ext cx="3063240" cy="2011680"/>
          </a:xfrm>
          <a:prstGeom prst="rect">
            <a:avLst/>
          </a:prstGeom>
          <a:noFill/>
          <a:ln/>
        </p:spPr>
        <p:txBody>
          <a:bodyPr wrap="square" lIns="0" tIns="0" rIns="0" bIns="0" rtlCol="0" anchor="t"/>
          <a:lstStyle/>
          <a:p>
            <a:pPr indent="0" marL="0">
              <a:buNone/>
            </a:pPr>
            <a:r>
              <a:rPr lang="en-US" sz="1200" dirty="0">
                <a:solidFill>
                  <a:srgbClr val="525866"/>
                </a:solidFill>
                <a:latin typeface="Calibri" pitchFamily="34" charset="0"/>
                <a:ea typeface="Calibri" pitchFamily="34" charset="-122"/>
                <a:cs typeface="Calibri" pitchFamily="34" charset="-120"/>
              </a:rPr>
              <a:t>Compile evidence packs (captures, quotes, statute references) into a draft complaint for consumer authorities, with user consent.</a:t>
            </a:r>
            <a:endParaRPr lang="en-US" sz="12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E8590C"/>
                </a:solidFill>
                <a:latin typeface="Calibri" pitchFamily="34" charset="0"/>
                <a:ea typeface="Calibri" pitchFamily="34" charset="-122"/>
                <a:cs typeface="Calibri" pitchFamily="34" charset="-120"/>
              </a:rPr>
              <a:t>SECTION V · CONCLUSION</a:t>
            </a:r>
            <a:endParaRPr lang="en-US" sz="1000" dirty="0"/>
          </a:p>
        </p:txBody>
      </p:sp>
      <p:sp>
        <p:nvSpPr>
          <p:cNvPr id="3" name="Text 1"/>
          <p:cNvSpPr/>
          <p:nvPr>
            <p:ph idx="101"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FFFFFF"/>
                </a:solidFill>
                <a:latin typeface="Georgia" pitchFamily="34" charset="0"/>
                <a:ea typeface="Georgia" pitchFamily="34" charset="-122"/>
                <a:cs typeface="Georgia" pitchFamily="34" charset="-120"/>
              </a:rPr>
              <a:t>Conclusion &amp; Academic Impact</a:t>
            </a:r>
            <a:endParaRPr lang="en-US" sz="2600" dirty="0"/>
          </a:p>
        </p:txBody>
      </p:sp>
      <p:sp>
        <p:nvSpPr>
          <p:cNvPr id="5" name="Shape 2"/>
          <p:cNvSpPr/>
          <p:nvPr/>
        </p:nvSpPr>
        <p:spPr>
          <a:xfrm>
            <a:off x="548640" y="1554480"/>
            <a:ext cx="6949440" cy="960120"/>
          </a:xfrm>
          <a:prstGeom prst="rect">
            <a:avLst/>
          </a:prstGeom>
          <a:solidFill>
            <a:srgbClr val="181B21"/>
          </a:solidFill>
          <a:ln w="9525">
            <a:solidFill>
              <a:srgbClr val="2A2F38"/>
            </a:solidFill>
            <a:prstDash val="solid"/>
          </a:ln>
        </p:spPr>
      </p:sp>
      <p:sp>
        <p:nvSpPr>
          <p:cNvPr id="6" name="Shape 3"/>
          <p:cNvSpPr/>
          <p:nvPr/>
        </p:nvSpPr>
        <p:spPr>
          <a:xfrm>
            <a:off x="548640" y="1554480"/>
            <a:ext cx="54864" cy="960120"/>
          </a:xfrm>
          <a:prstGeom prst="rect">
            <a:avLst/>
          </a:prstGeom>
          <a:solidFill>
            <a:srgbClr val="C92A2A"/>
          </a:solidFill>
          <a:ln w="12700">
            <a:solidFill>
              <a:srgbClr val="C92A2A"/>
            </a:solidFill>
            <a:prstDash val="solid"/>
          </a:ln>
        </p:spPr>
      </p:sp>
      <p:sp>
        <p:nvSpPr>
          <p:cNvPr id="7" name="Text 4"/>
          <p:cNvSpPr txBox="1"/>
          <p:nvPr/>
        </p:nvSpPr>
        <p:spPr>
          <a:xfrm>
            <a:off x="777240" y="1554480"/>
            <a:ext cx="457200" cy="960120"/>
          </a:xfrm>
          <a:prstGeom prst="rect">
            <a:avLst/>
          </a:prstGeom>
          <a:noFill/>
          <a:ln/>
        </p:spPr>
        <p:txBody>
          <a:bodyPr wrap="square" lIns="0" tIns="0" rIns="0" bIns="0" rtlCol="0" anchor="ctr"/>
          <a:lstStyle/>
          <a:p>
            <a:pPr indent="0" marL="0">
              <a:buNone/>
            </a:pPr>
            <a:r>
              <a:rPr lang="en-US" sz="2600" b="1" dirty="0">
                <a:solidFill>
                  <a:srgbClr val="C92A2A"/>
                </a:solidFill>
                <a:latin typeface="Georgia" pitchFamily="34" charset="0"/>
                <a:ea typeface="Georgia" pitchFamily="34" charset="-122"/>
                <a:cs typeface="Georgia" pitchFamily="34" charset="-120"/>
              </a:rPr>
              <a:t>1</a:t>
            </a:r>
            <a:endParaRPr lang="en-US" sz="2600" dirty="0"/>
          </a:p>
        </p:txBody>
      </p:sp>
      <p:sp>
        <p:nvSpPr>
          <p:cNvPr id="8" name="Text 5"/>
          <p:cNvSpPr txBox="1"/>
          <p:nvPr/>
        </p:nvSpPr>
        <p:spPr>
          <a:xfrm>
            <a:off x="1371600" y="1691640"/>
            <a:ext cx="5943600" cy="2743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Statute-aligned</a:t>
            </a:r>
            <a:endParaRPr lang="en-US" sz="1500" dirty="0"/>
          </a:p>
        </p:txBody>
      </p:sp>
      <p:sp>
        <p:nvSpPr>
          <p:cNvPr id="9" name="Text 6"/>
          <p:cNvSpPr txBox="1"/>
          <p:nvPr/>
        </p:nvSpPr>
        <p:spPr>
          <a:xfrm>
            <a:off x="1371600" y="2011680"/>
            <a:ext cx="5943600" cy="45720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A vision pipeline whose label space is the 13 CCPA patterns, not an ad-hoc taxonomy.</a:t>
            </a:r>
            <a:endParaRPr lang="en-US" sz="1150" dirty="0"/>
          </a:p>
        </p:txBody>
      </p:sp>
      <p:sp>
        <p:nvSpPr>
          <p:cNvPr id="10" name="Shape 7"/>
          <p:cNvSpPr/>
          <p:nvPr/>
        </p:nvSpPr>
        <p:spPr>
          <a:xfrm>
            <a:off x="548640" y="2633472"/>
            <a:ext cx="6949440" cy="960120"/>
          </a:xfrm>
          <a:prstGeom prst="rect">
            <a:avLst/>
          </a:prstGeom>
          <a:solidFill>
            <a:srgbClr val="181B21"/>
          </a:solidFill>
          <a:ln w="9525">
            <a:solidFill>
              <a:srgbClr val="2A2F38"/>
            </a:solidFill>
            <a:prstDash val="solid"/>
          </a:ln>
        </p:spPr>
      </p:sp>
      <p:sp>
        <p:nvSpPr>
          <p:cNvPr id="11" name="Shape 8"/>
          <p:cNvSpPr/>
          <p:nvPr/>
        </p:nvSpPr>
        <p:spPr>
          <a:xfrm>
            <a:off x="548640" y="2633472"/>
            <a:ext cx="54864" cy="960120"/>
          </a:xfrm>
          <a:prstGeom prst="rect">
            <a:avLst/>
          </a:prstGeom>
          <a:solidFill>
            <a:srgbClr val="C92A2A"/>
          </a:solidFill>
          <a:ln w="12700">
            <a:solidFill>
              <a:srgbClr val="C92A2A"/>
            </a:solidFill>
            <a:prstDash val="solid"/>
          </a:ln>
        </p:spPr>
      </p:sp>
      <p:sp>
        <p:nvSpPr>
          <p:cNvPr id="12" name="Text 9"/>
          <p:cNvSpPr txBox="1"/>
          <p:nvPr/>
        </p:nvSpPr>
        <p:spPr>
          <a:xfrm>
            <a:off x="777240" y="2633472"/>
            <a:ext cx="457200" cy="960120"/>
          </a:xfrm>
          <a:prstGeom prst="rect">
            <a:avLst/>
          </a:prstGeom>
          <a:noFill/>
          <a:ln/>
        </p:spPr>
        <p:txBody>
          <a:bodyPr wrap="square" lIns="0" tIns="0" rIns="0" bIns="0" rtlCol="0" anchor="ctr"/>
          <a:lstStyle/>
          <a:p>
            <a:pPr indent="0" marL="0">
              <a:buNone/>
            </a:pPr>
            <a:r>
              <a:rPr lang="en-US" sz="2600" b="1" dirty="0">
                <a:solidFill>
                  <a:srgbClr val="C92A2A"/>
                </a:solidFill>
                <a:latin typeface="Georgia" pitchFamily="34" charset="0"/>
                <a:ea typeface="Georgia" pitchFamily="34" charset="-122"/>
                <a:cs typeface="Georgia" pitchFamily="34" charset="-120"/>
              </a:rPr>
              <a:t>2</a:t>
            </a:r>
            <a:endParaRPr lang="en-US" sz="2600" dirty="0"/>
          </a:p>
        </p:txBody>
      </p:sp>
      <p:sp>
        <p:nvSpPr>
          <p:cNvPr id="13" name="Text 10"/>
          <p:cNvSpPr txBox="1"/>
          <p:nvPr/>
        </p:nvSpPr>
        <p:spPr>
          <a:xfrm>
            <a:off x="1371600" y="2770632"/>
            <a:ext cx="5943600" cy="2743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Precision by design</a:t>
            </a:r>
            <a:endParaRPr lang="en-US" sz="1500" dirty="0"/>
          </a:p>
        </p:txBody>
      </p:sp>
      <p:sp>
        <p:nvSpPr>
          <p:cNvPr id="14" name="Text 11"/>
          <p:cNvSpPr txBox="1"/>
          <p:nvPr/>
        </p:nvSpPr>
        <p:spPr>
          <a:xfrm>
            <a:off x="1371600" y="3090672"/>
            <a:ext cx="5943600" cy="45720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Rubric boundaries and an adversarial verifier suppress lawful lookalikes.</a:t>
            </a:r>
            <a:endParaRPr lang="en-US" sz="1150" dirty="0"/>
          </a:p>
        </p:txBody>
      </p:sp>
      <p:sp>
        <p:nvSpPr>
          <p:cNvPr id="15" name="Shape 12"/>
          <p:cNvSpPr/>
          <p:nvPr/>
        </p:nvSpPr>
        <p:spPr>
          <a:xfrm>
            <a:off x="548640" y="3712464"/>
            <a:ext cx="6949440" cy="960120"/>
          </a:xfrm>
          <a:prstGeom prst="rect">
            <a:avLst/>
          </a:prstGeom>
          <a:solidFill>
            <a:srgbClr val="181B21"/>
          </a:solidFill>
          <a:ln w="9525">
            <a:solidFill>
              <a:srgbClr val="2A2F38"/>
            </a:solidFill>
            <a:prstDash val="solid"/>
          </a:ln>
        </p:spPr>
      </p:sp>
      <p:sp>
        <p:nvSpPr>
          <p:cNvPr id="16" name="Shape 13"/>
          <p:cNvSpPr/>
          <p:nvPr/>
        </p:nvSpPr>
        <p:spPr>
          <a:xfrm>
            <a:off x="548640" y="3712464"/>
            <a:ext cx="54864" cy="960120"/>
          </a:xfrm>
          <a:prstGeom prst="rect">
            <a:avLst/>
          </a:prstGeom>
          <a:solidFill>
            <a:srgbClr val="C92A2A"/>
          </a:solidFill>
          <a:ln w="12700">
            <a:solidFill>
              <a:srgbClr val="C92A2A"/>
            </a:solidFill>
            <a:prstDash val="solid"/>
          </a:ln>
        </p:spPr>
      </p:sp>
      <p:sp>
        <p:nvSpPr>
          <p:cNvPr id="17" name="Text 14"/>
          <p:cNvSpPr txBox="1"/>
          <p:nvPr/>
        </p:nvSpPr>
        <p:spPr>
          <a:xfrm>
            <a:off x="777240" y="3712464"/>
            <a:ext cx="457200" cy="960120"/>
          </a:xfrm>
          <a:prstGeom prst="rect">
            <a:avLst/>
          </a:prstGeom>
          <a:noFill/>
          <a:ln/>
        </p:spPr>
        <p:txBody>
          <a:bodyPr wrap="square" lIns="0" tIns="0" rIns="0" bIns="0" rtlCol="0" anchor="ctr"/>
          <a:lstStyle/>
          <a:p>
            <a:pPr indent="0" marL="0">
              <a:buNone/>
            </a:pPr>
            <a:r>
              <a:rPr lang="en-US" sz="2600" b="1" dirty="0">
                <a:solidFill>
                  <a:srgbClr val="C92A2A"/>
                </a:solidFill>
                <a:latin typeface="Georgia" pitchFamily="34" charset="0"/>
                <a:ea typeface="Georgia" pitchFamily="34" charset="-122"/>
                <a:cs typeface="Georgia" pitchFamily="34" charset="-120"/>
              </a:rPr>
              <a:t>3</a:t>
            </a:r>
            <a:endParaRPr lang="en-US" sz="2600" dirty="0"/>
          </a:p>
        </p:txBody>
      </p:sp>
      <p:sp>
        <p:nvSpPr>
          <p:cNvPr id="18" name="Text 15"/>
          <p:cNvSpPr txBox="1"/>
          <p:nvPr/>
        </p:nvSpPr>
        <p:spPr>
          <a:xfrm>
            <a:off x="1371600" y="3849624"/>
            <a:ext cx="5943600" cy="2743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Corroborated</a:t>
            </a:r>
            <a:endParaRPr lang="en-US" sz="1500" dirty="0"/>
          </a:p>
        </p:txBody>
      </p:sp>
      <p:sp>
        <p:nvSpPr>
          <p:cNvPr id="19" name="Text 16"/>
          <p:cNvSpPr txBox="1"/>
          <p:nvPr/>
        </p:nvSpPr>
        <p:spPr>
          <a:xfrm>
            <a:off x="1371600" y="4169664"/>
            <a:ext cx="5943600" cy="45720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DOM signals provide independent evidence behind visual claims.</a:t>
            </a:r>
            <a:endParaRPr lang="en-US" sz="1150" dirty="0"/>
          </a:p>
        </p:txBody>
      </p:sp>
      <p:sp>
        <p:nvSpPr>
          <p:cNvPr id="20" name="Shape 17"/>
          <p:cNvSpPr/>
          <p:nvPr/>
        </p:nvSpPr>
        <p:spPr>
          <a:xfrm>
            <a:off x="548640" y="4791456"/>
            <a:ext cx="6949440" cy="960120"/>
          </a:xfrm>
          <a:prstGeom prst="rect">
            <a:avLst/>
          </a:prstGeom>
          <a:solidFill>
            <a:srgbClr val="181B21"/>
          </a:solidFill>
          <a:ln w="9525">
            <a:solidFill>
              <a:srgbClr val="2A2F38"/>
            </a:solidFill>
            <a:prstDash val="solid"/>
          </a:ln>
        </p:spPr>
      </p:sp>
      <p:sp>
        <p:nvSpPr>
          <p:cNvPr id="21" name="Shape 18"/>
          <p:cNvSpPr/>
          <p:nvPr/>
        </p:nvSpPr>
        <p:spPr>
          <a:xfrm>
            <a:off x="548640" y="4791456"/>
            <a:ext cx="54864" cy="960120"/>
          </a:xfrm>
          <a:prstGeom prst="rect">
            <a:avLst/>
          </a:prstGeom>
          <a:solidFill>
            <a:srgbClr val="C92A2A"/>
          </a:solidFill>
          <a:ln w="12700">
            <a:solidFill>
              <a:srgbClr val="C92A2A"/>
            </a:solidFill>
            <a:prstDash val="solid"/>
          </a:ln>
        </p:spPr>
      </p:sp>
      <p:sp>
        <p:nvSpPr>
          <p:cNvPr id="22" name="Text 19"/>
          <p:cNvSpPr txBox="1"/>
          <p:nvPr/>
        </p:nvSpPr>
        <p:spPr>
          <a:xfrm>
            <a:off x="777240" y="4791456"/>
            <a:ext cx="457200" cy="960120"/>
          </a:xfrm>
          <a:prstGeom prst="rect">
            <a:avLst/>
          </a:prstGeom>
          <a:noFill/>
          <a:ln/>
        </p:spPr>
        <p:txBody>
          <a:bodyPr wrap="square" lIns="0" tIns="0" rIns="0" bIns="0" rtlCol="0" anchor="ctr"/>
          <a:lstStyle/>
          <a:p>
            <a:pPr indent="0" marL="0">
              <a:buNone/>
            </a:pPr>
            <a:r>
              <a:rPr lang="en-US" sz="2600" b="1" dirty="0">
                <a:solidFill>
                  <a:srgbClr val="C92A2A"/>
                </a:solidFill>
                <a:latin typeface="Georgia" pitchFamily="34" charset="0"/>
                <a:ea typeface="Georgia" pitchFamily="34" charset="-122"/>
                <a:cs typeface="Georgia" pitchFamily="34" charset="-120"/>
              </a:rPr>
              <a:t>4</a:t>
            </a:r>
            <a:endParaRPr lang="en-US" sz="2600" dirty="0"/>
          </a:p>
        </p:txBody>
      </p:sp>
      <p:sp>
        <p:nvSpPr>
          <p:cNvPr id="23" name="Text 20"/>
          <p:cNvSpPr txBox="1"/>
          <p:nvPr/>
        </p:nvSpPr>
        <p:spPr>
          <a:xfrm>
            <a:off x="1371600" y="4928616"/>
            <a:ext cx="5943600" cy="2743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Constructive</a:t>
            </a:r>
            <a:endParaRPr lang="en-US" sz="1500" dirty="0"/>
          </a:p>
        </p:txBody>
      </p:sp>
      <p:sp>
        <p:nvSpPr>
          <p:cNvPr id="24" name="Text 21"/>
          <p:cNvSpPr txBox="1"/>
          <p:nvPr/>
        </p:nvSpPr>
        <p:spPr>
          <a:xfrm>
            <a:off x="1371600" y="5248656"/>
            <a:ext cx="5943600" cy="457200"/>
          </a:xfrm>
          <a:prstGeom prst="rect">
            <a:avLst/>
          </a:prstGeom>
          <a:noFill/>
          <a:ln/>
        </p:spPr>
        <p:txBody>
          <a:bodyPr wrap="square" lIns="0" tIns="0" rIns="0" bIns="0" rtlCol="0" anchor="t"/>
          <a:lstStyle/>
          <a:p>
            <a:pPr indent="0" marL="0">
              <a:buNone/>
            </a:pPr>
            <a:r>
              <a:rPr lang="en-US" sz="1150" dirty="0">
                <a:solidFill>
                  <a:srgbClr val="9AA1AE"/>
                </a:solidFill>
                <a:latin typeface="Calibri" pitchFamily="34" charset="0"/>
                <a:ea typeface="Calibri" pitchFamily="34" charset="-122"/>
                <a:cs typeface="Calibri" pitchFamily="34" charset="-120"/>
              </a:rPr>
              <a:t>Every finding ships with an honest redesign, not just an accusation.</a:t>
            </a:r>
            <a:endParaRPr lang="en-US" sz="1150" dirty="0"/>
          </a:p>
        </p:txBody>
      </p:sp>
      <p:sp>
        <p:nvSpPr>
          <p:cNvPr id="25" name="Shape 22"/>
          <p:cNvSpPr/>
          <p:nvPr/>
        </p:nvSpPr>
        <p:spPr>
          <a:xfrm>
            <a:off x="7863840" y="1554480"/>
            <a:ext cx="3776472" cy="4160520"/>
          </a:xfrm>
          <a:prstGeom prst="rect">
            <a:avLst/>
          </a:prstGeom>
          <a:solidFill>
            <a:srgbClr val="C92A2A"/>
          </a:solidFill>
          <a:ln w="9525">
            <a:solidFill>
              <a:srgbClr val="C92A2A"/>
            </a:solidFill>
            <a:prstDash val="solid"/>
          </a:ln>
        </p:spPr>
      </p:sp>
      <p:sp>
        <p:nvSpPr>
          <p:cNvPr id="26" name="Text 23"/>
          <p:cNvSpPr txBox="1"/>
          <p:nvPr/>
        </p:nvSpPr>
        <p:spPr>
          <a:xfrm>
            <a:off x="8138160" y="1737360"/>
            <a:ext cx="3200400" cy="182880"/>
          </a:xfrm>
          <a:prstGeom prst="rect">
            <a:avLst/>
          </a:prstGeom>
          <a:noFill/>
          <a:ln/>
        </p:spPr>
        <p:txBody>
          <a:bodyPr wrap="square" lIns="0" tIns="0" rIns="0" bIns="0" rtlCol="0" anchor="t"/>
          <a:lstStyle/>
          <a:p>
            <a:pPr indent="0" marL="0">
              <a:buNone/>
            </a:pPr>
            <a:r>
              <a:rPr lang="en-US" sz="900" b="1" spc="250" kern="0" dirty="0">
                <a:solidFill>
                  <a:srgbClr val="FFFFFF"/>
                </a:solidFill>
                <a:latin typeface="Calibri" pitchFamily="34" charset="0"/>
                <a:ea typeface="Calibri" pitchFamily="34" charset="-122"/>
                <a:cs typeface="Calibri" pitchFamily="34" charset="-120"/>
              </a:rPr>
              <a:t>REGULATORY IMPACT</a:t>
            </a:r>
            <a:endParaRPr lang="en-US" sz="900" dirty="0"/>
          </a:p>
        </p:txBody>
      </p:sp>
      <p:sp>
        <p:nvSpPr>
          <p:cNvPr id="27" name="Text 24"/>
          <p:cNvSpPr txBox="1"/>
          <p:nvPr/>
        </p:nvSpPr>
        <p:spPr>
          <a:xfrm>
            <a:off x="8138160" y="2103120"/>
            <a:ext cx="3291840" cy="1645920"/>
          </a:xfrm>
          <a:prstGeom prst="rect">
            <a:avLst/>
          </a:prstGeom>
          <a:noFill/>
          <a:ln/>
        </p:spPr>
        <p:txBody>
          <a:bodyPr wrap="square" lIns="0" tIns="0" rIns="0" bIns="0" rtlCol="0" anchor="t"/>
          <a:lstStyle/>
          <a:p>
            <a:pPr indent="0" marL="0">
              <a:buNone/>
            </a:pPr>
            <a:r>
              <a:rPr lang="en-US" sz="2200" b="1" dirty="0">
                <a:solidFill>
                  <a:srgbClr val="FFFFFF"/>
                </a:solidFill>
                <a:latin typeface="Georgia" pitchFamily="34" charset="0"/>
                <a:ea typeface="Georgia" pitchFamily="34" charset="-122"/>
                <a:cs typeface="Georgia" pitchFamily="34" charset="-120"/>
              </a:rPr>
              <a:t>Turning law into a runtime-checkable standard.</a:t>
            </a:r>
            <a:endParaRPr lang="en-US" sz="2200" dirty="0"/>
          </a:p>
        </p:txBody>
      </p:sp>
      <p:sp>
        <p:nvSpPr>
          <p:cNvPr id="28" name="Text 25"/>
          <p:cNvSpPr txBox="1"/>
          <p:nvPr/>
        </p:nvSpPr>
        <p:spPr>
          <a:xfrm>
            <a:off x="8138160" y="3931920"/>
            <a:ext cx="3291840" cy="1645920"/>
          </a:xfrm>
          <a:prstGeom prst="rect">
            <a:avLst/>
          </a:prstGeom>
          <a:noFill/>
          <a:ln/>
        </p:spPr>
        <p:txBody>
          <a:bodyPr wrap="square" lIns="0" tIns="0" rIns="0" bIns="0" rtlCol="0" anchor="t"/>
          <a:lstStyle/>
          <a:p>
            <a:pPr indent="0" marL="0">
              <a:buNone/>
            </a:pPr>
            <a:r>
              <a:rPr lang="en-US" sz="1200" dirty="0">
                <a:solidFill>
                  <a:srgbClr val="FFE3E3"/>
                </a:solidFill>
                <a:latin typeface="Calibri" pitchFamily="34" charset="0"/>
                <a:ea typeface="Calibri" pitchFamily="34" charset="-122"/>
                <a:cs typeface="Calibri" pitchFamily="34" charset="-120"/>
              </a:rPr>
              <a:t>A bridge between statute text and interface pixels — scalable audits for regulators, compliance teams and consumers.</a:t>
            </a:r>
            <a:endParaRPr lang="en-US" sz="120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9AA1A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11091672" cy="228600"/>
          </a:xfrm>
          <a:prstGeom prst="rect">
            <a:avLst/>
          </a:prstGeom>
          <a:noFill/>
          <a:ln/>
        </p:spPr>
        <p:txBody>
          <a:bodyPr wrap="square" lIns="0" tIns="0" rIns="0" bIns="0" rtlCol="0" anchor="t"/>
          <a:lstStyle/>
          <a:p>
            <a:pPr indent="0" marL="0">
              <a:buNone/>
            </a:pPr>
            <a:r>
              <a:rPr lang="en-US" sz="1000" b="1" spc="300" kern="0" dirty="0">
                <a:solidFill>
                  <a:srgbClr val="C92A2A"/>
                </a:solidFill>
                <a:latin typeface="Calibri" pitchFamily="34" charset="0"/>
                <a:ea typeface="Calibri" pitchFamily="34" charset="-122"/>
                <a:cs typeface="Calibri" pitchFamily="34" charset="-120"/>
              </a:rPr>
              <a:t>SECTION V · SOURCES</a:t>
            </a:r>
            <a:endParaRPr lang="en-US" sz="1000" dirty="0"/>
          </a:p>
        </p:txBody>
      </p:sp>
      <p:sp>
        <p:nvSpPr>
          <p:cNvPr id="3" name="Text 2"/>
          <p:cNvSpPr/>
          <p:nvPr>
            <p:ph idx="102" type="title" hasCustomPrompt="1"/>
          </p:nvPr>
        </p:nvSpPr>
        <p:spPr>
          <a:xfrm>
            <a:off x="548640" y="621792"/>
            <a:ext cx="11091672" cy="685800"/>
          </a:xfrm>
          <a:prstGeom prst="rect">
            <a:avLst/>
          </a:prstGeom>
          <a:noFill/>
          <a:ln/>
        </p:spPr>
        <p:txBody>
          <a:bodyPr wrap="square" lIns="0" tIns="0" rIns="0" bIns="0" rtlCol="0" anchor="t"/>
          <a:lstStyle/>
          <a:p>
            <a:pPr algn="l" indent="0" marL="0">
              <a:buNone/>
            </a:pPr>
            <a:r>
              <a:rPr lang="en-US" sz="2600" b="1" dirty="0">
                <a:solidFill>
                  <a:srgbClr val="1C1E21"/>
                </a:solidFill>
                <a:latin typeface="Georgia" pitchFamily="34" charset="0"/>
                <a:ea typeface="Georgia" pitchFamily="34" charset="-122"/>
                <a:cs typeface="Georgia" pitchFamily="34" charset="-120"/>
              </a:rPr>
              <a:t>References &amp; Statutory Authorities</a:t>
            </a:r>
            <a:endParaRPr lang="en-US" sz="2600" dirty="0"/>
          </a:p>
        </p:txBody>
      </p:sp>
      <p:sp>
        <p:nvSpPr>
          <p:cNvPr id="5" name="Shape 2"/>
          <p:cNvSpPr/>
          <p:nvPr/>
        </p:nvSpPr>
        <p:spPr>
          <a:xfrm>
            <a:off x="548640" y="1508760"/>
            <a:ext cx="3474720" cy="365760"/>
          </a:xfrm>
          <a:prstGeom prst="rect">
            <a:avLst/>
          </a:prstGeom>
          <a:solidFill>
            <a:srgbClr val="C92A2A"/>
          </a:solidFill>
          <a:ln w="12700">
            <a:solidFill>
              <a:srgbClr val="C92A2A"/>
            </a:solidFill>
            <a:prstDash val="solid"/>
          </a:ln>
        </p:spPr>
      </p:sp>
      <p:sp>
        <p:nvSpPr>
          <p:cNvPr id="6" name="Text 3"/>
          <p:cNvSpPr txBox="1"/>
          <p:nvPr/>
        </p:nvSpPr>
        <p:spPr>
          <a:xfrm>
            <a:off x="731520" y="1508760"/>
            <a:ext cx="3200400" cy="36576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STATUTORY AUTHORITIES</a:t>
            </a:r>
            <a:endParaRPr lang="en-US" sz="1000" dirty="0"/>
          </a:p>
        </p:txBody>
      </p:sp>
      <p:sp>
        <p:nvSpPr>
          <p:cNvPr id="7" name="Text 4"/>
          <p:cNvSpPr txBox="1"/>
          <p:nvPr/>
        </p:nvSpPr>
        <p:spPr>
          <a:xfrm>
            <a:off x="594360" y="2011680"/>
            <a:ext cx="3383280" cy="4206240"/>
          </a:xfrm>
          <a:prstGeom prst="rect">
            <a:avLst/>
          </a:prstGeom>
          <a:noFill/>
          <a:ln/>
        </p:spPr>
        <p:txBody>
          <a:bodyPr wrap="square" lIns="0" tIns="0" rIns="0" bIns="0" rtlCol="0" anchor="t"/>
          <a:lstStyle/>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[1] Ministry of Consumer Affairs, Government of India. Guidelines for Prevention and Regulation of Dark Patterns, 2023. Central Consumer Protection Authority; Gazette of India notification dated 30 November 2023.</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[2] Government of India. The Consumer Protection Act, 2019 (Act 35 of 2019).</a:t>
            </a:r>
            <a:endParaRPr lang="en-US" sz="1050" dirty="0"/>
          </a:p>
        </p:txBody>
      </p:sp>
      <p:sp>
        <p:nvSpPr>
          <p:cNvPr id="8" name="Shape 5"/>
          <p:cNvSpPr/>
          <p:nvPr/>
        </p:nvSpPr>
        <p:spPr>
          <a:xfrm>
            <a:off x="4206240" y="1508760"/>
            <a:ext cx="4114800" cy="365760"/>
          </a:xfrm>
          <a:prstGeom prst="rect">
            <a:avLst/>
          </a:prstGeom>
          <a:solidFill>
            <a:srgbClr val="1C1E21"/>
          </a:solidFill>
          <a:ln w="12700">
            <a:solidFill>
              <a:srgbClr val="1C1E21"/>
            </a:solidFill>
            <a:prstDash val="solid"/>
          </a:ln>
        </p:spPr>
      </p:sp>
      <p:sp>
        <p:nvSpPr>
          <p:cNvPr id="9" name="Text 6"/>
          <p:cNvSpPr txBox="1"/>
          <p:nvPr/>
        </p:nvSpPr>
        <p:spPr>
          <a:xfrm>
            <a:off x="4389120" y="1508760"/>
            <a:ext cx="3840480" cy="36576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ACADEMIC FOUNDATIONS</a:t>
            </a:r>
            <a:endParaRPr lang="en-US" sz="1000" dirty="0"/>
          </a:p>
        </p:txBody>
      </p:sp>
      <p:sp>
        <p:nvSpPr>
          <p:cNvPr id="10" name="Text 7"/>
          <p:cNvSpPr txBox="1"/>
          <p:nvPr/>
        </p:nvSpPr>
        <p:spPr>
          <a:xfrm>
            <a:off x="4251960" y="2011680"/>
            <a:ext cx="4023360" cy="4206240"/>
          </a:xfrm>
          <a:prstGeom prst="rect">
            <a:avLst/>
          </a:prstGeom>
          <a:noFill/>
          <a:ln/>
        </p:spPr>
        <p:txBody>
          <a:bodyPr wrap="square" lIns="0" tIns="0" rIns="0" bIns="0" rtlCol="0" anchor="t"/>
          <a:lstStyle/>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[3] Mathur, A., Acar, G., Friedman, M. J., et al. (2019). Dark Patterns at Scale: Findings from a Crawl of 11K Shopping Websites. Proc. ACM Hum.-Comput. Interact., 3(CSCW), Article 81.</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[4] Gray, C. M., Kou, Y., Battles, B., Hoggatt, J., &amp; Toombs, A. L. (2018). The Dark (Patterns) Side of UX Design. Proc. CHI 2018, Paper 534.</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[5] Cohen, J. (1960). A coefficient of agreement for nominal scales. Educational and Psychological Measurement, 20(1), 37–46.</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[6] Landis, J. R., &amp; Koch, G. G. (1977). The measurement of observer agreement for categorical data. Biometrics, 33(1), 159–174.</a:t>
            </a:r>
            <a:endParaRPr lang="en-US" sz="1050" dirty="0"/>
          </a:p>
        </p:txBody>
      </p:sp>
      <p:sp>
        <p:nvSpPr>
          <p:cNvPr id="11" name="Shape 8"/>
          <p:cNvSpPr/>
          <p:nvPr/>
        </p:nvSpPr>
        <p:spPr>
          <a:xfrm>
            <a:off x="8503920" y="1508760"/>
            <a:ext cx="3136392" cy="365760"/>
          </a:xfrm>
          <a:prstGeom prst="rect">
            <a:avLst/>
          </a:prstGeom>
          <a:solidFill>
            <a:srgbClr val="2B8A3E"/>
          </a:solidFill>
          <a:ln w="12700">
            <a:solidFill>
              <a:srgbClr val="2B8A3E"/>
            </a:solidFill>
            <a:prstDash val="solid"/>
          </a:ln>
        </p:spPr>
      </p:sp>
      <p:sp>
        <p:nvSpPr>
          <p:cNvPr id="12" name="Text 9"/>
          <p:cNvSpPr txBox="1"/>
          <p:nvPr/>
        </p:nvSpPr>
        <p:spPr>
          <a:xfrm>
            <a:off x="8686800" y="1508760"/>
            <a:ext cx="2862072" cy="36576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TECHNICAL DOCUMENTATION</a:t>
            </a:r>
            <a:endParaRPr lang="en-US" sz="1000" dirty="0"/>
          </a:p>
        </p:txBody>
      </p:sp>
      <p:sp>
        <p:nvSpPr>
          <p:cNvPr id="13" name="Text 10"/>
          <p:cNvSpPr txBox="1"/>
          <p:nvPr/>
        </p:nvSpPr>
        <p:spPr>
          <a:xfrm>
            <a:off x="8549640" y="2011680"/>
            <a:ext cx="3044952" cy="4206240"/>
          </a:xfrm>
          <a:prstGeom prst="rect">
            <a:avLst/>
          </a:prstGeom>
          <a:noFill/>
          <a:ln/>
        </p:spPr>
        <p:txBody>
          <a:bodyPr wrap="square" lIns="0" tIns="0" rIns="0" bIns="0" rtlCol="0" anchor="t"/>
          <a:lstStyle/>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[7] Qwen Team. Qwen vision-language model documentation and model cards.</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[8] Groq. API documentation: multimodal inputs and tool/function calling.</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[9] Anthropic. Claude API documentation: vision and tool use.</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[10] Microsoft. Playwright documentation (Chromium automation).</a:t>
            </a:r>
            <a:endParaRPr lang="en-US" sz="1050" dirty="0"/>
          </a:p>
          <a:p>
            <a:pPr indent="0" marL="0">
              <a:spcAft>
                <a:spcPts val="900"/>
              </a:spcAft>
              <a:buNone/>
            </a:pPr>
            <a:r>
              <a:rPr lang="en-US" sz="1050" dirty="0">
                <a:solidFill>
                  <a:srgbClr val="1C1E21"/>
                </a:solidFill>
                <a:latin typeface="Calibri" pitchFamily="34" charset="0"/>
                <a:ea typeface="Calibri" pitchFamily="34" charset="-122"/>
                <a:cs typeface="Calibri" pitchFamily="34" charset="-120"/>
              </a:rPr>
              <a:t>[11] Streamlit, Pillow, ReportLab documentation.</a:t>
            </a:r>
            <a:endParaRPr lang="en-US" sz="1050" dirty="0"/>
          </a:p>
        </p:txBody>
      </p:sp>
      <p:sp>
        <p:nvSpPr>
          <p:cNvPr id="25" name="Slide Number Placeholder 0"/>
          <p:cNvSpPr>
            <a:spLocks noGrp="1"/>
          </p:cNvSpPr>
          <p:nvPr>
            <p:ph type="sldNum" sz="quarter" idx="4294967295"/>
          </p:nvPr>
        </p:nvSpPr>
        <p:spPr>
          <a:xfrm>
            <a:off x="11091672" y="649224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2586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 Pattern Auditor: Enforcing CCPA 2023 Guidelines via Multimodal AI</dc:title>
  <dc:subject>PptxGenJS Presentation</dc:subject>
  <dc:creator>Ayan Farooque &amp; Aditya</dc:creator>
  <cp:lastModifiedBy>Ayan Farooque &amp; Aditya</cp:lastModifiedBy>
  <cp:revision>1</cp:revision>
  <dcterms:created xsi:type="dcterms:W3CDTF">2026-10-12T16:46:48Z</dcterms:created>
  <dcterms:modified xsi:type="dcterms:W3CDTF">2026-10-12T16:46:48Z</dcterms:modified>
</cp:coreProperties>
</file>