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94360"/>
            <a:ext cx="77724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GOVERNMENT COLLEGE OF ENGINEERING,
CHHATRAPATI SAMBHAJI NAGAR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691640"/>
            <a:ext cx="5486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AECFFF"/>
                </a:solidFill>
                <a:latin typeface="Aptos"/>
              </a:rPr>
              <a:t>MINI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804672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CivicLens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926080"/>
            <a:ext cx="685800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D8E6FA"/>
                </a:solidFill>
                <a:latin typeface="Aptos"/>
              </a:rPr>
              <a:t>Government information, made easier with 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600200"/>
            <a:ext cx="320040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38160" y="1600200"/>
            <a:ext cx="64008" cy="310896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39328" y="1783080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Project Team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39328" y="2221992"/>
            <a:ext cx="2852928" cy="23500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Pathan Huzaifkhan
BT24S05F006
Shivam Atram
BT24S05F009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03520"/>
            <a:ext cx="64008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Aptos"/>
              </a:rPr>
              <a:t>Under the guidance of Prof. Vikul Pawar Sir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AECFFF"/>
                </a:solidFill>
                <a:latin typeface="Aptos"/>
              </a:rPr>
              <a:t>Academic Year 2026-27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01 | WHY THIS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The problem we are solving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Students need information, not more complexity.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0312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103120"/>
            <a:ext cx="64008" cy="256032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8600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Information scattered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724912"/>
            <a:ext cx="3035808" cy="180136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Schemes, notifications, portals, and certificates are spread across many sources.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2103120"/>
            <a:ext cx="64008" cy="256032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28600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Eligibility confusion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724912"/>
            <a:ext cx="3035808" cy="180136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Users struggle to know which scheme may match their course, category, income, or goal.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10312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103120"/>
            <a:ext cx="64008" cy="2560320"/>
          </a:xfrm>
          <a:prstGeom prst="rect">
            <a:avLst/>
          </a:prstGeom>
          <a:solidFill>
            <a:srgbClr val="3EA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28600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Unreadable documents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724912"/>
            <a:ext cx="3035808" cy="180136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Scanned EWS, hostel, income, and caste certificates are difficult to search or understand.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212080"/>
            <a:ext cx="1024128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17365D"/>
                </a:solidFill>
                <a:latin typeface="Aptos"/>
              </a:rPr>
              <a:t>CivicLens AI brings discovery, explanation, and evidence together in one simple interface.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02 |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What CivicLens AI delivers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A focused, evidence-aware civic information assistant.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658368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Explore government and MahaDBT schemes in one searchable directory.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Suggest potential scheme matches from a user profile.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Answer questions about uploaded PDF documents.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Use OCR for scanned or image-only certificates.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Show page-specific evidence and responsible-use limitations.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Support English, Hindi, and Marathi interfaces.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01000" y="2011680"/>
            <a:ext cx="320040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01000" y="2011680"/>
            <a:ext cx="64008" cy="356616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02168" y="2194560"/>
            <a:ext cx="28803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Core principle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02168" y="2633472"/>
            <a:ext cx="2852928" cy="28072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Informational assistance, not an official eligibility or approval decision.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03 | PROPOSED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How the solution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From a user question to a useful, grounded response.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063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240280"/>
            <a:ext cx="64008" cy="251460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1. Ask or 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862072"/>
            <a:ext cx="2715768" cy="17556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User explores schemes, asks a question, or uploads a PDF.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240280"/>
            <a:ext cx="3063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2240280"/>
            <a:ext cx="64008" cy="251460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42316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2. Retrieve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862072"/>
            <a:ext cx="2715768" cy="17556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TF-IDF and cosine similarity rank relevant scheme or document passages.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240280"/>
            <a:ext cx="3063240" cy="25146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240280"/>
            <a:ext cx="64008" cy="2514600"/>
          </a:xfrm>
          <a:prstGeom prst="rect">
            <a:avLst/>
          </a:prstGeom>
          <a:solidFill>
            <a:srgbClr val="3EA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242316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3. Explain clearly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862072"/>
            <a:ext cx="2715768" cy="17556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The system returns an answer, sources, limitations, and next steps.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100584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17365D"/>
                </a:solidFill>
                <a:latin typeface="Aptos"/>
              </a:rPr>
              <a:t>React + Vite frontend  ?  Flask API  ?  RAG / OCR / optional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04 |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A modular client-server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828800"/>
            <a:ext cx="2103120" cy="365760"/>
          </a:xfrm>
          <a:prstGeom prst="round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28800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28800"/>
            <a:ext cx="7132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2354E"/>
                </a:solidFill>
                <a:latin typeface="Aptos"/>
              </a:rPr>
              <a:t>React, Vite, React Router, responsive CSS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2350008"/>
            <a:ext cx="2103120" cy="365760"/>
          </a:xfrm>
          <a:prstGeom prst="round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2350008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350008"/>
            <a:ext cx="7132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2354E"/>
                </a:solidFill>
                <a:latin typeface="Aptos"/>
              </a:rPr>
              <a:t>Flask, Flask-CORS, JSON APIs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2871215"/>
            <a:ext cx="2103120" cy="365760"/>
          </a:xfrm>
          <a:prstGeom prst="round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2871215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Knowledge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871215"/>
            <a:ext cx="7132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2354E"/>
                </a:solidFill>
                <a:latin typeface="Aptos"/>
              </a:rPr>
              <a:t>Curated schemes + MahaDBT catalog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392424"/>
            <a:ext cx="2103120" cy="365760"/>
          </a:xfrm>
          <a:prstGeom prst="round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3392424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3392424"/>
            <a:ext cx="7132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2354E"/>
                </a:solidFill>
                <a:latin typeface="Aptos"/>
              </a:rPr>
              <a:t>TF-IDF + cosine similarity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3913631"/>
            <a:ext cx="2103120" cy="365760"/>
          </a:xfrm>
          <a:prstGeom prst="round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3000" y="3913631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Documents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3913631"/>
            <a:ext cx="7132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2354E"/>
                </a:solidFill>
                <a:latin typeface="Aptos"/>
              </a:rPr>
              <a:t>PyMuPDF + temporary sessions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4434840"/>
            <a:ext cx="2103120" cy="365760"/>
          </a:xfrm>
          <a:prstGeom prst="round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43000" y="4434840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74720" y="4434840"/>
            <a:ext cx="7132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2354E"/>
                </a:solidFill>
                <a:latin typeface="Aptos"/>
              </a:rPr>
              <a:t>Tesseract + pytesseract + Pillow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97280" y="4956048"/>
            <a:ext cx="2103120" cy="365760"/>
          </a:xfrm>
          <a:prstGeom prst="round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956048"/>
            <a:ext cx="201168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Aptos"/>
              </a:rPr>
              <a:t>Testing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956048"/>
            <a:ext cx="71323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2354E"/>
                </a:solidFill>
                <a:latin typeface="Aptos"/>
              </a:rPr>
              <a:t>Pytest, Vite build, browser smoke tests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05 | 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One platform, multiple workflows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Designed for clarity and practical use.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132588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Scheme Explorer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3580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Search, filter, view details, and browse 89 catalog records.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64008" cy="132588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Guided Discovery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50592"/>
            <a:ext cx="303580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Use education, category, goal, and occupation preferences.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64008" cy="1325880"/>
          </a:xfrm>
          <a:prstGeom prst="rect">
            <a:avLst/>
          </a:prstGeom>
          <a:solidFill>
            <a:srgbClr val="3EA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116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AI Assistant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50592"/>
            <a:ext cx="303580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Ask questions about schemes and civic information.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6576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657600"/>
            <a:ext cx="64008" cy="132588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8404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PDF + 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303580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Read text PDFs and scanned EWS, hostel, income, or caste documents.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36576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89120" y="3657600"/>
            <a:ext cx="64008" cy="132588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0288" y="38404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Evidence First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4279392"/>
            <a:ext cx="303580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Page citations, source passages, and clear limitations.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657600"/>
            <a:ext cx="33832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657600"/>
            <a:ext cx="64008" cy="1325880"/>
          </a:xfrm>
          <a:prstGeom prst="rect">
            <a:avLst/>
          </a:prstGeom>
          <a:solidFill>
            <a:srgbClr val="3EA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8404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Multilingual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4279392"/>
            <a:ext cx="303580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English, Hindi, and Marathi interface support.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06 |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Scheme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A guided profile helps users find potential matches.</a:t>
            </a:r>
          </a:p>
        </p:txBody>
      </p:sp>
      <p:pic>
        <p:nvPicPr>
          <p:cNvPr id="6" name="Picture 5" descr="Screenshot (131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1069848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07 |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Chat with PDF and OCR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Upload a certificate, ask a question, and review page evidence.</a:t>
            </a:r>
          </a:p>
        </p:txBody>
      </p:sp>
      <p:pic>
        <p:nvPicPr>
          <p:cNvPr id="6" name="Picture 5" descr="Screenshot (131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1069848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08 |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AI Assistant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Simple prompts for schemes, documents, and public information.</a:t>
            </a:r>
          </a:p>
        </p:txBody>
      </p:sp>
      <p:pic>
        <p:nvPicPr>
          <p:cNvPr id="6" name="Picture 5" descr="Screenshot (131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83080"/>
            <a:ext cx="10698480" cy="45262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09 | DOCUMENT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OCR-enabled document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Scanned PDFs are converted into searchable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57400"/>
            <a:ext cx="30632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2057400"/>
            <a:ext cx="64008" cy="265176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24028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Detect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79192"/>
            <a:ext cx="2715768" cy="18928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Find pages with no selectable 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2057400"/>
            <a:ext cx="30632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0" y="2057400"/>
            <a:ext cx="64008" cy="265176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15968" y="224028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679192"/>
            <a:ext cx="2715768" cy="18928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Convert the page into a high-resolution image.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79" y="2057400"/>
            <a:ext cx="3063240" cy="26517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498079" y="2057400"/>
            <a:ext cx="64008" cy="2651760"/>
          </a:xfrm>
          <a:prstGeom prst="rect">
            <a:avLst/>
          </a:prstGeom>
          <a:solidFill>
            <a:srgbClr val="3EA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224028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Read and cite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9248" y="2679192"/>
            <a:ext cx="2715768" cy="1892807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Tesseract extracts text; answers retain page numbers.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94960"/>
            <a:ext cx="1033272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Example: EWS + income + caste topics detected from an uploaded certificate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10 | TRUST AND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Responsible design and 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Useful answers must also be honest about limits.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64008" cy="292608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20116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Safety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50592"/>
            <a:ext cx="3035808" cy="2167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Potential matches are not official eligibility decisions. OCR may misread dates, names, and seals. Users must verify official rules.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64008" cy="292608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116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450592"/>
            <a:ext cx="3035808" cy="2167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Uploaded PDFs are processed temporarily and are not exposed as public documents.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38328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64008" cy="2926080"/>
          </a:xfrm>
          <a:prstGeom prst="rect">
            <a:avLst/>
          </a:prstGeom>
          <a:solidFill>
            <a:srgbClr val="3EAF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2011680"/>
            <a:ext cx="306324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Validation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50592"/>
            <a:ext cx="3035808" cy="21671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15 backend tests passed. Frontend production build succeeded. OCR verified with Tesseract 5.5.3.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11 | 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Tools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A lightweight stack suitable for an academic project.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83080"/>
            <a:ext cx="23774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1783080"/>
            <a:ext cx="64008" cy="45720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196596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04872"/>
            <a:ext cx="2029968" cy="-3017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React, Vite, React Router,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441448"/>
            <a:ext cx="23774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441448"/>
            <a:ext cx="64008" cy="45720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5568" y="2624328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3063240"/>
            <a:ext cx="2029968" cy="-3017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Python, Flask, Flask-CORS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099815"/>
            <a:ext cx="23774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3099815"/>
            <a:ext cx="64008" cy="45720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" y="3282696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AI / Retrieval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3721607"/>
            <a:ext cx="2029968" cy="-3017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scikit-learn TF-IDF, cosine similarity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3758184"/>
            <a:ext cx="23774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" y="3758184"/>
            <a:ext cx="64008" cy="45720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15568" y="3941064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PDF / OCR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4379976"/>
            <a:ext cx="2029968" cy="-3017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PyMuPDF, Pillow, pytesseract, Tesseract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416552"/>
            <a:ext cx="23774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" y="4416552"/>
            <a:ext cx="64008" cy="45720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4599432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Provider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5038344"/>
            <a:ext cx="2029968" cy="-3017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OpenAI-compatible optional API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5074920"/>
            <a:ext cx="2377440" cy="4572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14400" y="5074920"/>
            <a:ext cx="64008" cy="457200"/>
          </a:xfrm>
          <a:prstGeom prst="rect">
            <a:avLst/>
          </a:prstGeom>
          <a:solidFill>
            <a:srgbClr val="F5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257800"/>
            <a:ext cx="20574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5696712"/>
            <a:ext cx="2029968" cy="-301751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Pytest, Vite build, browser verification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12 |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Project outcome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A complete working prototype ready for demonstration.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18288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2667D2"/>
                </a:solidFill>
                <a:latin typeface="Aptos"/>
              </a:rPr>
              <a:t>89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606040"/>
            <a:ext cx="22860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F89"/>
                </a:solidFill>
                <a:latin typeface="Aptos"/>
              </a:rPr>
              <a:t>scheme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1828800"/>
            <a:ext cx="18288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F5BE48"/>
                </a:solidFill>
                <a:latin typeface="Aptos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60604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F89"/>
                </a:solidFill>
                <a:latin typeface="Aptos"/>
              </a:rPr>
              <a:t>interface languages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828800"/>
            <a:ext cx="18288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200" b="1">
                <a:solidFill>
                  <a:srgbClr val="3EAF70"/>
                </a:solidFill>
                <a:latin typeface="Aptos"/>
              </a:rP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606040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F89"/>
                </a:solidFill>
                <a:latin typeface="Aptos"/>
              </a:rPr>
              <a:t>tests passed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1828800"/>
            <a:ext cx="1828800" cy="7315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3400" b="1">
                <a:solidFill>
                  <a:srgbClr val="17365D"/>
                </a:solidFill>
                <a:latin typeface="Aptos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3960" y="2606040"/>
            <a:ext cx="265176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5B6F89"/>
                </a:solidFill>
                <a:latin typeface="Aptos"/>
              </a:rPr>
              <a:t>scanned PDF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023360"/>
            <a:ext cx="1024128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300" b="1">
                <a:solidFill>
                  <a:srgbClr val="17365D"/>
                </a:solidFill>
                <a:latin typeface="Aptos"/>
              </a:rPr>
              <a:t>CivicLens AI makes government information easier to understand, discover, and access.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3657600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667D2"/>
                </a:solidFill>
                <a:latin typeface="Aptos"/>
              </a:rPr>
              <a:t>13 |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49808"/>
            <a:ext cx="10789920" cy="5943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365D"/>
                </a:solidFill>
                <a:latin typeface="Aptos"/>
              </a:rPr>
              <a:t>What can come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89888"/>
            <a:ext cx="10789920" cy="38404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F89"/>
                </a:solidFill>
                <a:latin typeface="Aptos"/>
              </a:rPr>
              <a:t>The foundation is ready for deeper civic assistance.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667512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Verified, automatically updated scheme notifications and deadlines.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Hindi and Marathi OCR language packs.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Improved OCR post-processing for tables, dates, seals, and handwritten fields.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Saved schemes, document checklists, and exportable application summaries.</a:t>
            </a:r>
          </a:p>
          <a:p>
            <a:pPr>
              <a:spcAft>
                <a:spcPts val="1000"/>
              </a:spcAft>
              <a:defRPr sz="1800">
                <a:solidFill>
                  <a:srgbClr val="22354E"/>
                </a:solidFill>
                <a:latin typeface="Aptos"/>
              </a:defRPr>
            </a:pPr>
            <a:r>
              <a:t>Accessibility, voice input, and mobile application support.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063240" cy="31089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046720" y="1920240"/>
            <a:ext cx="64008" cy="3108960"/>
          </a:xfrm>
          <a:prstGeom prst="rect">
            <a:avLst/>
          </a:prstGeom>
          <a:solidFill>
            <a:srgbClr val="266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47888" y="2103120"/>
            <a:ext cx="2743200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365D"/>
                </a:solidFill>
                <a:latin typeface="Aptos"/>
              </a:rPr>
              <a:t>Next step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7888" y="2542032"/>
            <a:ext cx="2715768" cy="23500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5B6F89"/>
                </a:solidFill>
                <a:latin typeface="Aptos"/>
              </a:rPr>
              <a:t>Move from a college prototype toward a verified, production-grade civic information service.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510528"/>
            <a:ext cx="731520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B6F89"/>
                </a:solidFill>
                <a:latin typeface="Aptos"/>
              </a:rPr>
              <a:t>CivicLens AI  |  Mini Project  |  2026-27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09960" y="6510528"/>
            <a:ext cx="411480" cy="1828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5B6F89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4300" b="1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468880"/>
            <a:ext cx="107899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AECFFF"/>
                </a:solidFill>
                <a:latin typeface="Aptos"/>
              </a:rPr>
              <a:t>Questions and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789920" cy="41148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Aptos"/>
              </a:rPr>
              <a:t>CivicLens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789920" cy="91440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FFFFFF"/>
                </a:solidFill>
                <a:latin typeface="Aptos"/>
              </a:rPr>
              <a:t>Pathan Huzaifkhan  |  BT24S05F006
Shivam Atram  |  BT24S05F009
Academic Year 2026-27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CivicLens AI - Project Presentation</dc:title>
  <dc:subject>Mini project viva presentation</dc:subject>
  <dc:creator>Pathan Huzaifkhan and Shivam Atram</dc:creator>
  <cp:keywords>CivicLens AI, MahaDBT, OCR, PDF, scholarships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